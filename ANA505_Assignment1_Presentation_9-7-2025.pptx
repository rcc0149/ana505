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C0C0"/>
    <a:srgbClr val="CCFFFF"/>
    <a:srgbClr val="CCECFF"/>
    <a:srgbClr val="33CCCC"/>
    <a:srgbClr val="66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1110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(12%)</a:t>
            </a:r>
            <a:r>
              <a:rPr lang="en-US" sz="1600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vs. Robot (5%) Inspection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layout>
        <c:manualLayout>
          <c:xMode val="edge"/>
          <c:yMode val="edge"/>
          <c:x val="0.1047832725700646"/>
          <c:y val="3.498522597322459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0665337725586771"/>
          <c:y val="0.17706223919251787"/>
          <c:w val="0.86413138949907897"/>
          <c:h val="0.601515928648771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Manual Inspection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Weld Defect Rates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0.12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1D4-4369-8A45-7FF40F6B0DD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Autonomous Robot Inspection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Weld Defect Rates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0.05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1D4-4369-8A45-7FF40F6B0DD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97591824"/>
        <c:axId val="697582704"/>
      </c:barChart>
      <c:catAx>
        <c:axId val="6975918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97582704"/>
        <c:crosses val="autoZero"/>
        <c:auto val="1"/>
        <c:lblAlgn val="ctr"/>
        <c:lblOffset val="100"/>
        <c:noMultiLvlLbl val="0"/>
      </c:catAx>
      <c:valAx>
        <c:axId val="69758270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975918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Width/Height</a:t>
            </a:r>
            <a:r>
              <a:rPr lang="en-US" sz="1600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Variances</a:t>
            </a:r>
            <a:r>
              <a:rPr lang="en-US" sz="1600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Comparison (66.6% Reduction with Autonomy)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of Variation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Sheet1!$A$2:$A$3</c:f>
              <c:strCache>
                <c:ptCount val="2"/>
                <c:pt idx="0">
                  <c:v>Standard</c:v>
                </c:pt>
                <c:pt idx="1">
                  <c:v>Autonomy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1</c:v>
                </c:pt>
                <c:pt idx="1">
                  <c:v>0.33300000000000002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217-4EEF-AD04-8A82754A752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38613184"/>
        <c:axId val="638599264"/>
      </c:lineChart>
      <c:catAx>
        <c:axId val="6386131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38599264"/>
        <c:crosses val="autoZero"/>
        <c:auto val="1"/>
        <c:lblAlgn val="ctr"/>
        <c:lblOffset val="100"/>
        <c:noMultiLvlLbl val="0"/>
      </c:catAx>
      <c:valAx>
        <c:axId val="6385992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386131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600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Efficiency Comparison (30% Higher Efficiency with HRC)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of Efficiency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Sheet1!$A$2:$A$3</c:f>
              <c:strCache>
                <c:ptCount val="2"/>
                <c:pt idx="0">
                  <c:v>Manual</c:v>
                </c:pt>
                <c:pt idx="1">
                  <c:v>HRC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0.65</c:v>
                </c:pt>
                <c:pt idx="1">
                  <c:v>0.95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144-441B-9D8B-71CC42E424B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38613184"/>
        <c:axId val="638599264"/>
      </c:lineChart>
      <c:catAx>
        <c:axId val="6386131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38599264"/>
        <c:crosses val="autoZero"/>
        <c:auto val="1"/>
        <c:lblAlgn val="ctr"/>
        <c:lblOffset val="100"/>
        <c:noMultiLvlLbl val="0"/>
      </c:catAx>
      <c:valAx>
        <c:axId val="6385992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386131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600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Cycle Time (75 second reduction with coordinated multi-robot)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Cycle Time (Seconds)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Sheet1!$A$2:$A$3</c:f>
              <c:strCache>
                <c:ptCount val="2"/>
                <c:pt idx="0">
                  <c:v>Single</c:v>
                </c:pt>
                <c:pt idx="1">
                  <c:v>Multi-Robot</c:v>
                </c:pt>
              </c:strCache>
            </c:strRef>
          </c:cat>
          <c:val>
            <c:numRef>
              <c:f>Sheet1!$B$2:$B$3</c:f>
              <c:numCache>
                <c:formatCode>0</c:formatCode>
                <c:ptCount val="2"/>
                <c:pt idx="0">
                  <c:v>120</c:v>
                </c:pt>
                <c:pt idx="1">
                  <c:v>45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04E-4499-9678-91A8020E9A3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38613184"/>
        <c:axId val="638599264"/>
      </c:lineChart>
      <c:catAx>
        <c:axId val="6386131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38599264"/>
        <c:crosses val="autoZero"/>
        <c:auto val="1"/>
        <c:lblAlgn val="ctr"/>
        <c:lblOffset val="100"/>
        <c:noMultiLvlLbl val="0"/>
      </c:catAx>
      <c:valAx>
        <c:axId val="6385992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386131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Violations Comparison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of Violations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Standard RL</c:v>
                </c:pt>
                <c:pt idx="1">
                  <c:v>Safe RL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0.1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C36-4CBE-AA33-415E274CE6F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95591056"/>
        <c:axId val="695592976"/>
      </c:barChart>
      <c:catAx>
        <c:axId val="6955910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95592976"/>
        <c:crosses val="autoZero"/>
        <c:auto val="1"/>
        <c:lblAlgn val="ctr"/>
        <c:lblOffset val="100"/>
        <c:noMultiLvlLbl val="0"/>
      </c:catAx>
      <c:valAx>
        <c:axId val="6955929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955910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652D35C-00C3-421C-957C-AC7906C7FDFA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0"/>
      <dgm:spPr/>
      <dgm:t>
        <a:bodyPr/>
        <a:lstStyle/>
        <a:p>
          <a:endParaRPr lang="en-US"/>
        </a:p>
      </dgm:t>
    </dgm:pt>
    <dgm:pt modelId="{9D74A469-04DA-4249-891A-2CFA0BD6C86A}" type="pres">
      <dgm:prSet presAssocID="{F652D35C-00C3-421C-957C-AC7906C7FDFA}" presName="diagram" presStyleCnt="0">
        <dgm:presLayoutVars>
          <dgm:dir/>
          <dgm:resizeHandles val="exact"/>
        </dgm:presLayoutVars>
      </dgm:prSet>
      <dgm:spPr/>
    </dgm:pt>
  </dgm:ptLst>
  <dgm:cxnLst>
    <dgm:cxn modelId="{B28B0537-0981-4797-9FA5-2E5DC53C0727}" type="presOf" srcId="{F652D35C-00C3-421C-957C-AC7906C7FDFA}" destId="{9D74A469-04DA-4249-891A-2CFA0BD6C86A}" srcOrd="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641E6FB-96D6-4060-A359-8335F8CF7286}" type="doc">
      <dgm:prSet loTypeId="urn:microsoft.com/office/officeart/2005/8/layout/radial1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1D6C0A3-3D0F-4060-9796-90BD457B573D}">
      <dgm:prSet phldrT="[Text]" phldr="0"/>
      <dgm:spPr/>
      <dgm:t>
        <a:bodyPr/>
        <a:lstStyle/>
        <a:p>
          <a:pPr algn="ctr"/>
          <a:r>
            <a:rPr lang="en-US" dirty="0"/>
            <a:t>Application: Weld Quality Inspection In Automotive Assembly</a:t>
          </a:r>
        </a:p>
      </dgm:t>
    </dgm:pt>
    <dgm:pt modelId="{AB0BD47D-DC9F-46AF-9023-D85F73360158}" type="parTrans" cxnId="{3135EC0D-6F5E-457A-B903-A586C48BA9C1}">
      <dgm:prSet/>
      <dgm:spPr/>
      <dgm:t>
        <a:bodyPr/>
        <a:lstStyle/>
        <a:p>
          <a:pPr algn="ctr"/>
          <a:endParaRPr lang="en-US"/>
        </a:p>
      </dgm:t>
    </dgm:pt>
    <dgm:pt modelId="{ED372A83-82D4-4EC3-B50D-57DD99AFEF2E}" type="sibTrans" cxnId="{3135EC0D-6F5E-457A-B903-A586C48BA9C1}">
      <dgm:prSet/>
      <dgm:spPr/>
      <dgm:t>
        <a:bodyPr/>
        <a:lstStyle/>
        <a:p>
          <a:pPr algn="ctr"/>
          <a:endParaRPr lang="en-US"/>
        </a:p>
      </dgm:t>
    </dgm:pt>
    <dgm:pt modelId="{2B1DC713-0F42-43FF-8D4C-7CB140947F04}">
      <dgm:prSet phldrT="[Text]" phldr="0"/>
      <dgm:spPr/>
      <dgm:t>
        <a:bodyPr/>
        <a:lstStyle/>
        <a:p>
          <a:pPr algn="ctr"/>
          <a:r>
            <a:rPr lang="en-US" dirty="0"/>
            <a:t>Human Interaction: Operators Providing Oversight For Real-Time Monitoring</a:t>
          </a:r>
        </a:p>
      </dgm:t>
    </dgm:pt>
    <dgm:pt modelId="{D8F78A8F-6640-4E29-B1C8-FE3A78D141D3}" type="parTrans" cxnId="{73CCCD59-DE6F-48A1-B7E6-3A18FEEEAA24}">
      <dgm:prSet/>
      <dgm:spPr>
        <a:ln>
          <a:headEnd type="stealth"/>
        </a:ln>
      </dgm:spPr>
      <dgm:t>
        <a:bodyPr/>
        <a:lstStyle/>
        <a:p>
          <a:pPr algn="ctr"/>
          <a:endParaRPr lang="en-US"/>
        </a:p>
      </dgm:t>
    </dgm:pt>
    <dgm:pt modelId="{51B58B1E-9539-4CE4-B084-25C46E5189C2}" type="sibTrans" cxnId="{73CCCD59-DE6F-48A1-B7E6-3A18FEEEAA24}">
      <dgm:prSet/>
      <dgm:spPr/>
      <dgm:t>
        <a:bodyPr/>
        <a:lstStyle/>
        <a:p>
          <a:pPr algn="ctr"/>
          <a:endParaRPr lang="en-US"/>
        </a:p>
      </dgm:t>
    </dgm:pt>
    <dgm:pt modelId="{B7C04CF2-E92E-4C8A-93FD-0DCF657CA976}">
      <dgm:prSet phldrT="[Text]" phldr="0"/>
      <dgm:spPr/>
      <dgm:t>
        <a:bodyPr/>
        <a:lstStyle/>
        <a:p>
          <a:pPr algn="ctr"/>
          <a:r>
            <a:rPr lang="en-US" dirty="0"/>
            <a:t>Multi-Robot Coordination: Multiple Robots Synchronizing Defect Scans</a:t>
          </a:r>
        </a:p>
      </dgm:t>
    </dgm:pt>
    <dgm:pt modelId="{91CB7646-84A1-4244-BC40-5FA02DA574BA}" type="parTrans" cxnId="{5DC14727-8C5F-440C-9B91-509988C33D2C}">
      <dgm:prSet/>
      <dgm:spPr>
        <a:ln>
          <a:headEnd type="stealth"/>
          <a:tailEnd type="none"/>
        </a:ln>
      </dgm:spPr>
      <dgm:t>
        <a:bodyPr/>
        <a:lstStyle/>
        <a:p>
          <a:pPr algn="ctr"/>
          <a:endParaRPr lang="en-US"/>
        </a:p>
      </dgm:t>
    </dgm:pt>
    <dgm:pt modelId="{DD2877B1-4B50-4A2B-B589-CB4D616D9B30}" type="sibTrans" cxnId="{5DC14727-8C5F-440C-9B91-509988C33D2C}">
      <dgm:prSet/>
      <dgm:spPr/>
      <dgm:t>
        <a:bodyPr/>
        <a:lstStyle/>
        <a:p>
          <a:pPr algn="ctr"/>
          <a:endParaRPr lang="en-US"/>
        </a:p>
      </dgm:t>
    </dgm:pt>
    <dgm:pt modelId="{0C7C0E52-107E-48C1-B35B-E8697B8F3BAE}">
      <dgm:prSet phldrT="[Text]" phldr="0"/>
      <dgm:spPr/>
      <dgm:t>
        <a:bodyPr/>
        <a:lstStyle/>
        <a:p>
          <a:pPr algn="ctr"/>
          <a:r>
            <a:rPr lang="en-US" dirty="0"/>
            <a:t>Reinforcement Learning: Agents Optimizing Detection Via Trial-And-Error</a:t>
          </a:r>
        </a:p>
      </dgm:t>
    </dgm:pt>
    <dgm:pt modelId="{9CB22C7F-916A-421E-A8D1-8D45F26A555F}" type="parTrans" cxnId="{167973FB-7C11-4556-BED3-2856A84635C9}">
      <dgm:prSet/>
      <dgm:spPr>
        <a:ln>
          <a:headEnd type="stealth"/>
          <a:tailEnd type="none"/>
        </a:ln>
      </dgm:spPr>
      <dgm:t>
        <a:bodyPr/>
        <a:lstStyle/>
        <a:p>
          <a:pPr algn="ctr"/>
          <a:endParaRPr lang="en-US" dirty="0"/>
        </a:p>
      </dgm:t>
    </dgm:pt>
    <dgm:pt modelId="{D134C06C-C65D-4222-8EBA-CF38064FE904}" type="sibTrans" cxnId="{167973FB-7C11-4556-BED3-2856A84635C9}">
      <dgm:prSet/>
      <dgm:spPr/>
      <dgm:t>
        <a:bodyPr/>
        <a:lstStyle/>
        <a:p>
          <a:pPr algn="ctr"/>
          <a:endParaRPr lang="en-US"/>
        </a:p>
      </dgm:t>
    </dgm:pt>
    <dgm:pt modelId="{21DB72BA-1616-4246-BE80-B91114F43A9E}">
      <dgm:prSet phldrT="[Text]" phldr="0"/>
      <dgm:spPr/>
      <dgm:t>
        <a:bodyPr/>
        <a:lstStyle/>
        <a:p>
          <a:pPr algn="ctr"/>
          <a:r>
            <a:rPr lang="en-US" dirty="0"/>
            <a:t>Autonomy: Robots Adapting To Weld Variations Independently</a:t>
          </a:r>
        </a:p>
      </dgm:t>
    </dgm:pt>
    <dgm:pt modelId="{6C028D82-93D4-4D82-B5C1-50AC03C01D0A}" type="parTrans" cxnId="{9CC00347-A787-4C6A-97D5-06B3977A383E}">
      <dgm:prSet/>
      <dgm:spPr>
        <a:ln>
          <a:headEnd type="stealth"/>
        </a:ln>
      </dgm:spPr>
      <dgm:t>
        <a:bodyPr/>
        <a:lstStyle/>
        <a:p>
          <a:pPr algn="ctr"/>
          <a:endParaRPr lang="en-US" dirty="0"/>
        </a:p>
      </dgm:t>
    </dgm:pt>
    <dgm:pt modelId="{1EB9765D-FD2C-4154-983A-49CC508C47E9}" type="sibTrans" cxnId="{9CC00347-A787-4C6A-97D5-06B3977A383E}">
      <dgm:prSet/>
      <dgm:spPr/>
      <dgm:t>
        <a:bodyPr/>
        <a:lstStyle/>
        <a:p>
          <a:pPr algn="ctr"/>
          <a:endParaRPr lang="en-US"/>
        </a:p>
      </dgm:t>
    </dgm:pt>
    <dgm:pt modelId="{84906055-A71E-43CC-9C0A-7BF6E8AC75BA}" type="pres">
      <dgm:prSet presAssocID="{D641E6FB-96D6-4060-A359-8335F8CF7286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770D10D9-5AC3-4409-8D62-A274A90A5E79}" type="pres">
      <dgm:prSet presAssocID="{61D6C0A3-3D0F-4060-9796-90BD457B573D}" presName="centerShape" presStyleLbl="node0" presStyleIdx="0" presStyleCnt="1" custScaleX="158149" custScaleY="155707"/>
      <dgm:spPr/>
    </dgm:pt>
    <dgm:pt modelId="{B3631167-001D-4CE3-81DA-9370BDE58319}" type="pres">
      <dgm:prSet presAssocID="{D8F78A8F-6640-4E29-B1C8-FE3A78D141D3}" presName="Name9" presStyleLbl="parChTrans1D2" presStyleIdx="0" presStyleCnt="4"/>
      <dgm:spPr/>
    </dgm:pt>
    <dgm:pt modelId="{55510CAD-FEE7-4361-9E0C-7E531F0A1290}" type="pres">
      <dgm:prSet presAssocID="{D8F78A8F-6640-4E29-B1C8-FE3A78D141D3}" presName="connTx" presStyleLbl="parChTrans1D2" presStyleIdx="0" presStyleCnt="4"/>
      <dgm:spPr/>
    </dgm:pt>
    <dgm:pt modelId="{12B37D5A-B075-4C05-AF4B-EE2386ACCCBF}" type="pres">
      <dgm:prSet presAssocID="{2B1DC713-0F42-43FF-8D4C-7CB140947F04}" presName="node" presStyleLbl="node1" presStyleIdx="0" presStyleCnt="4" custScaleX="184111" custScaleY="64605" custRadScaleRad="108294" custRadScaleInc="-656">
        <dgm:presLayoutVars>
          <dgm:bulletEnabled val="1"/>
        </dgm:presLayoutVars>
      </dgm:prSet>
      <dgm:spPr>
        <a:prstGeom prst="roundRect">
          <a:avLst/>
        </a:prstGeom>
      </dgm:spPr>
    </dgm:pt>
    <dgm:pt modelId="{5083F977-177F-49DA-A08B-38796288EFD2}" type="pres">
      <dgm:prSet presAssocID="{91CB7646-84A1-4244-BC40-5FA02DA574BA}" presName="Name9" presStyleLbl="parChTrans1D2" presStyleIdx="1" presStyleCnt="4"/>
      <dgm:spPr/>
    </dgm:pt>
    <dgm:pt modelId="{3D08A7BE-5E35-4306-9383-C7A1F5F632E4}" type="pres">
      <dgm:prSet presAssocID="{91CB7646-84A1-4244-BC40-5FA02DA574BA}" presName="connTx" presStyleLbl="parChTrans1D2" presStyleIdx="1" presStyleCnt="4"/>
      <dgm:spPr/>
    </dgm:pt>
    <dgm:pt modelId="{4E922750-37DF-4C79-B724-2B0C0705A94E}" type="pres">
      <dgm:prSet presAssocID="{B7C04CF2-E92E-4C8A-93FD-0DCF657CA976}" presName="node" presStyleLbl="node1" presStyleIdx="1" presStyleCnt="4" custScaleX="155213" custScaleY="73421" custRadScaleRad="141158">
        <dgm:presLayoutVars>
          <dgm:bulletEnabled val="1"/>
        </dgm:presLayoutVars>
      </dgm:prSet>
      <dgm:spPr>
        <a:prstGeom prst="roundRect">
          <a:avLst/>
        </a:prstGeom>
      </dgm:spPr>
    </dgm:pt>
    <dgm:pt modelId="{3EE7E64C-1BCB-4861-AF04-90113A39F59F}" type="pres">
      <dgm:prSet presAssocID="{9CB22C7F-916A-421E-A8D1-8D45F26A555F}" presName="Name9" presStyleLbl="parChTrans1D2" presStyleIdx="2" presStyleCnt="4"/>
      <dgm:spPr/>
    </dgm:pt>
    <dgm:pt modelId="{F1DA2CB7-F0A6-48D2-B78B-9FCA37070CFC}" type="pres">
      <dgm:prSet presAssocID="{9CB22C7F-916A-421E-A8D1-8D45F26A555F}" presName="connTx" presStyleLbl="parChTrans1D2" presStyleIdx="2" presStyleCnt="4"/>
      <dgm:spPr/>
    </dgm:pt>
    <dgm:pt modelId="{D154AF25-3063-4EA5-838A-DEA0D49D4899}" type="pres">
      <dgm:prSet presAssocID="{0C7C0E52-107E-48C1-B35B-E8697B8F3BAE}" presName="node" presStyleLbl="node1" presStyleIdx="2" presStyleCnt="4" custScaleX="184664" custScaleY="61677" custRadScaleRad="108469">
        <dgm:presLayoutVars>
          <dgm:bulletEnabled val="1"/>
        </dgm:presLayoutVars>
      </dgm:prSet>
      <dgm:spPr>
        <a:prstGeom prst="roundRect">
          <a:avLst/>
        </a:prstGeom>
      </dgm:spPr>
    </dgm:pt>
    <dgm:pt modelId="{6D19847C-9C00-4B62-B51D-FD1A31D9C88F}" type="pres">
      <dgm:prSet presAssocID="{6C028D82-93D4-4D82-B5C1-50AC03C01D0A}" presName="Name9" presStyleLbl="parChTrans1D2" presStyleIdx="3" presStyleCnt="4"/>
      <dgm:spPr/>
    </dgm:pt>
    <dgm:pt modelId="{670AB087-C126-4A62-B204-FC225C20C46E}" type="pres">
      <dgm:prSet presAssocID="{6C028D82-93D4-4D82-B5C1-50AC03C01D0A}" presName="connTx" presStyleLbl="parChTrans1D2" presStyleIdx="3" presStyleCnt="4"/>
      <dgm:spPr/>
    </dgm:pt>
    <dgm:pt modelId="{68EA2EC0-26A0-43F1-9483-FC05D28473B1}" type="pres">
      <dgm:prSet presAssocID="{21DB72BA-1616-4246-BE80-B91114F43A9E}" presName="node" presStyleLbl="node1" presStyleIdx="3" presStyleCnt="4" custScaleX="158790" custScaleY="74210" custRadScaleRad="142824" custRadScaleInc="1070">
        <dgm:presLayoutVars>
          <dgm:bulletEnabled val="1"/>
        </dgm:presLayoutVars>
      </dgm:prSet>
      <dgm:spPr>
        <a:prstGeom prst="roundRect">
          <a:avLst/>
        </a:prstGeom>
      </dgm:spPr>
    </dgm:pt>
  </dgm:ptLst>
  <dgm:cxnLst>
    <dgm:cxn modelId="{3135EC0D-6F5E-457A-B903-A586C48BA9C1}" srcId="{D641E6FB-96D6-4060-A359-8335F8CF7286}" destId="{61D6C0A3-3D0F-4060-9796-90BD457B573D}" srcOrd="0" destOrd="0" parTransId="{AB0BD47D-DC9F-46AF-9023-D85F73360158}" sibTransId="{ED372A83-82D4-4EC3-B50D-57DD99AFEF2E}"/>
    <dgm:cxn modelId="{E14ED50F-262E-495C-81CE-FD420C81086C}" type="presOf" srcId="{D641E6FB-96D6-4060-A359-8335F8CF7286}" destId="{84906055-A71E-43CC-9C0A-7BF6E8AC75BA}" srcOrd="0" destOrd="0" presId="urn:microsoft.com/office/officeart/2005/8/layout/radial1"/>
    <dgm:cxn modelId="{8CDE2319-C158-41EE-BCD8-6C199389082F}" type="presOf" srcId="{0C7C0E52-107E-48C1-B35B-E8697B8F3BAE}" destId="{D154AF25-3063-4EA5-838A-DEA0D49D4899}" srcOrd="0" destOrd="0" presId="urn:microsoft.com/office/officeart/2005/8/layout/radial1"/>
    <dgm:cxn modelId="{BDCA001C-346F-465B-90D2-8F66EE6BDDE9}" type="presOf" srcId="{9CB22C7F-916A-421E-A8D1-8D45F26A555F}" destId="{3EE7E64C-1BCB-4861-AF04-90113A39F59F}" srcOrd="0" destOrd="0" presId="urn:microsoft.com/office/officeart/2005/8/layout/radial1"/>
    <dgm:cxn modelId="{CBE71325-E31C-4F1E-A77D-1AC23DD7F176}" type="presOf" srcId="{D8F78A8F-6640-4E29-B1C8-FE3A78D141D3}" destId="{B3631167-001D-4CE3-81DA-9370BDE58319}" srcOrd="0" destOrd="0" presId="urn:microsoft.com/office/officeart/2005/8/layout/radial1"/>
    <dgm:cxn modelId="{5DC14727-8C5F-440C-9B91-509988C33D2C}" srcId="{61D6C0A3-3D0F-4060-9796-90BD457B573D}" destId="{B7C04CF2-E92E-4C8A-93FD-0DCF657CA976}" srcOrd="1" destOrd="0" parTransId="{91CB7646-84A1-4244-BC40-5FA02DA574BA}" sibTransId="{DD2877B1-4B50-4A2B-B589-CB4D616D9B30}"/>
    <dgm:cxn modelId="{D42B6628-7C7A-4EEB-8795-AF9A03E30416}" type="presOf" srcId="{21DB72BA-1616-4246-BE80-B91114F43A9E}" destId="{68EA2EC0-26A0-43F1-9483-FC05D28473B1}" srcOrd="0" destOrd="0" presId="urn:microsoft.com/office/officeart/2005/8/layout/radial1"/>
    <dgm:cxn modelId="{9CC00347-A787-4C6A-97D5-06B3977A383E}" srcId="{61D6C0A3-3D0F-4060-9796-90BD457B573D}" destId="{21DB72BA-1616-4246-BE80-B91114F43A9E}" srcOrd="3" destOrd="0" parTransId="{6C028D82-93D4-4D82-B5C1-50AC03C01D0A}" sibTransId="{1EB9765D-FD2C-4154-983A-49CC508C47E9}"/>
    <dgm:cxn modelId="{3DB54A52-2575-4B0C-AAAB-199D51C7F7EA}" type="presOf" srcId="{D8F78A8F-6640-4E29-B1C8-FE3A78D141D3}" destId="{55510CAD-FEE7-4361-9E0C-7E531F0A1290}" srcOrd="1" destOrd="0" presId="urn:microsoft.com/office/officeart/2005/8/layout/radial1"/>
    <dgm:cxn modelId="{73CCCD59-DE6F-48A1-B7E6-3A18FEEEAA24}" srcId="{61D6C0A3-3D0F-4060-9796-90BD457B573D}" destId="{2B1DC713-0F42-43FF-8D4C-7CB140947F04}" srcOrd="0" destOrd="0" parTransId="{D8F78A8F-6640-4E29-B1C8-FE3A78D141D3}" sibTransId="{51B58B1E-9539-4CE4-B084-25C46E5189C2}"/>
    <dgm:cxn modelId="{D2B4007A-EB9B-433E-983A-9FEFB676CD70}" type="presOf" srcId="{91CB7646-84A1-4244-BC40-5FA02DA574BA}" destId="{5083F977-177F-49DA-A08B-38796288EFD2}" srcOrd="0" destOrd="0" presId="urn:microsoft.com/office/officeart/2005/8/layout/radial1"/>
    <dgm:cxn modelId="{7141F482-A139-4245-A098-E645AA8F10C3}" type="presOf" srcId="{6C028D82-93D4-4D82-B5C1-50AC03C01D0A}" destId="{6D19847C-9C00-4B62-B51D-FD1A31D9C88F}" srcOrd="0" destOrd="0" presId="urn:microsoft.com/office/officeart/2005/8/layout/radial1"/>
    <dgm:cxn modelId="{C552818D-462F-4BD2-9160-10DB8E8E958E}" type="presOf" srcId="{2B1DC713-0F42-43FF-8D4C-7CB140947F04}" destId="{12B37D5A-B075-4C05-AF4B-EE2386ACCCBF}" srcOrd="0" destOrd="0" presId="urn:microsoft.com/office/officeart/2005/8/layout/radial1"/>
    <dgm:cxn modelId="{750DE0A2-CC8B-4D65-AA0A-51C4E5B195D6}" type="presOf" srcId="{B7C04CF2-E92E-4C8A-93FD-0DCF657CA976}" destId="{4E922750-37DF-4C79-B724-2B0C0705A94E}" srcOrd="0" destOrd="0" presId="urn:microsoft.com/office/officeart/2005/8/layout/radial1"/>
    <dgm:cxn modelId="{AACE05B4-B4A0-4B05-8752-9CF3B705523F}" type="presOf" srcId="{61D6C0A3-3D0F-4060-9796-90BD457B573D}" destId="{770D10D9-5AC3-4409-8D62-A274A90A5E79}" srcOrd="0" destOrd="0" presId="urn:microsoft.com/office/officeart/2005/8/layout/radial1"/>
    <dgm:cxn modelId="{345776C9-09AE-4509-9769-F61ECC722175}" type="presOf" srcId="{6C028D82-93D4-4D82-B5C1-50AC03C01D0A}" destId="{670AB087-C126-4A62-B204-FC225C20C46E}" srcOrd="1" destOrd="0" presId="urn:microsoft.com/office/officeart/2005/8/layout/radial1"/>
    <dgm:cxn modelId="{41B8ECCD-06AE-4FB8-A222-0C09BECBAAAF}" type="presOf" srcId="{9CB22C7F-916A-421E-A8D1-8D45F26A555F}" destId="{F1DA2CB7-F0A6-48D2-B78B-9FCA37070CFC}" srcOrd="1" destOrd="0" presId="urn:microsoft.com/office/officeart/2005/8/layout/radial1"/>
    <dgm:cxn modelId="{EF31A0D2-E0EE-473A-B4B9-DDD1A4A5D239}" type="presOf" srcId="{91CB7646-84A1-4244-BC40-5FA02DA574BA}" destId="{3D08A7BE-5E35-4306-9383-C7A1F5F632E4}" srcOrd="1" destOrd="0" presId="urn:microsoft.com/office/officeart/2005/8/layout/radial1"/>
    <dgm:cxn modelId="{167973FB-7C11-4556-BED3-2856A84635C9}" srcId="{61D6C0A3-3D0F-4060-9796-90BD457B573D}" destId="{0C7C0E52-107E-48C1-B35B-E8697B8F3BAE}" srcOrd="2" destOrd="0" parTransId="{9CB22C7F-916A-421E-A8D1-8D45F26A555F}" sibTransId="{D134C06C-C65D-4222-8EBA-CF38064FE904}"/>
    <dgm:cxn modelId="{4C5858AF-370B-46E4-B764-0FF54995890C}" type="presParOf" srcId="{84906055-A71E-43CC-9C0A-7BF6E8AC75BA}" destId="{770D10D9-5AC3-4409-8D62-A274A90A5E79}" srcOrd="0" destOrd="0" presId="urn:microsoft.com/office/officeart/2005/8/layout/radial1"/>
    <dgm:cxn modelId="{67AB525D-C988-44C0-8498-B73E8B8793C2}" type="presParOf" srcId="{84906055-A71E-43CC-9C0A-7BF6E8AC75BA}" destId="{B3631167-001D-4CE3-81DA-9370BDE58319}" srcOrd="1" destOrd="0" presId="urn:microsoft.com/office/officeart/2005/8/layout/radial1"/>
    <dgm:cxn modelId="{50E3DBD4-2CB0-40B7-814F-57F55E426E1C}" type="presParOf" srcId="{B3631167-001D-4CE3-81DA-9370BDE58319}" destId="{55510CAD-FEE7-4361-9E0C-7E531F0A1290}" srcOrd="0" destOrd="0" presId="urn:microsoft.com/office/officeart/2005/8/layout/radial1"/>
    <dgm:cxn modelId="{F1FE6EC2-C9BC-4761-AE15-9F71613C38D9}" type="presParOf" srcId="{84906055-A71E-43CC-9C0A-7BF6E8AC75BA}" destId="{12B37D5A-B075-4C05-AF4B-EE2386ACCCBF}" srcOrd="2" destOrd="0" presId="urn:microsoft.com/office/officeart/2005/8/layout/radial1"/>
    <dgm:cxn modelId="{2FAEB4CF-5963-4959-A36F-438AEB602399}" type="presParOf" srcId="{84906055-A71E-43CC-9C0A-7BF6E8AC75BA}" destId="{5083F977-177F-49DA-A08B-38796288EFD2}" srcOrd="3" destOrd="0" presId="urn:microsoft.com/office/officeart/2005/8/layout/radial1"/>
    <dgm:cxn modelId="{D4EC87E7-5255-4B3F-9C81-21C17FF8635B}" type="presParOf" srcId="{5083F977-177F-49DA-A08B-38796288EFD2}" destId="{3D08A7BE-5E35-4306-9383-C7A1F5F632E4}" srcOrd="0" destOrd="0" presId="urn:microsoft.com/office/officeart/2005/8/layout/radial1"/>
    <dgm:cxn modelId="{067B8767-316F-44CA-916B-E765AAC04152}" type="presParOf" srcId="{84906055-A71E-43CC-9C0A-7BF6E8AC75BA}" destId="{4E922750-37DF-4C79-B724-2B0C0705A94E}" srcOrd="4" destOrd="0" presId="urn:microsoft.com/office/officeart/2005/8/layout/radial1"/>
    <dgm:cxn modelId="{7AEFF5E1-2207-4B02-BFA1-6485BC89F02B}" type="presParOf" srcId="{84906055-A71E-43CC-9C0A-7BF6E8AC75BA}" destId="{3EE7E64C-1BCB-4861-AF04-90113A39F59F}" srcOrd="5" destOrd="0" presId="urn:microsoft.com/office/officeart/2005/8/layout/radial1"/>
    <dgm:cxn modelId="{4FED8D75-14C6-47BD-96A0-EACC15533690}" type="presParOf" srcId="{3EE7E64C-1BCB-4861-AF04-90113A39F59F}" destId="{F1DA2CB7-F0A6-48D2-B78B-9FCA37070CFC}" srcOrd="0" destOrd="0" presId="urn:microsoft.com/office/officeart/2005/8/layout/radial1"/>
    <dgm:cxn modelId="{93F7FA84-DA57-4FB1-B19F-4E59D7558F4D}" type="presParOf" srcId="{84906055-A71E-43CC-9C0A-7BF6E8AC75BA}" destId="{D154AF25-3063-4EA5-838A-DEA0D49D4899}" srcOrd="6" destOrd="0" presId="urn:microsoft.com/office/officeart/2005/8/layout/radial1"/>
    <dgm:cxn modelId="{50529FC1-CD27-42A6-9D79-EB42E2121995}" type="presParOf" srcId="{84906055-A71E-43CC-9C0A-7BF6E8AC75BA}" destId="{6D19847C-9C00-4B62-B51D-FD1A31D9C88F}" srcOrd="7" destOrd="0" presId="urn:microsoft.com/office/officeart/2005/8/layout/radial1"/>
    <dgm:cxn modelId="{08AEC219-DBED-4699-B9FD-912940FCE8A6}" type="presParOf" srcId="{6D19847C-9C00-4B62-B51D-FD1A31D9C88F}" destId="{670AB087-C126-4A62-B204-FC225C20C46E}" srcOrd="0" destOrd="0" presId="urn:microsoft.com/office/officeart/2005/8/layout/radial1"/>
    <dgm:cxn modelId="{19E2B30F-5DD9-4468-BEAD-554BEA1D49FF}" type="presParOf" srcId="{84906055-A71E-43CC-9C0A-7BF6E8AC75BA}" destId="{68EA2EC0-26A0-43F1-9483-FC05D28473B1}" srcOrd="8" destOrd="0" presId="urn:microsoft.com/office/officeart/2005/8/layout/radial1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0D10D9-5AC3-4409-8D62-A274A90A5E79}">
      <dsp:nvSpPr>
        <dsp:cNvPr id="0" name=""/>
        <dsp:cNvSpPr/>
      </dsp:nvSpPr>
      <dsp:spPr>
        <a:xfrm>
          <a:off x="2656024" y="1406207"/>
          <a:ext cx="2155346" cy="212206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Application: Weld Quality Inspection In Automotive Assembly</a:t>
          </a:r>
        </a:p>
      </dsp:txBody>
      <dsp:txXfrm>
        <a:off x="2971667" y="1716976"/>
        <a:ext cx="1524060" cy="1500527"/>
      </dsp:txXfrm>
    </dsp:sp>
    <dsp:sp modelId="{B3631167-001D-4CE3-81DA-9370BDE58319}">
      <dsp:nvSpPr>
        <dsp:cNvPr id="0" name=""/>
        <dsp:cNvSpPr/>
      </dsp:nvSpPr>
      <dsp:spPr>
        <a:xfrm rot="16182288">
          <a:off x="3518100" y="1180690"/>
          <a:ext cx="418107" cy="32958"/>
        </a:xfrm>
        <a:custGeom>
          <a:avLst/>
          <a:gdLst/>
          <a:ahLst/>
          <a:cxnLst/>
          <a:rect l="0" t="0" r="0" b="0"/>
          <a:pathLst>
            <a:path>
              <a:moveTo>
                <a:pt x="0" y="16479"/>
              </a:moveTo>
              <a:lnTo>
                <a:pt x="418107" y="16479"/>
              </a:lnTo>
            </a:path>
          </a:pathLst>
        </a:custGeom>
        <a:noFill/>
        <a:ln w="19050" cap="flat" cmpd="sng" algn="ctr">
          <a:solidFill>
            <a:scrgbClr r="0" g="0" b="0"/>
          </a:solidFill>
          <a:prstDash val="solid"/>
          <a:miter lim="800000"/>
          <a:headEnd type="stealth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716701" y="1186717"/>
        <a:ext cx="20905" cy="20905"/>
      </dsp:txXfrm>
    </dsp:sp>
    <dsp:sp modelId="{12B37D5A-B075-4C05-AF4B-EE2386ACCCBF}">
      <dsp:nvSpPr>
        <dsp:cNvPr id="0" name=""/>
        <dsp:cNvSpPr/>
      </dsp:nvSpPr>
      <dsp:spPr>
        <a:xfrm>
          <a:off x="2469223" y="107646"/>
          <a:ext cx="2509171" cy="8804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Human Interaction: Operators Providing Oversight For Real-Time Monitoring</a:t>
          </a:r>
        </a:p>
      </dsp:txBody>
      <dsp:txXfrm>
        <a:off x="2512204" y="150627"/>
        <a:ext cx="2423209" cy="794512"/>
      </dsp:txXfrm>
    </dsp:sp>
    <dsp:sp modelId="{5083F977-177F-49DA-A08B-38796288EFD2}">
      <dsp:nvSpPr>
        <dsp:cNvPr id="0" name=""/>
        <dsp:cNvSpPr/>
      </dsp:nvSpPr>
      <dsp:spPr>
        <a:xfrm>
          <a:off x="4811370" y="2450760"/>
          <a:ext cx="366518" cy="32958"/>
        </a:xfrm>
        <a:custGeom>
          <a:avLst/>
          <a:gdLst/>
          <a:ahLst/>
          <a:cxnLst/>
          <a:rect l="0" t="0" r="0" b="0"/>
          <a:pathLst>
            <a:path>
              <a:moveTo>
                <a:pt x="0" y="16479"/>
              </a:moveTo>
              <a:lnTo>
                <a:pt x="366518" y="16479"/>
              </a:lnTo>
            </a:path>
          </a:pathLst>
        </a:custGeom>
        <a:noFill/>
        <a:ln w="19050" cap="flat" cmpd="sng" algn="ctr">
          <a:solidFill>
            <a:scrgbClr r="0" g="0" b="0"/>
          </a:solidFill>
          <a:prstDash val="solid"/>
          <a:miter lim="800000"/>
          <a:headEnd type="stealth"/>
          <a:tailEnd type="none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985467" y="2458077"/>
        <a:ext cx="18325" cy="18325"/>
      </dsp:txXfrm>
    </dsp:sp>
    <dsp:sp modelId="{4E922750-37DF-4C79-B724-2B0C0705A94E}">
      <dsp:nvSpPr>
        <dsp:cNvPr id="0" name=""/>
        <dsp:cNvSpPr/>
      </dsp:nvSpPr>
      <dsp:spPr>
        <a:xfrm>
          <a:off x="5177889" y="1966928"/>
          <a:ext cx="2115332" cy="100062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Multi-Robot Coordination: Multiple Robots Synchronizing Defect Scans</a:t>
          </a:r>
        </a:p>
      </dsp:txBody>
      <dsp:txXfrm>
        <a:off x="5226735" y="2015774"/>
        <a:ext cx="2017640" cy="902931"/>
      </dsp:txXfrm>
    </dsp:sp>
    <dsp:sp modelId="{3EE7E64C-1BCB-4861-AF04-90113A39F59F}">
      <dsp:nvSpPr>
        <dsp:cNvPr id="0" name=""/>
        <dsp:cNvSpPr/>
      </dsp:nvSpPr>
      <dsp:spPr>
        <a:xfrm rot="5400000">
          <a:off x="3513114" y="3732376"/>
          <a:ext cx="441166" cy="32958"/>
        </a:xfrm>
        <a:custGeom>
          <a:avLst/>
          <a:gdLst/>
          <a:ahLst/>
          <a:cxnLst/>
          <a:rect l="0" t="0" r="0" b="0"/>
          <a:pathLst>
            <a:path>
              <a:moveTo>
                <a:pt x="0" y="16479"/>
              </a:moveTo>
              <a:lnTo>
                <a:pt x="441166" y="16479"/>
              </a:lnTo>
            </a:path>
          </a:pathLst>
        </a:custGeom>
        <a:noFill/>
        <a:ln w="19050" cap="flat" cmpd="sng" algn="ctr">
          <a:solidFill>
            <a:scrgbClr r="0" g="0" b="0"/>
          </a:solidFill>
          <a:prstDash val="solid"/>
          <a:miter lim="800000"/>
          <a:headEnd type="stealth"/>
          <a:tailEnd type="none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 dirty="0"/>
        </a:p>
      </dsp:txBody>
      <dsp:txXfrm>
        <a:off x="3722668" y="3737826"/>
        <a:ext cx="22058" cy="22058"/>
      </dsp:txXfrm>
    </dsp:sp>
    <dsp:sp modelId="{D154AF25-3063-4EA5-838A-DEA0D49D4899}">
      <dsp:nvSpPr>
        <dsp:cNvPr id="0" name=""/>
        <dsp:cNvSpPr/>
      </dsp:nvSpPr>
      <dsp:spPr>
        <a:xfrm>
          <a:off x="2475343" y="3969439"/>
          <a:ext cx="2516707" cy="84056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Reinforcement Learning: Agents Optimizing Detection Via Trial-And-Error</a:t>
          </a:r>
        </a:p>
      </dsp:txBody>
      <dsp:txXfrm>
        <a:off x="2516376" y="4010472"/>
        <a:ext cx="2434641" cy="758503"/>
      </dsp:txXfrm>
    </dsp:sp>
    <dsp:sp modelId="{6D19847C-9C00-4B62-B51D-FD1A31D9C88F}">
      <dsp:nvSpPr>
        <dsp:cNvPr id="0" name=""/>
        <dsp:cNvSpPr/>
      </dsp:nvSpPr>
      <dsp:spPr>
        <a:xfrm rot="10828890">
          <a:off x="2284261" y="2440141"/>
          <a:ext cx="371809" cy="32958"/>
        </a:xfrm>
        <a:custGeom>
          <a:avLst/>
          <a:gdLst/>
          <a:ahLst/>
          <a:cxnLst/>
          <a:rect l="0" t="0" r="0" b="0"/>
          <a:pathLst>
            <a:path>
              <a:moveTo>
                <a:pt x="0" y="16479"/>
              </a:moveTo>
              <a:lnTo>
                <a:pt x="371809" y="16479"/>
              </a:lnTo>
            </a:path>
          </a:pathLst>
        </a:custGeom>
        <a:noFill/>
        <a:ln w="19050" cap="flat" cmpd="sng" algn="ctr">
          <a:solidFill>
            <a:scrgbClr r="0" g="0" b="0"/>
          </a:solidFill>
          <a:prstDash val="solid"/>
          <a:miter lim="800000"/>
          <a:headEnd type="stealth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 dirty="0"/>
        </a:p>
      </dsp:txBody>
      <dsp:txXfrm rot="10800000">
        <a:off x="2460870" y="2447326"/>
        <a:ext cx="18590" cy="18590"/>
      </dsp:txXfrm>
    </dsp:sp>
    <dsp:sp modelId="{68EA2EC0-26A0-43F1-9483-FC05D28473B1}">
      <dsp:nvSpPr>
        <dsp:cNvPr id="0" name=""/>
        <dsp:cNvSpPr/>
      </dsp:nvSpPr>
      <dsp:spPr>
        <a:xfrm>
          <a:off x="120360" y="1940278"/>
          <a:ext cx="2164081" cy="101137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Autonomy: Robots Adapting To Weld Variations Independently</a:t>
          </a:r>
        </a:p>
      </dsp:txBody>
      <dsp:txXfrm>
        <a:off x="169731" y="1989649"/>
        <a:ext cx="2065339" cy="9126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radial1">
  <dgm:title val=""/>
  <dgm:desc val=""/>
  <dgm:catLst>
    <dgm:cat type="relationship" pri="22000"/>
    <dgm:cat type="cycle" pri="1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4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5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op="equ"/>
      <dgm:constr type="sp" refType="w" refFor="ch" refForName="node" fact="0.3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connTx" val="55"/>
      <dgm:constr type="primFontSz" for="des" forName="connTx" refType="primFontSz" refFor="ch" refForName="centerShape" op="lte" fact="0.8"/>
    </dgm:constrLst>
    <dgm:ruleLst/>
    <dgm:forEach name="Name6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</dgm:constrLst>
        <dgm:ruleLst>
          <dgm:rule type="primFontSz" val="5" fact="NaN" max="NaN"/>
        </dgm:ruleLst>
      </dgm:layoutNode>
      <dgm:forEach name="Name7" axis="ch">
        <dgm:forEach name="Name8" axis="self" ptType="parTrans">
          <dgm:layoutNode name="Name9">
            <dgm:alg type="conn">
              <dgm:param type="dim" val="1D"/>
              <dgm:param type="begPts" val="auto"/>
              <dgm:param type="endPts" val="auto"/>
              <dgm:param type="begSty" val="noArr"/>
              <dgm:param type="endSty" val="no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connDist"/>
              <dgm:constr type="userA" for="ch" refType="connDist"/>
              <dgm:constr type="w" val="1"/>
              <dgm:constr type="h" val="5"/>
              <dgm:constr type="begPad"/>
              <dgm:constr type="endPad"/>
            </dgm:constrLst>
            <dgm:ruleLst/>
            <dgm:layoutNode name="connTx">
              <dgm:alg type="tx">
                <dgm:param type="autoTxRot" val="grav"/>
              </dgm:alg>
              <dgm:shape xmlns:r="http://schemas.openxmlformats.org/officeDocument/2006/relationships" type="rect" r:blip="" hideGeom="1">
                <dgm:adjLst/>
              </dgm:shape>
              <dgm:presOf axis="self"/>
              <dgm:constrLst>
                <dgm:constr type="userA"/>
                <dgm:constr type="w" refType="userA" fact="0.05"/>
                <dgm:constr type="h" refType="userA" fact="0.05"/>
                <dgm:constr type="lMarg" val="1"/>
                <dgm:constr type="rMarg" val="1"/>
                <dgm:constr type="tMarg"/>
                <dgm:constr type="bMarg"/>
              </dgm:constrLst>
              <dgm:ruleLst>
                <dgm:rule type="w" val="NaN" fact="0.8" max="NaN"/>
                <dgm:rule type="h" val="NaN" fact="1" max="NaN"/>
                <dgm:rule type="primFontSz" val="5" fact="NaN" max="NaN"/>
              </dgm:ruleLst>
            </dgm:layoutNode>
          </dgm:layoutNode>
        </dgm:forEach>
        <dgm:forEach name="Name10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FFF45-3680-2844-0936-285092B1BC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F3E395-CFD6-AF66-0B10-5C3700FA58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B927E5-8103-9052-73D4-3F5A61FAD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D89D7-FFFF-4668-9346-FEB4B321333E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05895B-6222-2B97-0DF3-668AD8432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4ADC2E-5E23-51F8-00A9-348508AD2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D194A-2AAD-4A66-8760-FCD7CEEE0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7765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53EFA-A30B-28D8-FB1D-EE79C250C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00FAA6-3580-86D2-29EE-28CD716B80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4A3804-49F5-45E2-C725-7596E1EE5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D89D7-FFFF-4668-9346-FEB4B321333E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C03C7F-8723-24CF-2C4B-67D8804AA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B70E77-6C90-5DFE-8D76-90EB8C9AA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D194A-2AAD-4A66-8760-FCD7CEEE0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1233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11164-BEC2-D6D0-D933-AFCD6DDCC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401F11-DA68-03C4-9EA4-DB2B7FBFC6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0147BB-131D-0C52-F30C-CCC8F2CC6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D89D7-FFFF-4668-9346-FEB4B321333E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E02782-5F0A-A4CD-3B57-F6FCE90A3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C6BA28-8632-6CBB-2399-959EF2361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D194A-2AAD-4A66-8760-FCD7CEEE0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6495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A403E-EC6C-FBCF-1E84-4AF670EC3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AF7D64-3C70-DF98-BAC9-183F125581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53A626-326C-3A28-B4FC-9119AE86B9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E9052F-AF75-2F49-05A3-559120B45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D89D7-FFFF-4668-9346-FEB4B321333E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8CF262-B1A4-A036-5F7E-B63096753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D17345-7DB1-37A2-5E84-8180217A2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D194A-2AAD-4A66-8760-FCD7CEEE0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544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6E197-7018-67C4-F828-9383BD001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2CBBA-7EDA-E482-1E6D-8F724DC860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ACEA4B-81FF-FE0F-E3BD-BC2D22D33A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9FC4E5-DFC0-AF33-7943-C60FFD7C8A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291003-7F78-2557-524C-B892FF5D52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4F5D63-555A-3AF0-1BAD-909DEE01C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D89D7-FFFF-4668-9346-FEB4B321333E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7160CD-24C9-8E6E-6892-C333406A1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7C8C28-0C5F-3B5E-D537-8019509F8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D194A-2AAD-4A66-8760-FCD7CEEE0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0957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D4611-AA19-3D74-8664-99BAC6B39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EAFEA8-4410-A843-4C7E-22EA27270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D89D7-FFFF-4668-9346-FEB4B321333E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0FED88-C553-A275-D192-BBC2EDEF4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DAD7E8-E64B-5D9E-042B-00C328697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D194A-2AAD-4A66-8760-FCD7CEEE0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6743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013756-25DF-739C-3E24-AA331660C2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D89D7-FFFF-4668-9346-FEB4B321333E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005888-C1CF-FC4B-0EDA-9C74C46DB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6EAE65-AC80-5B88-2289-002254DBE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D194A-2AAD-4A66-8760-FCD7CEEE0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830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3BDCD-2583-0D2F-9286-137DB1056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8B5C63-47F2-57D9-CE2A-A43ADD648B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29FD33-F153-76A6-D0E4-FF856F3981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090672-B2CC-C3F1-0A63-7151EF592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D89D7-FFFF-4668-9346-FEB4B321333E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D93569-AD0F-9C38-7B21-46A80DC11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D6E994-5E0E-B1A7-D47A-6838EBB80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D194A-2AAD-4A66-8760-FCD7CEEE0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7207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C7C11-92A5-681A-3382-ADDBB269F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59AC2D-1748-58A5-9FAB-59E7D46AB6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E8F928-210E-ABDF-DE4C-ED3918F00F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B64B72-3A30-F3AF-DAC6-993B2A6EC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D89D7-FFFF-4668-9346-FEB4B321333E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21AECB-D0C7-658C-4E99-9BD2FE9E7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92356E-D93B-6D6D-A56C-156F219E5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D194A-2AAD-4A66-8760-FCD7CEEE0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7657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E437F-FB3D-9484-81B0-B1D87C58D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FACA26-0335-8788-BF49-13B2A5F789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4B3F74-A7AB-43AB-6D07-96C9B1AE6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D89D7-FFFF-4668-9346-FEB4B321333E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D71626-9020-87B5-20A5-8B83168F3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9BF41A-B946-A58A-63EE-327E0B967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D194A-2AAD-4A66-8760-FCD7CEEE0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982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60D9B5-5E65-70C7-D9D6-9551089572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4D3E27-FCC8-E7F3-BC3A-7B485D0DA4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06E617-D772-7DA6-3233-4F74D22D8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D89D7-FFFF-4668-9346-FEB4B321333E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17022D-0975-AD17-25C3-9774CA989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F5802D-7566-01C4-DEF9-857975CC1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D194A-2AAD-4A66-8760-FCD7CEEE0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2149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F6AD97-BE85-A423-7CF1-C55ECFD78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3F7F3D-DCC2-A300-4576-6CB028CD67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F7F3AC-4FE3-EC32-E0FA-C5D0B5D518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BD89D7-FFFF-4668-9346-FEB4B321333E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C2D742-E1D5-2483-2FE5-93582FA15B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D67D84-8CE2-739D-E399-80BEA9148E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4D194A-2AAD-4A66-8760-FCD7CEEE0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895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13" Type="http://schemas.microsoft.com/office/2007/relationships/diagramDrawing" Target="../diagrams/drawing2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2.xml"/><Relationship Id="rId7" Type="http://schemas.openxmlformats.org/officeDocument/2006/relationships/diagramColors" Target="../diagrams/colors1.xml"/><Relationship Id="rId12" Type="http://schemas.openxmlformats.org/officeDocument/2006/relationships/diagramColors" Target="../diagrams/colors2.xml"/><Relationship Id="rId17" Type="http://schemas.openxmlformats.org/officeDocument/2006/relationships/image" Target="../media/image6.png"/><Relationship Id="rId2" Type="http://schemas.openxmlformats.org/officeDocument/2006/relationships/audio" Target="../media/media2.m4a"/><Relationship Id="rId16" Type="http://schemas.openxmlformats.org/officeDocument/2006/relationships/image" Target="../media/image5.png"/><Relationship Id="rId1" Type="http://schemas.microsoft.com/office/2007/relationships/media" Target="../media/media2.m4a"/><Relationship Id="rId6" Type="http://schemas.openxmlformats.org/officeDocument/2006/relationships/diagramQuickStyle" Target="../diagrams/quickStyle1.xml"/><Relationship Id="rId11" Type="http://schemas.openxmlformats.org/officeDocument/2006/relationships/diagramQuickStyle" Target="../diagrams/quickStyle2.xml"/><Relationship Id="rId5" Type="http://schemas.openxmlformats.org/officeDocument/2006/relationships/diagramLayout" Target="../diagrams/layout1.xml"/><Relationship Id="rId15" Type="http://schemas.openxmlformats.org/officeDocument/2006/relationships/image" Target="../media/image4.png"/><Relationship Id="rId10" Type="http://schemas.openxmlformats.org/officeDocument/2006/relationships/diagramLayout" Target="../diagrams/layout2.xml"/><Relationship Id="rId4" Type="http://schemas.openxmlformats.org/officeDocument/2006/relationships/diagramData" Target="../diagrams/data1.xml"/><Relationship Id="rId9" Type="http://schemas.openxmlformats.org/officeDocument/2006/relationships/diagramData" Target="../diagrams/data2.xml"/><Relationship Id="rId1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.png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chart" Target="../charts/char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.png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6" Type="http://schemas.openxmlformats.org/officeDocument/2006/relationships/chart" Target="../charts/char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.png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6" Type="http://schemas.openxmlformats.org/officeDocument/2006/relationships/chart" Target="../charts/chart3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6" Type="http://schemas.openxmlformats.org/officeDocument/2006/relationships/image" Target="../media/image2.png"/><Relationship Id="rId5" Type="http://schemas.openxmlformats.org/officeDocument/2006/relationships/chart" Target="../charts/chart4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5" Type="http://schemas.openxmlformats.org/officeDocument/2006/relationships/image" Target="../media/image2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6" Type="http://schemas.openxmlformats.org/officeDocument/2006/relationships/image" Target="../media/image2.png"/><Relationship Id="rId5" Type="http://schemas.openxmlformats.org/officeDocument/2006/relationships/chart" Target="../charts/chart5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doi.org/10.1609/aaai.v39i15.33767" TargetMode="External"/><Relationship Id="rId13" Type="http://schemas.openxmlformats.org/officeDocument/2006/relationships/hyperlink" Target="https://pmc.ncbi.nlm.nih.gov/articles/PMC7827984" TargetMode="External"/><Relationship Id="rId3" Type="http://schemas.openxmlformats.org/officeDocument/2006/relationships/slideLayout" Target="../slideLayouts/slideLayout2.xml"/><Relationship Id="rId7" Type="http://schemas.openxmlformats.org/officeDocument/2006/relationships/hyperlink" Target="https://doi.org/10.1016/j.jmapro.2025.01.019" TargetMode="External"/><Relationship Id="rId12" Type="http://schemas.openxmlformats.org/officeDocument/2006/relationships/hyperlink" Target="https://www.frontiersin.org/files/Articles/632417/fcteg-02-632417-HTML/image_m/fcteg-02-632417-g001.jpg" TargetMode="External"/><Relationship Id="rId2" Type="http://schemas.openxmlformats.org/officeDocument/2006/relationships/audio" Target="../media/media10.m4a"/><Relationship Id="rId1" Type="http://schemas.microsoft.com/office/2007/relationships/media" Target="../media/media10.m4a"/><Relationship Id="rId6" Type="http://schemas.openxmlformats.org/officeDocument/2006/relationships/hyperlink" Target="https://doi.org/10.3389/fcteg.2021.632417" TargetMode="External"/><Relationship Id="rId11" Type="http://schemas.openxmlformats.org/officeDocument/2006/relationships/hyperlink" Target="https://www.researchgate.net/figure/The-schematic-diagram-of-multi-robot-position-force-coordination-control_fig6_331536074" TargetMode="External"/><Relationship Id="rId5" Type="http://schemas.openxmlformats.org/officeDocument/2006/relationships/hyperlink" Target="https://doi.org/10.3390/s23125663" TargetMode="External"/><Relationship Id="rId15" Type="http://schemas.openxmlformats.org/officeDocument/2006/relationships/image" Target="../media/image2.png"/><Relationship Id="rId10" Type="http://schemas.openxmlformats.org/officeDocument/2006/relationships/hyperlink" Target="https://www.researchgate.net/figure/Shape-characteristic-curves-under-different-segmentation-arc-lengths_fig9_342546163" TargetMode="External"/><Relationship Id="rId4" Type="http://schemas.openxmlformats.org/officeDocument/2006/relationships/hyperlink" Target="https://doi.org/10.1016/j.procs.2024.01.128" TargetMode="External"/><Relationship Id="rId9" Type="http://schemas.openxmlformats.org/officeDocument/2006/relationships/hyperlink" Target="https://unsplash.com/s/photos/human-watching-robotic-weld-inspection-arm-in-automotive" TargetMode="External"/><Relationship Id="rId14" Type="http://schemas.openxmlformats.org/officeDocument/2006/relationships/hyperlink" Target="https://www.aws.org/magazines-and-media/welding-digest/wd-nov-24-safe-cobot-weldi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3" name="Rectangle 1032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8" name="Picture 4" descr="Car bodies are on assembly line. Factory for production of cars. Modern automotive industry. Electric car factory, conveyor.">
            <a:extLst>
              <a:ext uri="{FF2B5EF4-FFF2-40B4-BE49-F238E27FC236}">
                <a16:creationId xmlns:a16="http://schemas.microsoft.com/office/drawing/2014/main" id="{45C3BC63-278C-87A0-760A-6E576BD2FF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50" r="23298" b="1542"/>
          <a:stretch>
            <a:fillRect/>
          </a:stretch>
        </p:blipFill>
        <p:spPr bwMode="auto">
          <a:xfrm>
            <a:off x="3523488" y="10"/>
            <a:ext cx="866851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5" name="Rectangle 1034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273DF4-72F1-A0BA-76D0-858E726FEB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0329" y="2240742"/>
            <a:ext cx="5292899" cy="2056209"/>
          </a:xfrm>
        </p:spPr>
        <p:txBody>
          <a:bodyPr vert="horz" lIns="91440" tIns="45720" rIns="91440" bIns="45720" rtlCol="0" anchor="ctr" anchorCtr="1">
            <a:normAutofit/>
          </a:bodyPr>
          <a:lstStyle/>
          <a:p>
            <a:r>
              <a:rPr lang="en-US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Collaborative Multi-Robot Inspection System for Weld Quality Assurance in Automotive Manufacturing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4F9F9F-80A4-6619-96D8-E4E9058104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9562" y="4755483"/>
            <a:ext cx="4554432" cy="1010222"/>
          </a:xfrm>
        </p:spPr>
        <p:txBody>
          <a:bodyPr vert="horz" lIns="91440" tIns="45720" rIns="91440" bIns="45720" rtlCol="0" anchorCtr="1">
            <a:norm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Utilizing Reinforcement Learning for Adaptive Defect Detection and Coordination, Integrated with Human Oversight for Real-Time Process Control Monitoring on the Production Line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39" name="Rectangle 1038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018A57-DC61-8069-0D29-4E62D47DF7EF}"/>
              </a:ext>
            </a:extLst>
          </p:cNvPr>
          <p:cNvSpPr txBox="1"/>
          <p:nvPr/>
        </p:nvSpPr>
        <p:spPr>
          <a:xfrm>
            <a:off x="1025635" y="6173353"/>
            <a:ext cx="39222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Randall Crawford        September 7, 2025</a:t>
            </a:r>
          </a:p>
        </p:txBody>
      </p:sp>
      <p:pic>
        <p:nvPicPr>
          <p:cNvPr id="1041" name="Audio 1040">
            <a:hlinkClick r:id="" action="ppaction://media"/>
            <a:extLst>
              <a:ext uri="{FF2B5EF4-FFF2-40B4-BE49-F238E27FC236}">
                <a16:creationId xmlns:a16="http://schemas.microsoft.com/office/drawing/2014/main" id="{1EF47E4C-CDBE-05FE-470F-1A98E165C71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1319594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9308"/>
    </mc:Choice>
    <mc:Fallback>
      <p:transition spd="slow" advTm="3930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4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41"/>
                </p:tgtEl>
              </p:cMediaNode>
            </p:audio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2C6A9-0836-7AE6-0D3C-CAC67E6F3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84301"/>
          </a:xfrm>
          <a:solidFill>
            <a:schemeClr val="bg2"/>
          </a:solidFill>
        </p:spPr>
        <p:txBody>
          <a:bodyPr tIns="91440" bIns="91440" anchor="ctr" anchorCtr="1">
            <a:normAutofit fontScale="90000"/>
          </a:bodyPr>
          <a:lstStyle/>
          <a:p>
            <a:br>
              <a:rPr lang="en-US" sz="27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7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7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collaborative weld inspection system integrates autonomy, human interaction, multi-robot coordination, and reinforcement learning to enhance quality assurance and process control in automotive manufacturing.</a:t>
            </a:r>
            <a:br>
              <a:rPr lang="en-US" dirty="0">
                <a:effectLst/>
              </a:rPr>
            </a:b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D3B9E89-81AA-C4B4-E8CB-5688A4FD506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2141282"/>
              </p:ext>
            </p:extLst>
          </p:nvPr>
        </p:nvGraphicFramePr>
        <p:xfrm>
          <a:off x="838200" y="1690688"/>
          <a:ext cx="10515600" cy="49371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7D6C5B03-73A9-DE54-AA75-BF350DF44DD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76155166"/>
              </p:ext>
            </p:extLst>
          </p:nvPr>
        </p:nvGraphicFramePr>
        <p:xfrm>
          <a:off x="2374489" y="1683325"/>
          <a:ext cx="7443021" cy="49145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pic>
        <p:nvPicPr>
          <p:cNvPr id="7" name="Picture 6" descr="A diagram of a heat exchanger&#10;&#10;AI-generated content may be incorrect.">
            <a:extLst>
              <a:ext uri="{FF2B5EF4-FFF2-40B4-BE49-F238E27FC236}">
                <a16:creationId xmlns:a16="http://schemas.microsoft.com/office/drawing/2014/main" id="{B90CF036-EFE6-4685-F03C-B0C0B800C6E8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0415" y="4723253"/>
            <a:ext cx="3615813" cy="1769622"/>
          </a:xfrm>
          <a:prstGeom prst="rect">
            <a:avLst/>
          </a:prstGeom>
        </p:spPr>
      </p:pic>
      <p:pic>
        <p:nvPicPr>
          <p:cNvPr id="11" name="Picture 10" descr="A person wearing safety goggles and gloves working with robots&#10;&#10;AI-generated content may be incorrect.">
            <a:extLst>
              <a:ext uri="{FF2B5EF4-FFF2-40B4-BE49-F238E27FC236}">
                <a16:creationId xmlns:a16="http://schemas.microsoft.com/office/drawing/2014/main" id="{726A19BA-9E38-3110-0334-22599F0AD72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8198" y="1713282"/>
            <a:ext cx="3608030" cy="1880655"/>
          </a:xfrm>
          <a:prstGeom prst="rect">
            <a:avLst/>
          </a:prstGeom>
        </p:spPr>
      </p:pic>
      <p:pic>
        <p:nvPicPr>
          <p:cNvPr id="13" name="Picture 12" descr="A diagram of a robot&#10;&#10;AI-generated content may be incorrect.">
            <a:extLst>
              <a:ext uri="{FF2B5EF4-FFF2-40B4-BE49-F238E27FC236}">
                <a16:creationId xmlns:a16="http://schemas.microsoft.com/office/drawing/2014/main" id="{AE62607A-3251-B2AB-FCBF-C4B6C7C6229B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283471" y="1549426"/>
            <a:ext cx="2532627" cy="2098342"/>
          </a:xfrm>
          <a:prstGeom prst="rect">
            <a:avLst/>
          </a:prstGeom>
        </p:spPr>
      </p:pic>
      <p:pic>
        <p:nvPicPr>
          <p:cNvPr id="15" name="Picture 14" descr="A diagram of a robot&#10;&#10;AI-generated content may be incorrect.">
            <a:extLst>
              <a:ext uri="{FF2B5EF4-FFF2-40B4-BE49-F238E27FC236}">
                <a16:creationId xmlns:a16="http://schemas.microsoft.com/office/drawing/2014/main" id="{48048C17-4C9A-0F0A-1E3F-74E4834E3531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379546" y="4827640"/>
            <a:ext cx="3978146" cy="1665236"/>
          </a:xfrm>
          <a:prstGeom prst="rect">
            <a:avLst/>
          </a:prstGeom>
        </p:spPr>
      </p:pic>
      <p:pic>
        <p:nvPicPr>
          <p:cNvPr id="51" name="Audio 50">
            <a:hlinkClick r:id="" action="ppaction://media"/>
            <a:extLst>
              <a:ext uri="{FF2B5EF4-FFF2-40B4-BE49-F238E27FC236}">
                <a16:creationId xmlns:a16="http://schemas.microsoft.com/office/drawing/2014/main" id="{5AC94A33-1BE6-C427-FB47-6CD6018CC3D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8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6115950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4749"/>
    </mc:Choice>
    <mc:Fallback>
      <p:transition spd="slow" advTm="4474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1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F4707-CE56-BCEC-708E-DD80D38B00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55752"/>
          </a:xfrm>
          <a:solidFill>
            <a:schemeClr val="bg2"/>
          </a:solidFill>
        </p:spPr>
        <p:txBody>
          <a:bodyPr anchor="t" anchorCtr="1">
            <a:normAutofit fontScale="90000"/>
          </a:bodyPr>
          <a:lstStyle/>
          <a:p>
            <a:r>
              <a:rPr lang="en-US" sz="27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Autonomy in robotic systems allows for real-time adaptation to weld variations, reducing defect rates in automotive manufacturing.</a:t>
            </a:r>
            <a:br>
              <a:rPr lang="en-US" dirty="0">
                <a:effectLst/>
              </a:rPr>
            </a:br>
            <a:endParaRPr lang="en-US" dirty="0"/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5CEE8494-5474-D1F6-A25C-97F7746E0D9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1199255"/>
              </p:ext>
            </p:extLst>
          </p:nvPr>
        </p:nvGraphicFramePr>
        <p:xfrm>
          <a:off x="7000568" y="1874394"/>
          <a:ext cx="4353233" cy="29040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5C41F61C-A330-8D86-55B2-A6946C8C84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838199" y="1253331"/>
            <a:ext cx="5838934" cy="391843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480BEEF-FF7A-4E83-199D-4A81A7D7DD3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010" y="5284308"/>
            <a:ext cx="5937123" cy="495369"/>
          </a:xfrm>
          <a:prstGeom prst="rect">
            <a:avLst/>
          </a:prstGeom>
        </p:spPr>
      </p:pic>
      <p:pic>
        <p:nvPicPr>
          <p:cNvPr id="15" name="Audio 14">
            <a:hlinkClick r:id="" action="ppaction://media"/>
            <a:extLst>
              <a:ext uri="{FF2B5EF4-FFF2-40B4-BE49-F238E27FC236}">
                <a16:creationId xmlns:a16="http://schemas.microsoft.com/office/drawing/2014/main" id="{E8BD8661-8101-D902-C7DB-D42C87E6B76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7119142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7738"/>
    </mc:Choice>
    <mc:Fallback>
      <p:transition spd="slow" advTm="3773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5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ED3452-40F4-712F-9D5B-999C6BBA7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7B267-EDB2-D316-E7C3-649E2775C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55752"/>
          </a:xfrm>
          <a:solidFill>
            <a:schemeClr val="bg2"/>
          </a:solidFill>
        </p:spPr>
        <p:txBody>
          <a:bodyPr anchor="t" anchorCtr="1">
            <a:normAutofit fontScale="90000"/>
          </a:bodyPr>
          <a:lstStyle/>
          <a:p>
            <a:r>
              <a:rPr lang="en-US" sz="27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Dual-driven algorithms enhance robotic autonomy by combining physics and data models, improving weld stability and quality in production lines.</a:t>
            </a:r>
            <a:br>
              <a:rPr lang="en-US" sz="2800" dirty="0">
                <a:effectLst/>
              </a:rPr>
            </a:br>
            <a:br>
              <a:rPr lang="en-US" dirty="0">
                <a:effectLst/>
              </a:rPr>
            </a:br>
            <a:endParaRPr lang="en-US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A2D93504-8A78-B57B-5E25-D450C0F826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838199" y="1695569"/>
            <a:ext cx="6235095" cy="264045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862D057-D854-28B0-3081-CAE265E8DC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198" y="4419377"/>
            <a:ext cx="6235095" cy="743054"/>
          </a:xfrm>
          <a:prstGeom prst="rect">
            <a:avLst/>
          </a:prstGeom>
        </p:spPr>
      </p:pic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7A5906FD-6C0E-0944-14B4-8FE15E6E17E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50574493"/>
              </p:ext>
            </p:extLst>
          </p:nvPr>
        </p:nvGraphicFramePr>
        <p:xfrm>
          <a:off x="7181646" y="2036507"/>
          <a:ext cx="4172154" cy="27849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pic>
        <p:nvPicPr>
          <p:cNvPr id="15" name="Audio 14">
            <a:hlinkClick r:id="" action="ppaction://media"/>
            <a:extLst>
              <a:ext uri="{FF2B5EF4-FFF2-40B4-BE49-F238E27FC236}">
                <a16:creationId xmlns:a16="http://schemas.microsoft.com/office/drawing/2014/main" id="{118176B6-05EB-9C25-0819-C23CF2D314B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7243891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5497"/>
    </mc:Choice>
    <mc:Fallback>
      <p:transition spd="slow" advTm="3549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5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1E1C7-D076-05B4-7520-3069BBF5B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4B53F-C7B8-F9A7-DB9D-1A2AEF1F7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99880"/>
          </a:xfrm>
          <a:solidFill>
            <a:schemeClr val="bg2"/>
          </a:solidFill>
        </p:spPr>
        <p:txBody>
          <a:bodyPr anchor="t" anchorCtr="1">
            <a:normAutofit fontScale="90000"/>
          </a:bodyPr>
          <a:lstStyle/>
          <a:p>
            <a:r>
              <a:rPr lang="en-US" sz="2800" dirty="0">
                <a:effectLst/>
              </a:rPr>
              <a:t>Integrating human oversight ensures safe and efficient robot interactions, enabling collaborative weld defect monitoring without compromising operator safety.</a:t>
            </a:r>
            <a:br>
              <a:rPr lang="en-US" sz="2800" dirty="0">
                <a:effectLst/>
              </a:rPr>
            </a:br>
            <a:br>
              <a:rPr lang="en-US" sz="2800" dirty="0">
                <a:effectLst/>
              </a:rPr>
            </a:br>
            <a:br>
              <a:rPr lang="en-US" dirty="0">
                <a:effectLst/>
              </a:rPr>
            </a:b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E7DD306-D977-179E-B263-C63F91E1CB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838199" y="1776464"/>
            <a:ext cx="5680587" cy="387829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12F6BCA-1469-691F-665F-56C3756BC9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199" y="5804604"/>
            <a:ext cx="5680587" cy="161610"/>
          </a:xfrm>
          <a:prstGeom prst="rect">
            <a:avLst/>
          </a:prstGeom>
        </p:spPr>
      </p:pic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A46EA1DF-6EF4-C190-266F-CC272A79688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07612779"/>
              </p:ext>
            </p:extLst>
          </p:nvPr>
        </p:nvGraphicFramePr>
        <p:xfrm>
          <a:off x="7181646" y="2036507"/>
          <a:ext cx="4172154" cy="27849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09B73F94-4467-628A-0757-3A08CDFA91D6}"/>
              </a:ext>
            </a:extLst>
          </p:cNvPr>
          <p:cNvSpPr txBox="1"/>
          <p:nvPr/>
        </p:nvSpPr>
        <p:spPr>
          <a:xfrm>
            <a:off x="7409426" y="5054440"/>
            <a:ext cx="37165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Zero safety incidents via human oversight.</a:t>
            </a:r>
          </a:p>
        </p:txBody>
      </p:sp>
      <p:pic>
        <p:nvPicPr>
          <p:cNvPr id="16" name="Audio 15">
            <a:hlinkClick r:id="" action="ppaction://media"/>
            <a:extLst>
              <a:ext uri="{FF2B5EF4-FFF2-40B4-BE49-F238E27FC236}">
                <a16:creationId xmlns:a16="http://schemas.microsoft.com/office/drawing/2014/main" id="{88E8EFD5-BB01-78EB-710E-076EBBE2E9B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5899524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9597"/>
    </mc:Choice>
    <mc:Fallback>
      <p:transition spd="slow" advTm="2959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798BA-96AA-49D5-4D6D-1460BB244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DB934-9886-F017-95BC-32912E7BB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6"/>
            <a:ext cx="10215717" cy="838118"/>
          </a:xfrm>
          <a:solidFill>
            <a:schemeClr val="bg2"/>
          </a:solidFill>
        </p:spPr>
        <p:txBody>
          <a:bodyPr anchor="t" anchorCtr="1">
            <a:normAutofit fontScale="90000"/>
          </a:bodyPr>
          <a:lstStyle/>
          <a:p>
            <a:r>
              <a:rPr lang="en-US" sz="27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Coordinated multi-robot systems optimize task allocation in weld inspection, minimizing downtime in automotive production lines.</a:t>
            </a:r>
            <a:br>
              <a:rPr lang="en-US" sz="2800" dirty="0">
                <a:effectLst/>
              </a:rPr>
            </a:br>
            <a:br>
              <a:rPr lang="en-US" sz="2800" dirty="0">
                <a:effectLst/>
              </a:rPr>
            </a:br>
            <a:br>
              <a:rPr lang="en-US" sz="2800" dirty="0">
                <a:effectLst/>
              </a:rPr>
            </a:br>
            <a:br>
              <a:rPr lang="en-US" dirty="0">
                <a:effectLst/>
              </a:rPr>
            </a:b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3DE1386-C8D6-42F3-BF83-01BFB0878E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838199" y="1502185"/>
            <a:ext cx="5214097" cy="4289015"/>
          </a:xfrm>
          <a:prstGeom prst="rect">
            <a:avLst/>
          </a:prstGeom>
        </p:spPr>
      </p:pic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8F7D2BCA-CD21-E200-9959-AE570423F4B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35663016"/>
              </p:ext>
            </p:extLst>
          </p:nvPr>
        </p:nvGraphicFramePr>
        <p:xfrm>
          <a:off x="6881762" y="2133830"/>
          <a:ext cx="4172154" cy="30257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13" name="Audio 12">
            <a:hlinkClick r:id="" action="ppaction://media"/>
            <a:extLst>
              <a:ext uri="{FF2B5EF4-FFF2-40B4-BE49-F238E27FC236}">
                <a16:creationId xmlns:a16="http://schemas.microsoft.com/office/drawing/2014/main" id="{23441A9B-7A2F-9F28-C5F6-30400677524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3546106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150"/>
    </mc:Choice>
    <mc:Fallback>
      <p:transition spd="slow" advTm="3015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5015A6-8A92-8B0F-1446-97D34DD80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93B0A-1645-D516-A137-8CCC13060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6"/>
            <a:ext cx="10215717" cy="838118"/>
          </a:xfrm>
          <a:solidFill>
            <a:schemeClr val="bg2"/>
          </a:solidFill>
        </p:spPr>
        <p:txBody>
          <a:bodyPr anchor="t" anchorCtr="1">
            <a:normAutofit fontScale="90000"/>
          </a:bodyPr>
          <a:lstStyle/>
          <a:p>
            <a:r>
              <a:rPr lang="en-US" sz="2800" dirty="0">
                <a:effectLst/>
              </a:rPr>
              <a:t>Reinforcement learning enables robots to learn adaptive strategies for weld defect detection, handling uncertainties like production interruptions.</a:t>
            </a:r>
            <a:br>
              <a:rPr lang="en-US" sz="2800" dirty="0">
                <a:effectLst/>
              </a:rPr>
            </a:br>
            <a:br>
              <a:rPr lang="en-US" sz="2800" dirty="0">
                <a:effectLst/>
              </a:rPr>
            </a:br>
            <a:br>
              <a:rPr lang="en-US" sz="2800" dirty="0">
                <a:effectLst/>
              </a:rPr>
            </a:br>
            <a:br>
              <a:rPr lang="en-US" sz="2800" dirty="0">
                <a:effectLst/>
              </a:rPr>
            </a:br>
            <a:br>
              <a:rPr lang="en-US" dirty="0">
                <a:effectLst/>
              </a:rPr>
            </a:b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6F1DCE-18B4-70E4-DF19-ECBD4D7698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1864" y="1897264"/>
            <a:ext cx="3892052" cy="3069106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8098FFEB-83FD-96AD-2200-154BAC253425}"/>
              </a:ext>
            </a:extLst>
          </p:cNvPr>
          <p:cNvSpPr/>
          <p:nvPr/>
        </p:nvSpPr>
        <p:spPr>
          <a:xfrm>
            <a:off x="1809136" y="2008947"/>
            <a:ext cx="245806" cy="22437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2DA451B-E5A3-5397-D23D-34E966FDA8EB}"/>
              </a:ext>
            </a:extLst>
          </p:cNvPr>
          <p:cNvSpPr/>
          <p:nvPr/>
        </p:nvSpPr>
        <p:spPr>
          <a:xfrm>
            <a:off x="1809136" y="2814651"/>
            <a:ext cx="245806" cy="23523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681464C-496C-0F57-7440-03A9E1F4970F}"/>
              </a:ext>
            </a:extLst>
          </p:cNvPr>
          <p:cNvSpPr/>
          <p:nvPr/>
        </p:nvSpPr>
        <p:spPr>
          <a:xfrm>
            <a:off x="1809136" y="3547695"/>
            <a:ext cx="245806" cy="22958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41AD1F0-C5AC-BA97-0845-56731296299A}"/>
              </a:ext>
            </a:extLst>
          </p:cNvPr>
          <p:cNvSpPr/>
          <p:nvPr/>
        </p:nvSpPr>
        <p:spPr>
          <a:xfrm>
            <a:off x="1814052" y="4280737"/>
            <a:ext cx="240890" cy="22958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3F0D7B8-1F8B-9178-6E27-88A446DA24A6}"/>
              </a:ext>
            </a:extLst>
          </p:cNvPr>
          <p:cNvSpPr/>
          <p:nvPr/>
        </p:nvSpPr>
        <p:spPr>
          <a:xfrm>
            <a:off x="1809136" y="5013781"/>
            <a:ext cx="240890" cy="22958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F3E4FC4-80A1-1264-D956-C8A7A6EEB8A8}"/>
              </a:ext>
            </a:extLst>
          </p:cNvPr>
          <p:cNvSpPr txBox="1"/>
          <p:nvPr/>
        </p:nvSpPr>
        <p:spPr>
          <a:xfrm>
            <a:off x="875072" y="2772892"/>
            <a:ext cx="9340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Robot 2 Pos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E62D23D-C1F7-4887-4722-DE2E7873653B}"/>
              </a:ext>
            </a:extLst>
          </p:cNvPr>
          <p:cNvSpPr txBox="1"/>
          <p:nvPr/>
        </p:nvSpPr>
        <p:spPr>
          <a:xfrm>
            <a:off x="875072" y="1967187"/>
            <a:ext cx="9340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Robot 1 Pos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B59A1B4-6518-500F-929C-FDED8911FB62}"/>
              </a:ext>
            </a:extLst>
          </p:cNvPr>
          <p:cNvSpPr txBox="1"/>
          <p:nvPr/>
        </p:nvSpPr>
        <p:spPr>
          <a:xfrm>
            <a:off x="875072" y="3511585"/>
            <a:ext cx="9340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Weld Temp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94A5CED-0A71-7B8A-FBEC-16124101CE5A}"/>
              </a:ext>
            </a:extLst>
          </p:cNvPr>
          <p:cNvSpPr txBox="1"/>
          <p:nvPr/>
        </p:nvSpPr>
        <p:spPr>
          <a:xfrm>
            <a:off x="875072" y="4233327"/>
            <a:ext cx="9340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Defect Size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8420C05-C096-DED7-A36A-0F50BA9CD73E}"/>
              </a:ext>
            </a:extLst>
          </p:cNvPr>
          <p:cNvSpPr txBox="1"/>
          <p:nvPr/>
        </p:nvSpPr>
        <p:spPr>
          <a:xfrm>
            <a:off x="875072" y="4966370"/>
            <a:ext cx="9340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Interruption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0C07F97-1961-A3EE-FEFF-AD7F786D7805}"/>
              </a:ext>
            </a:extLst>
          </p:cNvPr>
          <p:cNvSpPr txBox="1"/>
          <p:nvPr/>
        </p:nvSpPr>
        <p:spPr>
          <a:xfrm>
            <a:off x="875072" y="1533832"/>
            <a:ext cx="11798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Layer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40F1EEE-9DD2-FF80-C9DB-947DA108D57C}"/>
              </a:ext>
            </a:extLst>
          </p:cNvPr>
          <p:cNvSpPr/>
          <p:nvPr/>
        </p:nvSpPr>
        <p:spPr>
          <a:xfrm>
            <a:off x="3131576" y="2493906"/>
            <a:ext cx="245806" cy="224379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0BDF10E0-443E-BE4C-681E-AC2C3F1FAC0B}"/>
              </a:ext>
            </a:extLst>
          </p:cNvPr>
          <p:cNvSpPr/>
          <p:nvPr/>
        </p:nvSpPr>
        <p:spPr>
          <a:xfrm>
            <a:off x="3131575" y="3204621"/>
            <a:ext cx="245806" cy="224379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4F8A590-4116-BBA4-0E02-975EE80291A9}"/>
              </a:ext>
            </a:extLst>
          </p:cNvPr>
          <p:cNvSpPr/>
          <p:nvPr/>
        </p:nvSpPr>
        <p:spPr>
          <a:xfrm>
            <a:off x="3131575" y="3911326"/>
            <a:ext cx="245806" cy="224379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03426C6-5954-BF6D-C4C6-67CE3FBB11E7}"/>
              </a:ext>
            </a:extLst>
          </p:cNvPr>
          <p:cNvSpPr/>
          <p:nvPr/>
        </p:nvSpPr>
        <p:spPr>
          <a:xfrm>
            <a:off x="3136491" y="4618031"/>
            <a:ext cx="245806" cy="224379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3F73407D-54B5-DB6D-EACB-EBD84E210AE8}"/>
              </a:ext>
            </a:extLst>
          </p:cNvPr>
          <p:cNvSpPr/>
          <p:nvPr/>
        </p:nvSpPr>
        <p:spPr>
          <a:xfrm>
            <a:off x="4532673" y="2498488"/>
            <a:ext cx="245806" cy="224379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FA59EDC3-2867-60B2-3AFB-7957B48EE732}"/>
              </a:ext>
            </a:extLst>
          </p:cNvPr>
          <p:cNvSpPr/>
          <p:nvPr/>
        </p:nvSpPr>
        <p:spPr>
          <a:xfrm>
            <a:off x="4527759" y="3204621"/>
            <a:ext cx="245806" cy="224379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6CFDDDA1-6B05-D949-809C-C09C25FBD22F}"/>
              </a:ext>
            </a:extLst>
          </p:cNvPr>
          <p:cNvSpPr/>
          <p:nvPr/>
        </p:nvSpPr>
        <p:spPr>
          <a:xfrm>
            <a:off x="4525302" y="3916538"/>
            <a:ext cx="245806" cy="224379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BCBF9DFA-D388-FE27-7B7C-685FDF9C9D3F}"/>
              </a:ext>
            </a:extLst>
          </p:cNvPr>
          <p:cNvSpPr/>
          <p:nvPr/>
        </p:nvSpPr>
        <p:spPr>
          <a:xfrm>
            <a:off x="4532673" y="4612820"/>
            <a:ext cx="245806" cy="224379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2CF67FB-CE61-3E6A-018A-9790C94D24E0}"/>
              </a:ext>
            </a:extLst>
          </p:cNvPr>
          <p:cNvSpPr txBox="1"/>
          <p:nvPr/>
        </p:nvSpPr>
        <p:spPr>
          <a:xfrm>
            <a:off x="2713703" y="1841609"/>
            <a:ext cx="10717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1C23CA0-0462-ABFB-80C0-B4236B9EFE55}"/>
              </a:ext>
            </a:extLst>
          </p:cNvPr>
          <p:cNvSpPr txBox="1"/>
          <p:nvPr/>
        </p:nvSpPr>
        <p:spPr>
          <a:xfrm>
            <a:off x="4119718" y="1874853"/>
            <a:ext cx="10717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Making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B486737-CB72-D884-FDFE-75F32786CAE6}"/>
              </a:ext>
            </a:extLst>
          </p:cNvPr>
          <p:cNvSpPr txBox="1"/>
          <p:nvPr/>
        </p:nvSpPr>
        <p:spPr>
          <a:xfrm>
            <a:off x="3259394" y="1535771"/>
            <a:ext cx="14010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Hidden Layers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3EDCD03B-2D0B-0E25-4C95-344A5C00F5BB}"/>
              </a:ext>
            </a:extLst>
          </p:cNvPr>
          <p:cNvCxnSpPr>
            <a:stCxn id="13" idx="6"/>
            <a:endCxn id="24" idx="2"/>
          </p:cNvCxnSpPr>
          <p:nvPr/>
        </p:nvCxnSpPr>
        <p:spPr>
          <a:xfrm flipV="1">
            <a:off x="2050026" y="4730221"/>
            <a:ext cx="1086465" cy="398353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A2C4E42B-B335-68F0-C144-177FA603346E}"/>
              </a:ext>
            </a:extLst>
          </p:cNvPr>
          <p:cNvCxnSpPr>
            <a:stCxn id="13" idx="6"/>
            <a:endCxn id="23" idx="2"/>
          </p:cNvCxnSpPr>
          <p:nvPr/>
        </p:nvCxnSpPr>
        <p:spPr>
          <a:xfrm flipV="1">
            <a:off x="2050026" y="4023516"/>
            <a:ext cx="1081549" cy="1105058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3DDD4A45-C366-BA5A-23BB-2C74118EDF97}"/>
              </a:ext>
            </a:extLst>
          </p:cNvPr>
          <p:cNvCxnSpPr>
            <a:cxnSpLocks/>
            <a:endCxn id="22" idx="2"/>
          </p:cNvCxnSpPr>
          <p:nvPr/>
        </p:nvCxnSpPr>
        <p:spPr>
          <a:xfrm flipV="1">
            <a:off x="2084439" y="3316811"/>
            <a:ext cx="1047136" cy="1788058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6B0EF87-E040-CF2B-0951-15B8EFCD901E}"/>
              </a:ext>
            </a:extLst>
          </p:cNvPr>
          <p:cNvCxnSpPr>
            <a:cxnSpLocks/>
            <a:stCxn id="13" idx="6"/>
            <a:endCxn id="21" idx="2"/>
          </p:cNvCxnSpPr>
          <p:nvPr/>
        </p:nvCxnSpPr>
        <p:spPr>
          <a:xfrm flipV="1">
            <a:off x="2050026" y="2606096"/>
            <a:ext cx="1081550" cy="2522478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73A6A573-4DF6-ABAC-9BDA-9FF681E6C9AD}"/>
              </a:ext>
            </a:extLst>
          </p:cNvPr>
          <p:cNvCxnSpPr>
            <a:cxnSpLocks/>
            <a:stCxn id="12" idx="6"/>
            <a:endCxn id="24" idx="2"/>
          </p:cNvCxnSpPr>
          <p:nvPr/>
        </p:nvCxnSpPr>
        <p:spPr>
          <a:xfrm>
            <a:off x="2054942" y="4395531"/>
            <a:ext cx="1081549" cy="33469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301EA929-9DE2-B221-DCB3-E41387C9CECE}"/>
              </a:ext>
            </a:extLst>
          </p:cNvPr>
          <p:cNvCxnSpPr>
            <a:cxnSpLocks/>
            <a:stCxn id="11" idx="6"/>
            <a:endCxn id="24" idx="2"/>
          </p:cNvCxnSpPr>
          <p:nvPr/>
        </p:nvCxnSpPr>
        <p:spPr>
          <a:xfrm>
            <a:off x="2054942" y="3662489"/>
            <a:ext cx="1081549" cy="1067732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8A18603C-FC1A-F3E5-C2DF-B2516BD9F460}"/>
              </a:ext>
            </a:extLst>
          </p:cNvPr>
          <p:cNvCxnSpPr>
            <a:cxnSpLocks/>
            <a:stCxn id="10" idx="6"/>
            <a:endCxn id="24" idx="2"/>
          </p:cNvCxnSpPr>
          <p:nvPr/>
        </p:nvCxnSpPr>
        <p:spPr>
          <a:xfrm>
            <a:off x="2054942" y="2932271"/>
            <a:ext cx="1081549" cy="179795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27A2B61D-8C7F-269E-B040-03160AF755D4}"/>
              </a:ext>
            </a:extLst>
          </p:cNvPr>
          <p:cNvCxnSpPr>
            <a:cxnSpLocks/>
            <a:stCxn id="8" idx="6"/>
            <a:endCxn id="24" idx="2"/>
          </p:cNvCxnSpPr>
          <p:nvPr/>
        </p:nvCxnSpPr>
        <p:spPr>
          <a:xfrm>
            <a:off x="2054942" y="2121137"/>
            <a:ext cx="1081549" cy="2609084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2891AFBB-3B85-A110-5450-275644830C61}"/>
              </a:ext>
            </a:extLst>
          </p:cNvPr>
          <p:cNvCxnSpPr>
            <a:cxnSpLocks/>
            <a:stCxn id="12" idx="6"/>
            <a:endCxn id="23" idx="2"/>
          </p:cNvCxnSpPr>
          <p:nvPr/>
        </p:nvCxnSpPr>
        <p:spPr>
          <a:xfrm flipV="1">
            <a:off x="2054942" y="4023516"/>
            <a:ext cx="1076633" cy="372015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D73698EC-C234-07B3-809A-5ECFA6E75812}"/>
              </a:ext>
            </a:extLst>
          </p:cNvPr>
          <p:cNvCxnSpPr>
            <a:cxnSpLocks/>
            <a:stCxn id="11" idx="6"/>
            <a:endCxn id="23" idx="2"/>
          </p:cNvCxnSpPr>
          <p:nvPr/>
        </p:nvCxnSpPr>
        <p:spPr>
          <a:xfrm>
            <a:off x="2054942" y="3662489"/>
            <a:ext cx="1076633" cy="361027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9ED59D8-B2C5-6B00-6113-0554AA0147B0}"/>
              </a:ext>
            </a:extLst>
          </p:cNvPr>
          <p:cNvCxnSpPr>
            <a:cxnSpLocks/>
            <a:endCxn id="23" idx="2"/>
          </p:cNvCxnSpPr>
          <p:nvPr/>
        </p:nvCxnSpPr>
        <p:spPr>
          <a:xfrm>
            <a:off x="2059857" y="2928882"/>
            <a:ext cx="1071718" cy="1094634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CD0088D1-B4D9-2E54-7AEA-49683C0555FA}"/>
              </a:ext>
            </a:extLst>
          </p:cNvPr>
          <p:cNvCxnSpPr>
            <a:cxnSpLocks/>
            <a:stCxn id="8" idx="6"/>
            <a:endCxn id="23" idx="2"/>
          </p:cNvCxnSpPr>
          <p:nvPr/>
        </p:nvCxnSpPr>
        <p:spPr>
          <a:xfrm>
            <a:off x="2054942" y="2121137"/>
            <a:ext cx="1076633" cy="1902379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E6E543CB-9259-A088-73E8-DD26075CD958}"/>
              </a:ext>
            </a:extLst>
          </p:cNvPr>
          <p:cNvCxnSpPr>
            <a:cxnSpLocks/>
            <a:stCxn id="11" idx="6"/>
            <a:endCxn id="22" idx="2"/>
          </p:cNvCxnSpPr>
          <p:nvPr/>
        </p:nvCxnSpPr>
        <p:spPr>
          <a:xfrm flipV="1">
            <a:off x="2054942" y="3316811"/>
            <a:ext cx="1076633" cy="345678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9F5F959C-AFEE-A05E-C82C-38BBE69AC71B}"/>
              </a:ext>
            </a:extLst>
          </p:cNvPr>
          <p:cNvCxnSpPr>
            <a:cxnSpLocks/>
            <a:stCxn id="10" idx="6"/>
            <a:endCxn id="22" idx="2"/>
          </p:cNvCxnSpPr>
          <p:nvPr/>
        </p:nvCxnSpPr>
        <p:spPr>
          <a:xfrm>
            <a:off x="2054942" y="2932271"/>
            <a:ext cx="1076633" cy="38454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7F0D83FF-B7E4-664D-1A89-417C3043C023}"/>
              </a:ext>
            </a:extLst>
          </p:cNvPr>
          <p:cNvCxnSpPr>
            <a:cxnSpLocks/>
            <a:stCxn id="8" idx="6"/>
            <a:endCxn id="22" idx="2"/>
          </p:cNvCxnSpPr>
          <p:nvPr/>
        </p:nvCxnSpPr>
        <p:spPr>
          <a:xfrm>
            <a:off x="2054942" y="2121137"/>
            <a:ext cx="1076633" cy="1195674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5E2C9C92-2EC4-B372-70B0-55F0CD9697EA}"/>
              </a:ext>
            </a:extLst>
          </p:cNvPr>
          <p:cNvCxnSpPr>
            <a:cxnSpLocks/>
            <a:stCxn id="12" idx="6"/>
            <a:endCxn id="21" idx="2"/>
          </p:cNvCxnSpPr>
          <p:nvPr/>
        </p:nvCxnSpPr>
        <p:spPr>
          <a:xfrm flipV="1">
            <a:off x="2054942" y="2606096"/>
            <a:ext cx="1076634" cy="1789435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E9D28021-1DAF-92FA-CC80-24C5272737F5}"/>
              </a:ext>
            </a:extLst>
          </p:cNvPr>
          <p:cNvCxnSpPr>
            <a:cxnSpLocks/>
            <a:stCxn id="11" idx="6"/>
            <a:endCxn id="21" idx="2"/>
          </p:cNvCxnSpPr>
          <p:nvPr/>
        </p:nvCxnSpPr>
        <p:spPr>
          <a:xfrm flipV="1">
            <a:off x="2054942" y="2606096"/>
            <a:ext cx="1076634" cy="1056393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3A89A3A9-C504-2856-F247-92296911A2EF}"/>
              </a:ext>
            </a:extLst>
          </p:cNvPr>
          <p:cNvCxnSpPr>
            <a:cxnSpLocks/>
            <a:stCxn id="12" idx="6"/>
            <a:endCxn id="22" idx="2"/>
          </p:cNvCxnSpPr>
          <p:nvPr/>
        </p:nvCxnSpPr>
        <p:spPr>
          <a:xfrm flipV="1">
            <a:off x="2054942" y="3316811"/>
            <a:ext cx="1076633" cy="107872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DF458A4D-31A6-F3C6-8ADE-C0A67A515F8B}"/>
              </a:ext>
            </a:extLst>
          </p:cNvPr>
          <p:cNvCxnSpPr>
            <a:cxnSpLocks/>
            <a:stCxn id="10" idx="6"/>
            <a:endCxn id="21" idx="2"/>
          </p:cNvCxnSpPr>
          <p:nvPr/>
        </p:nvCxnSpPr>
        <p:spPr>
          <a:xfrm flipV="1">
            <a:off x="2054942" y="2606096"/>
            <a:ext cx="1076634" cy="326175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F8BC97C3-4E76-77F3-78F3-64A6FAE0644B}"/>
              </a:ext>
            </a:extLst>
          </p:cNvPr>
          <p:cNvCxnSpPr>
            <a:cxnSpLocks/>
            <a:stCxn id="8" idx="6"/>
            <a:endCxn id="21" idx="2"/>
          </p:cNvCxnSpPr>
          <p:nvPr/>
        </p:nvCxnSpPr>
        <p:spPr>
          <a:xfrm>
            <a:off x="2054942" y="2121137"/>
            <a:ext cx="1076634" cy="484959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235FD328-703D-DBEA-9F22-88F84683A147}"/>
              </a:ext>
            </a:extLst>
          </p:cNvPr>
          <p:cNvCxnSpPr>
            <a:cxnSpLocks/>
            <a:stCxn id="24" idx="6"/>
            <a:endCxn id="28" idx="2"/>
          </p:cNvCxnSpPr>
          <p:nvPr/>
        </p:nvCxnSpPr>
        <p:spPr>
          <a:xfrm flipV="1">
            <a:off x="3382297" y="4725010"/>
            <a:ext cx="1150376" cy="5211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2A32D137-63AA-5FB1-FAE0-CE0F8BB98E43}"/>
              </a:ext>
            </a:extLst>
          </p:cNvPr>
          <p:cNvCxnSpPr>
            <a:cxnSpLocks/>
            <a:stCxn id="24" idx="6"/>
            <a:endCxn id="27" idx="2"/>
          </p:cNvCxnSpPr>
          <p:nvPr/>
        </p:nvCxnSpPr>
        <p:spPr>
          <a:xfrm flipV="1">
            <a:off x="3382297" y="4028728"/>
            <a:ext cx="1143005" cy="701493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331416E5-127D-B686-3A23-2038F67CA015}"/>
              </a:ext>
            </a:extLst>
          </p:cNvPr>
          <p:cNvCxnSpPr>
            <a:cxnSpLocks/>
            <a:stCxn id="24" idx="6"/>
            <a:endCxn id="26" idx="2"/>
          </p:cNvCxnSpPr>
          <p:nvPr/>
        </p:nvCxnSpPr>
        <p:spPr>
          <a:xfrm flipV="1">
            <a:off x="3382297" y="3316811"/>
            <a:ext cx="1145462" cy="141341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61A03115-7D8E-BD09-C0FE-09AC2DFC2EC5}"/>
              </a:ext>
            </a:extLst>
          </p:cNvPr>
          <p:cNvCxnSpPr>
            <a:cxnSpLocks/>
            <a:stCxn id="24" idx="6"/>
            <a:endCxn id="25" idx="2"/>
          </p:cNvCxnSpPr>
          <p:nvPr/>
        </p:nvCxnSpPr>
        <p:spPr>
          <a:xfrm flipV="1">
            <a:off x="3382297" y="2610678"/>
            <a:ext cx="1150376" cy="2119543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19B53ECA-484D-28FE-4452-51DDA83FF5E8}"/>
              </a:ext>
            </a:extLst>
          </p:cNvPr>
          <p:cNvCxnSpPr>
            <a:cxnSpLocks/>
            <a:stCxn id="23" idx="6"/>
            <a:endCxn id="28" idx="2"/>
          </p:cNvCxnSpPr>
          <p:nvPr/>
        </p:nvCxnSpPr>
        <p:spPr>
          <a:xfrm>
            <a:off x="3377381" y="4023516"/>
            <a:ext cx="1155292" cy="701494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1AF9C07C-9838-088F-A36C-2C57E82B4733}"/>
              </a:ext>
            </a:extLst>
          </p:cNvPr>
          <p:cNvCxnSpPr>
            <a:cxnSpLocks/>
            <a:stCxn id="23" idx="6"/>
            <a:endCxn id="26" idx="2"/>
          </p:cNvCxnSpPr>
          <p:nvPr/>
        </p:nvCxnSpPr>
        <p:spPr>
          <a:xfrm flipV="1">
            <a:off x="3377381" y="3316811"/>
            <a:ext cx="1150378" cy="706705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467ED85F-877F-EA80-AF78-E88680DCC88B}"/>
              </a:ext>
            </a:extLst>
          </p:cNvPr>
          <p:cNvCxnSpPr>
            <a:cxnSpLocks/>
            <a:stCxn id="23" idx="6"/>
            <a:endCxn id="27" idx="2"/>
          </p:cNvCxnSpPr>
          <p:nvPr/>
        </p:nvCxnSpPr>
        <p:spPr>
          <a:xfrm>
            <a:off x="3377381" y="4023516"/>
            <a:ext cx="1147921" cy="5212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635B9B57-5C04-E8E3-0F01-5DB44A58C669}"/>
              </a:ext>
            </a:extLst>
          </p:cNvPr>
          <p:cNvCxnSpPr>
            <a:cxnSpLocks/>
            <a:stCxn id="23" idx="6"/>
            <a:endCxn id="25" idx="2"/>
          </p:cNvCxnSpPr>
          <p:nvPr/>
        </p:nvCxnSpPr>
        <p:spPr>
          <a:xfrm flipV="1">
            <a:off x="3377381" y="2610678"/>
            <a:ext cx="1155292" cy="1412838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0A0F1124-AC0E-0A0F-2091-9E9B40BC8532}"/>
              </a:ext>
            </a:extLst>
          </p:cNvPr>
          <p:cNvCxnSpPr>
            <a:cxnSpLocks/>
            <a:stCxn id="22" idx="6"/>
            <a:endCxn id="28" idx="2"/>
          </p:cNvCxnSpPr>
          <p:nvPr/>
        </p:nvCxnSpPr>
        <p:spPr>
          <a:xfrm>
            <a:off x="3377381" y="3316811"/>
            <a:ext cx="1155292" cy="1408199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17D5F54F-FA21-25B4-E83B-D47079B6AAFC}"/>
              </a:ext>
            </a:extLst>
          </p:cNvPr>
          <p:cNvCxnSpPr>
            <a:cxnSpLocks/>
            <a:stCxn id="22" idx="6"/>
            <a:endCxn id="27" idx="2"/>
          </p:cNvCxnSpPr>
          <p:nvPr/>
        </p:nvCxnSpPr>
        <p:spPr>
          <a:xfrm>
            <a:off x="3377381" y="3316811"/>
            <a:ext cx="1147921" cy="711917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1AAE13DF-6459-E324-A659-AAE211AA79EB}"/>
              </a:ext>
            </a:extLst>
          </p:cNvPr>
          <p:cNvCxnSpPr>
            <a:cxnSpLocks/>
            <a:stCxn id="21" idx="6"/>
            <a:endCxn id="27" idx="2"/>
          </p:cNvCxnSpPr>
          <p:nvPr/>
        </p:nvCxnSpPr>
        <p:spPr>
          <a:xfrm>
            <a:off x="3377382" y="2606096"/>
            <a:ext cx="1147920" cy="1422632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4393E114-1ADF-C914-017C-E3D6AEF2D433}"/>
              </a:ext>
            </a:extLst>
          </p:cNvPr>
          <p:cNvCxnSpPr>
            <a:cxnSpLocks/>
            <a:stCxn id="22" idx="6"/>
            <a:endCxn id="26" idx="2"/>
          </p:cNvCxnSpPr>
          <p:nvPr/>
        </p:nvCxnSpPr>
        <p:spPr>
          <a:xfrm>
            <a:off x="3377381" y="3316811"/>
            <a:ext cx="1150378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2A5CBE93-20A2-97A9-59B4-085B83CEABFD}"/>
              </a:ext>
            </a:extLst>
          </p:cNvPr>
          <p:cNvCxnSpPr>
            <a:cxnSpLocks/>
            <a:stCxn id="22" idx="6"/>
            <a:endCxn id="25" idx="2"/>
          </p:cNvCxnSpPr>
          <p:nvPr/>
        </p:nvCxnSpPr>
        <p:spPr>
          <a:xfrm flipV="1">
            <a:off x="3377381" y="2610678"/>
            <a:ext cx="1155292" cy="706133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844B80A8-F272-E710-D859-90C30ACB5FA1}"/>
              </a:ext>
            </a:extLst>
          </p:cNvPr>
          <p:cNvCxnSpPr>
            <a:cxnSpLocks/>
            <a:stCxn id="21" idx="6"/>
            <a:endCxn id="28" idx="2"/>
          </p:cNvCxnSpPr>
          <p:nvPr/>
        </p:nvCxnSpPr>
        <p:spPr>
          <a:xfrm>
            <a:off x="3377382" y="2606096"/>
            <a:ext cx="1155291" cy="2118914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C5F10443-5A43-E5A9-3ECF-9CF7C1752182}"/>
              </a:ext>
            </a:extLst>
          </p:cNvPr>
          <p:cNvCxnSpPr>
            <a:cxnSpLocks/>
            <a:stCxn id="21" idx="6"/>
            <a:endCxn id="26" idx="2"/>
          </p:cNvCxnSpPr>
          <p:nvPr/>
        </p:nvCxnSpPr>
        <p:spPr>
          <a:xfrm>
            <a:off x="3377382" y="2606096"/>
            <a:ext cx="1150377" cy="710715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4300F37B-08D4-BACF-848B-362C442D1AA6}"/>
              </a:ext>
            </a:extLst>
          </p:cNvPr>
          <p:cNvCxnSpPr>
            <a:cxnSpLocks/>
            <a:stCxn id="21" idx="6"/>
            <a:endCxn id="25" idx="2"/>
          </p:cNvCxnSpPr>
          <p:nvPr/>
        </p:nvCxnSpPr>
        <p:spPr>
          <a:xfrm>
            <a:off x="3377382" y="2606096"/>
            <a:ext cx="1155291" cy="4582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" name="TextBox 146">
            <a:extLst>
              <a:ext uri="{FF2B5EF4-FFF2-40B4-BE49-F238E27FC236}">
                <a16:creationId xmlns:a16="http://schemas.microsoft.com/office/drawing/2014/main" id="{5DA7C50E-B159-CA54-4D51-929775CE53B9}"/>
              </a:ext>
            </a:extLst>
          </p:cNvPr>
          <p:cNvSpPr txBox="1"/>
          <p:nvPr/>
        </p:nvSpPr>
        <p:spPr>
          <a:xfrm>
            <a:off x="5357596" y="1533832"/>
            <a:ext cx="13273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Layer</a:t>
            </a:r>
          </a:p>
        </p:txBody>
      </p:sp>
      <p:sp>
        <p:nvSpPr>
          <p:cNvPr id="148" name="Oval 147">
            <a:extLst>
              <a:ext uri="{FF2B5EF4-FFF2-40B4-BE49-F238E27FC236}">
                <a16:creationId xmlns:a16="http://schemas.microsoft.com/office/drawing/2014/main" id="{4EE4188C-4BFD-B69A-B5BA-7557F4B36ACD}"/>
              </a:ext>
            </a:extLst>
          </p:cNvPr>
          <p:cNvSpPr/>
          <p:nvPr/>
        </p:nvSpPr>
        <p:spPr>
          <a:xfrm>
            <a:off x="5900828" y="4257033"/>
            <a:ext cx="240890" cy="22958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Oval 148">
            <a:extLst>
              <a:ext uri="{FF2B5EF4-FFF2-40B4-BE49-F238E27FC236}">
                <a16:creationId xmlns:a16="http://schemas.microsoft.com/office/drawing/2014/main" id="{A27E141F-E331-E173-D18D-508671C06C1F}"/>
              </a:ext>
            </a:extLst>
          </p:cNvPr>
          <p:cNvSpPr/>
          <p:nvPr/>
        </p:nvSpPr>
        <p:spPr>
          <a:xfrm>
            <a:off x="5900828" y="2820304"/>
            <a:ext cx="240890" cy="22958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2C27EF52-826A-66FF-9A3C-7ACE502A571C}"/>
              </a:ext>
            </a:extLst>
          </p:cNvPr>
          <p:cNvSpPr txBox="1"/>
          <p:nvPr/>
        </p:nvSpPr>
        <p:spPr>
          <a:xfrm>
            <a:off x="5900828" y="2432577"/>
            <a:ext cx="9743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Defect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90CC7DCF-A1EC-8891-ACC8-6318D3369E8A}"/>
              </a:ext>
            </a:extLst>
          </p:cNvPr>
          <p:cNvSpPr txBox="1"/>
          <p:nvPr/>
        </p:nvSpPr>
        <p:spPr>
          <a:xfrm>
            <a:off x="5896908" y="3901746"/>
            <a:ext cx="13106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Defect Detected</a:t>
            </a:r>
          </a:p>
        </p:txBody>
      </p:sp>
      <p:cxnSp>
        <p:nvCxnSpPr>
          <p:cNvPr id="152" name="Straight Arrow Connector 151">
            <a:extLst>
              <a:ext uri="{FF2B5EF4-FFF2-40B4-BE49-F238E27FC236}">
                <a16:creationId xmlns:a16="http://schemas.microsoft.com/office/drawing/2014/main" id="{C7C21CC8-48E6-3B29-17CF-F0413DDF21D5}"/>
              </a:ext>
            </a:extLst>
          </p:cNvPr>
          <p:cNvCxnSpPr>
            <a:cxnSpLocks/>
            <a:stCxn id="28" idx="6"/>
            <a:endCxn id="148" idx="2"/>
          </p:cNvCxnSpPr>
          <p:nvPr/>
        </p:nvCxnSpPr>
        <p:spPr>
          <a:xfrm flipV="1">
            <a:off x="4778479" y="4371826"/>
            <a:ext cx="1122349" cy="353184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Arrow Connector 154">
            <a:extLst>
              <a:ext uri="{FF2B5EF4-FFF2-40B4-BE49-F238E27FC236}">
                <a16:creationId xmlns:a16="http://schemas.microsoft.com/office/drawing/2014/main" id="{C322B30A-85D9-BAFD-8647-70BE1E7166C1}"/>
              </a:ext>
            </a:extLst>
          </p:cNvPr>
          <p:cNvCxnSpPr>
            <a:cxnSpLocks/>
            <a:stCxn id="28" idx="6"/>
            <a:endCxn id="149" idx="2"/>
          </p:cNvCxnSpPr>
          <p:nvPr/>
        </p:nvCxnSpPr>
        <p:spPr>
          <a:xfrm flipV="1">
            <a:off x="4778479" y="2935097"/>
            <a:ext cx="1122349" cy="1789913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Arrow Connector 157">
            <a:extLst>
              <a:ext uri="{FF2B5EF4-FFF2-40B4-BE49-F238E27FC236}">
                <a16:creationId xmlns:a16="http://schemas.microsoft.com/office/drawing/2014/main" id="{8B5F0A84-E4E8-F0B9-84F3-C48B5255B5B6}"/>
              </a:ext>
            </a:extLst>
          </p:cNvPr>
          <p:cNvCxnSpPr>
            <a:cxnSpLocks/>
            <a:stCxn id="27" idx="6"/>
            <a:endCxn id="148" idx="2"/>
          </p:cNvCxnSpPr>
          <p:nvPr/>
        </p:nvCxnSpPr>
        <p:spPr>
          <a:xfrm>
            <a:off x="4771108" y="4028728"/>
            <a:ext cx="1129720" cy="343098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Arrow Connector 160">
            <a:extLst>
              <a:ext uri="{FF2B5EF4-FFF2-40B4-BE49-F238E27FC236}">
                <a16:creationId xmlns:a16="http://schemas.microsoft.com/office/drawing/2014/main" id="{20D604E7-034B-955E-3FB3-6BC42FB274AF}"/>
              </a:ext>
            </a:extLst>
          </p:cNvPr>
          <p:cNvCxnSpPr>
            <a:cxnSpLocks/>
            <a:stCxn id="27" idx="6"/>
            <a:endCxn id="149" idx="2"/>
          </p:cNvCxnSpPr>
          <p:nvPr/>
        </p:nvCxnSpPr>
        <p:spPr>
          <a:xfrm flipV="1">
            <a:off x="4771108" y="2935097"/>
            <a:ext cx="1129720" cy="1093631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Arrow Connector 163">
            <a:extLst>
              <a:ext uri="{FF2B5EF4-FFF2-40B4-BE49-F238E27FC236}">
                <a16:creationId xmlns:a16="http://schemas.microsoft.com/office/drawing/2014/main" id="{DB76A4F2-92C6-32C9-4895-DD2E4A0D827C}"/>
              </a:ext>
            </a:extLst>
          </p:cNvPr>
          <p:cNvCxnSpPr>
            <a:cxnSpLocks/>
            <a:stCxn id="26" idx="6"/>
            <a:endCxn id="148" idx="2"/>
          </p:cNvCxnSpPr>
          <p:nvPr/>
        </p:nvCxnSpPr>
        <p:spPr>
          <a:xfrm>
            <a:off x="4773565" y="3316811"/>
            <a:ext cx="1127263" cy="1055015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Arrow Connector 166">
            <a:extLst>
              <a:ext uri="{FF2B5EF4-FFF2-40B4-BE49-F238E27FC236}">
                <a16:creationId xmlns:a16="http://schemas.microsoft.com/office/drawing/2014/main" id="{414BF9C3-D584-AD43-0D4B-F38784E57861}"/>
              </a:ext>
            </a:extLst>
          </p:cNvPr>
          <p:cNvCxnSpPr>
            <a:cxnSpLocks/>
            <a:stCxn id="25" idx="6"/>
            <a:endCxn id="148" idx="2"/>
          </p:cNvCxnSpPr>
          <p:nvPr/>
        </p:nvCxnSpPr>
        <p:spPr>
          <a:xfrm>
            <a:off x="4778479" y="2610678"/>
            <a:ext cx="1122349" cy="1761148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Arrow Connector 169">
            <a:extLst>
              <a:ext uri="{FF2B5EF4-FFF2-40B4-BE49-F238E27FC236}">
                <a16:creationId xmlns:a16="http://schemas.microsoft.com/office/drawing/2014/main" id="{8D7D2877-8E23-957D-3D47-14F6B4267CFF}"/>
              </a:ext>
            </a:extLst>
          </p:cNvPr>
          <p:cNvCxnSpPr>
            <a:cxnSpLocks/>
            <a:stCxn id="26" idx="6"/>
            <a:endCxn id="149" idx="2"/>
          </p:cNvCxnSpPr>
          <p:nvPr/>
        </p:nvCxnSpPr>
        <p:spPr>
          <a:xfrm flipV="1">
            <a:off x="4773565" y="2935097"/>
            <a:ext cx="1127263" cy="381714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Straight Arrow Connector 172">
            <a:extLst>
              <a:ext uri="{FF2B5EF4-FFF2-40B4-BE49-F238E27FC236}">
                <a16:creationId xmlns:a16="http://schemas.microsoft.com/office/drawing/2014/main" id="{A9DAAAC5-C00E-DABC-1120-C82448E244D7}"/>
              </a:ext>
            </a:extLst>
          </p:cNvPr>
          <p:cNvCxnSpPr>
            <a:cxnSpLocks/>
            <a:stCxn id="25" idx="6"/>
            <a:endCxn id="149" idx="2"/>
          </p:cNvCxnSpPr>
          <p:nvPr/>
        </p:nvCxnSpPr>
        <p:spPr>
          <a:xfrm>
            <a:off x="4778479" y="2610678"/>
            <a:ext cx="1122349" cy="324419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6" name="Star: 5 Points 175">
            <a:extLst>
              <a:ext uri="{FF2B5EF4-FFF2-40B4-BE49-F238E27FC236}">
                <a16:creationId xmlns:a16="http://schemas.microsoft.com/office/drawing/2014/main" id="{E4A1562A-7046-5B38-D470-1C176EFC72C3}"/>
              </a:ext>
            </a:extLst>
          </p:cNvPr>
          <p:cNvSpPr/>
          <p:nvPr/>
        </p:nvSpPr>
        <p:spPr>
          <a:xfrm>
            <a:off x="6258699" y="4257033"/>
            <a:ext cx="240890" cy="229586"/>
          </a:xfrm>
          <a:prstGeom prst="star5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8" name="Connector: Elbow 177">
            <a:extLst>
              <a:ext uri="{FF2B5EF4-FFF2-40B4-BE49-F238E27FC236}">
                <a16:creationId xmlns:a16="http://schemas.microsoft.com/office/drawing/2014/main" id="{32EB6C19-633B-5821-A257-EB2A68B2FAC4}"/>
              </a:ext>
            </a:extLst>
          </p:cNvPr>
          <p:cNvCxnSpPr>
            <a:cxnSpLocks/>
          </p:cNvCxnSpPr>
          <p:nvPr/>
        </p:nvCxnSpPr>
        <p:spPr>
          <a:xfrm rot="10800000" flipV="1">
            <a:off x="4660492" y="4486619"/>
            <a:ext cx="1727526" cy="1127370"/>
          </a:xfrm>
          <a:prstGeom prst="bentConnector3">
            <a:avLst>
              <a:gd name="adj1" fmla="val 484"/>
            </a:avLst>
          </a:prstGeom>
          <a:ln>
            <a:solidFill>
              <a:schemeClr val="accent6"/>
            </a:solidFill>
            <a:prstDash val="dash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Straight Arrow Connector 184">
            <a:extLst>
              <a:ext uri="{FF2B5EF4-FFF2-40B4-BE49-F238E27FC236}">
                <a16:creationId xmlns:a16="http://schemas.microsoft.com/office/drawing/2014/main" id="{EF1756E3-3304-7E50-1895-C30FC1FCAAC3}"/>
              </a:ext>
            </a:extLst>
          </p:cNvPr>
          <p:cNvCxnSpPr>
            <a:cxnSpLocks/>
          </p:cNvCxnSpPr>
          <p:nvPr/>
        </p:nvCxnSpPr>
        <p:spPr>
          <a:xfrm flipV="1">
            <a:off x="4648205" y="5013781"/>
            <a:ext cx="12286" cy="600206"/>
          </a:xfrm>
          <a:prstGeom prst="straightConnector1">
            <a:avLst/>
          </a:prstGeom>
          <a:ln>
            <a:solidFill>
              <a:schemeClr val="accent6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0" name="TextBox 189">
            <a:extLst>
              <a:ext uri="{FF2B5EF4-FFF2-40B4-BE49-F238E27FC236}">
                <a16:creationId xmlns:a16="http://schemas.microsoft.com/office/drawing/2014/main" id="{A0672EF5-9379-83E0-C924-DDA5035A75F4}"/>
              </a:ext>
            </a:extLst>
          </p:cNvPr>
          <p:cNvSpPr txBox="1"/>
          <p:nvPr/>
        </p:nvSpPr>
        <p:spPr>
          <a:xfrm>
            <a:off x="4965774" y="5310265"/>
            <a:ext cx="11302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Reward Signal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A23A679D-6826-FDD7-B015-933E020C3C12}"/>
              </a:ext>
            </a:extLst>
          </p:cNvPr>
          <p:cNvSpPr txBox="1"/>
          <p:nvPr/>
        </p:nvSpPr>
        <p:spPr>
          <a:xfrm>
            <a:off x="4316363" y="5660845"/>
            <a:ext cx="26748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RL Agent Updates Based On Reward</a:t>
            </a: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F3321756-D67B-01E2-5B2A-7BCF40DB9E1C}"/>
              </a:ext>
            </a:extLst>
          </p:cNvPr>
          <p:cNvSpPr txBox="1"/>
          <p:nvPr/>
        </p:nvSpPr>
        <p:spPr>
          <a:xfrm>
            <a:off x="7156948" y="4966370"/>
            <a:ext cx="387976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Reward curve shows learning convergence after 1500 episodes, improving detection success rates from 76% to 96% in multi-robot welding scenarios.</a:t>
            </a:r>
          </a:p>
        </p:txBody>
      </p:sp>
      <p:pic>
        <p:nvPicPr>
          <p:cNvPr id="9" name="Audio 8">
            <a:hlinkClick r:id="" action="ppaction://media"/>
            <a:extLst>
              <a:ext uri="{FF2B5EF4-FFF2-40B4-BE49-F238E27FC236}">
                <a16:creationId xmlns:a16="http://schemas.microsoft.com/office/drawing/2014/main" id="{D84F5415-81A4-3DDF-FA21-526A54A75D0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0986720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3549"/>
    </mc:Choice>
    <mc:Fallback>
      <p:transition spd="slow" advTm="3354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9814FD-FBAC-07E4-159B-ED30B8CE3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D6CE7-3D04-55F8-5EE2-7C3996BEA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6"/>
            <a:ext cx="10215717" cy="838118"/>
          </a:xfrm>
          <a:solidFill>
            <a:schemeClr val="bg2"/>
          </a:solidFill>
        </p:spPr>
        <p:txBody>
          <a:bodyPr anchor="t" anchorCtr="1">
            <a:normAutofit fontScale="90000"/>
          </a:bodyPr>
          <a:lstStyle/>
          <a:p>
            <a:r>
              <a:rPr lang="en-US" sz="2800" dirty="0">
                <a:effectLst/>
              </a:rPr>
              <a:t>Controller-based safe reinforcement learning ensures error-free multi-robot operations during weld inspection, enhancing reliability in automotive settings.</a:t>
            </a:r>
            <a:br>
              <a:rPr lang="en-US" sz="2800" dirty="0">
                <a:effectLst/>
              </a:rPr>
            </a:br>
            <a:br>
              <a:rPr lang="en-US" sz="2800" dirty="0">
                <a:effectLst/>
              </a:rPr>
            </a:br>
            <a:br>
              <a:rPr lang="en-US" sz="2800" dirty="0">
                <a:effectLst/>
              </a:rPr>
            </a:br>
            <a:br>
              <a:rPr lang="en-US" sz="2800" dirty="0">
                <a:effectLst/>
              </a:rPr>
            </a:br>
            <a:br>
              <a:rPr lang="en-US" sz="2800" dirty="0">
                <a:effectLst/>
              </a:rPr>
            </a:br>
            <a:br>
              <a:rPr lang="en-US" dirty="0">
                <a:effectLst/>
              </a:rPr>
            </a:b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610443-7F53-C368-DF53-8BBB35B95A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199" y="2092455"/>
            <a:ext cx="6946264" cy="3443106"/>
          </a:xfrm>
          <a:prstGeom prst="rect">
            <a:avLst/>
          </a:prstGeom>
        </p:spPr>
      </p:pic>
      <p:graphicFrame>
        <p:nvGraphicFramePr>
          <p:cNvPr id="20" name="Chart 19">
            <a:extLst>
              <a:ext uri="{FF2B5EF4-FFF2-40B4-BE49-F238E27FC236}">
                <a16:creationId xmlns:a16="http://schemas.microsoft.com/office/drawing/2014/main" id="{4F61F3D1-93AF-773D-4114-6603E2BAF5C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11055685"/>
              </p:ext>
            </p:extLst>
          </p:nvPr>
        </p:nvGraphicFramePr>
        <p:xfrm>
          <a:off x="7963311" y="1691148"/>
          <a:ext cx="3090605" cy="42475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21" name="Audio 20">
            <a:hlinkClick r:id="" action="ppaction://media"/>
            <a:extLst>
              <a:ext uri="{FF2B5EF4-FFF2-40B4-BE49-F238E27FC236}">
                <a16:creationId xmlns:a16="http://schemas.microsoft.com/office/drawing/2014/main" id="{EB0D5A2C-498C-8D0C-0F11-E7895E90D1B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1208781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8751"/>
    </mc:Choice>
    <mc:Fallback>
      <p:transition spd="slow" advTm="2875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1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6EDD0-15AB-BA52-8A7C-BCAE09619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7D390-5812-B8C5-D3D2-A16E5995F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74959"/>
            <a:ext cx="10215717" cy="1119544"/>
          </a:xfrm>
          <a:solidFill>
            <a:schemeClr val="bg2"/>
          </a:solidFill>
        </p:spPr>
        <p:txBody>
          <a:bodyPr anchor="t" anchorCtr="1">
            <a:normAutofit fontScale="90000"/>
          </a:bodyPr>
          <a:lstStyle/>
          <a:p>
            <a:r>
              <a:rPr lang="en-US" sz="2800" dirty="0">
                <a:effectLst/>
              </a:rPr>
              <a:t>Reinforcement learning-driven multi-robot coordination with human integration revolutionizes automotive weld quality assurance by boosting efficiency, safety, and process control.</a:t>
            </a:r>
            <a:br>
              <a:rPr lang="en-US" sz="2800" dirty="0">
                <a:effectLst/>
              </a:rPr>
            </a:br>
            <a:br>
              <a:rPr lang="en-US" sz="2800" dirty="0">
                <a:effectLst/>
              </a:rPr>
            </a:br>
            <a:br>
              <a:rPr lang="en-US" sz="2800" dirty="0">
                <a:effectLst/>
              </a:rPr>
            </a:br>
            <a:br>
              <a:rPr lang="en-US" sz="2800" dirty="0">
                <a:effectLst/>
              </a:rPr>
            </a:br>
            <a:br>
              <a:rPr lang="en-US" sz="2800" dirty="0">
                <a:effectLst/>
              </a:rPr>
            </a:br>
            <a:br>
              <a:rPr lang="en-US" dirty="0">
                <a:effectLst/>
              </a:rPr>
            </a:br>
            <a:endParaRPr lang="en-US" dirty="0"/>
          </a:p>
        </p:txBody>
      </p:sp>
      <p:sp>
        <p:nvSpPr>
          <p:cNvPr id="3" name="Arrow: Up 2">
            <a:extLst>
              <a:ext uri="{FF2B5EF4-FFF2-40B4-BE49-F238E27FC236}">
                <a16:creationId xmlns:a16="http://schemas.microsoft.com/office/drawing/2014/main" id="{37D93D76-DB27-4E62-CB72-0F228FFF520A}"/>
              </a:ext>
            </a:extLst>
          </p:cNvPr>
          <p:cNvSpPr/>
          <p:nvPr/>
        </p:nvSpPr>
        <p:spPr>
          <a:xfrm>
            <a:off x="1067025" y="3066227"/>
            <a:ext cx="1031162" cy="1155120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7%</a:t>
            </a:r>
          </a:p>
        </p:txBody>
      </p:sp>
      <p:sp>
        <p:nvSpPr>
          <p:cNvPr id="4" name="Arrow: Down 3">
            <a:extLst>
              <a:ext uri="{FF2B5EF4-FFF2-40B4-BE49-F238E27FC236}">
                <a16:creationId xmlns:a16="http://schemas.microsoft.com/office/drawing/2014/main" id="{47014085-C0F2-BE52-E99E-AC0467AC795A}"/>
              </a:ext>
            </a:extLst>
          </p:cNvPr>
          <p:cNvSpPr/>
          <p:nvPr/>
        </p:nvSpPr>
        <p:spPr>
          <a:xfrm>
            <a:off x="2414663" y="3066227"/>
            <a:ext cx="1515400" cy="131276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66.6%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A27F75-3167-D54E-41CE-B89E2EDA9AE4}"/>
              </a:ext>
            </a:extLst>
          </p:cNvPr>
          <p:cNvSpPr txBox="1"/>
          <p:nvPr/>
        </p:nvSpPr>
        <p:spPr>
          <a:xfrm>
            <a:off x="836965" y="2030536"/>
            <a:ext cx="149128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 Defect Detection Rate Increase        </a:t>
            </a:r>
          </a:p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95%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235F4F-4655-77FB-4A5A-631D78449D0F}"/>
              </a:ext>
            </a:extLst>
          </p:cNvPr>
          <p:cNvSpPr txBox="1"/>
          <p:nvPr/>
        </p:nvSpPr>
        <p:spPr>
          <a:xfrm>
            <a:off x="1287944" y="4222652"/>
            <a:ext cx="5893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88%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689CD4-ADA9-A892-14CA-8CA0B873C797}"/>
              </a:ext>
            </a:extLst>
          </p:cNvPr>
          <p:cNvSpPr txBox="1"/>
          <p:nvPr/>
        </p:nvSpPr>
        <p:spPr>
          <a:xfrm>
            <a:off x="2337849" y="1989009"/>
            <a:ext cx="166902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Width/Height  Weld Bead Variances Reduction      </a:t>
            </a:r>
          </a:p>
        </p:txBody>
      </p:sp>
      <p:sp>
        <p:nvSpPr>
          <p:cNvPr id="9" name="Arrow: Up 8">
            <a:extLst>
              <a:ext uri="{FF2B5EF4-FFF2-40B4-BE49-F238E27FC236}">
                <a16:creationId xmlns:a16="http://schemas.microsoft.com/office/drawing/2014/main" id="{AF1C3CD9-EF05-D521-D748-B0A261E1E856}"/>
              </a:ext>
            </a:extLst>
          </p:cNvPr>
          <p:cNvSpPr/>
          <p:nvPr/>
        </p:nvSpPr>
        <p:spPr>
          <a:xfrm>
            <a:off x="4311989" y="3064162"/>
            <a:ext cx="1313536" cy="1312762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30%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71260F-A066-1211-C4BA-D6BD9C2FDF3A}"/>
              </a:ext>
            </a:extLst>
          </p:cNvPr>
          <p:cNvSpPr txBox="1"/>
          <p:nvPr/>
        </p:nvSpPr>
        <p:spPr>
          <a:xfrm>
            <a:off x="4136451" y="2479387"/>
            <a:ext cx="16690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HRC Efficiency  Impact Increase  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791D3E0-0164-CB0B-46BC-495245806859}"/>
              </a:ext>
            </a:extLst>
          </p:cNvPr>
          <p:cNvSpPr txBox="1"/>
          <p:nvPr/>
        </p:nvSpPr>
        <p:spPr>
          <a:xfrm>
            <a:off x="7595184" y="1992036"/>
            <a:ext cx="166902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To Cobot Cycle Time Reduction         120 sec     </a:t>
            </a:r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5BAB7BEC-17A2-43D9-1338-C139812B06EC}"/>
              </a:ext>
            </a:extLst>
          </p:cNvPr>
          <p:cNvSpPr/>
          <p:nvPr/>
        </p:nvSpPr>
        <p:spPr>
          <a:xfrm>
            <a:off x="7671997" y="3070493"/>
            <a:ext cx="1515400" cy="131276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75 sec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4A2950-1283-7DAA-E9F7-8876A080ABEA}"/>
              </a:ext>
            </a:extLst>
          </p:cNvPr>
          <p:cNvSpPr txBox="1"/>
          <p:nvPr/>
        </p:nvSpPr>
        <p:spPr>
          <a:xfrm>
            <a:off x="8060681" y="4378990"/>
            <a:ext cx="7309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45 sec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2E8ADAE-B46A-BDD7-7E75-93E8676003CB}"/>
              </a:ext>
            </a:extLst>
          </p:cNvPr>
          <p:cNvSpPr txBox="1"/>
          <p:nvPr/>
        </p:nvSpPr>
        <p:spPr>
          <a:xfrm>
            <a:off x="5819867" y="2479388"/>
            <a:ext cx="16690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HRC Associated Safety Incidents   </a:t>
            </a:r>
          </a:p>
        </p:txBody>
      </p:sp>
      <p:sp>
        <p:nvSpPr>
          <p:cNvPr id="16" name="Cross 15">
            <a:extLst>
              <a:ext uri="{FF2B5EF4-FFF2-40B4-BE49-F238E27FC236}">
                <a16:creationId xmlns:a16="http://schemas.microsoft.com/office/drawing/2014/main" id="{38F83CF2-9B1F-2AE8-9CCA-53B15E1A2BE0}"/>
              </a:ext>
            </a:extLst>
          </p:cNvPr>
          <p:cNvSpPr/>
          <p:nvPr/>
        </p:nvSpPr>
        <p:spPr>
          <a:xfrm>
            <a:off x="6059528" y="3151747"/>
            <a:ext cx="1189703" cy="1137594"/>
          </a:xfrm>
          <a:prstGeom prst="plus">
            <a:avLst>
              <a:gd name="adj" fmla="val 38829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B4CF493-A2DF-0100-10BB-85A0D8DEFF94}"/>
              </a:ext>
            </a:extLst>
          </p:cNvPr>
          <p:cNvSpPr txBox="1"/>
          <p:nvPr/>
        </p:nvSpPr>
        <p:spPr>
          <a:xfrm>
            <a:off x="9370500" y="1494503"/>
            <a:ext cx="166902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Reinforcement Learning Successful  Detection Rate Increase*        </a:t>
            </a:r>
          </a:p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96%</a:t>
            </a:r>
          </a:p>
        </p:txBody>
      </p:sp>
      <p:sp>
        <p:nvSpPr>
          <p:cNvPr id="18" name="Arrow: Up 17">
            <a:extLst>
              <a:ext uri="{FF2B5EF4-FFF2-40B4-BE49-F238E27FC236}">
                <a16:creationId xmlns:a16="http://schemas.microsoft.com/office/drawing/2014/main" id="{FBB9D583-B2A8-0CAE-67FB-213B345EBD2A}"/>
              </a:ext>
            </a:extLst>
          </p:cNvPr>
          <p:cNvSpPr/>
          <p:nvPr/>
        </p:nvSpPr>
        <p:spPr>
          <a:xfrm>
            <a:off x="9488977" y="3064163"/>
            <a:ext cx="1313536" cy="1312762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20%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D4F9515-6C91-CF74-E2D0-E27BA78CD8C6}"/>
              </a:ext>
            </a:extLst>
          </p:cNvPr>
          <p:cNvSpPr txBox="1"/>
          <p:nvPr/>
        </p:nvSpPr>
        <p:spPr>
          <a:xfrm>
            <a:off x="9851083" y="4378990"/>
            <a:ext cx="5893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76%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62CB253-1562-78C5-5D5A-8AB1A3E19029}"/>
              </a:ext>
            </a:extLst>
          </p:cNvPr>
          <p:cNvSpPr txBox="1"/>
          <p:nvPr/>
        </p:nvSpPr>
        <p:spPr>
          <a:xfrm>
            <a:off x="953729" y="4955458"/>
            <a:ext cx="99994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*Controller-based safe reinforcement learning can reduce violations to 0 and garner a 3.5% cycle time improvement under stochastic interruptions.</a:t>
            </a:r>
          </a:p>
        </p:txBody>
      </p:sp>
      <p:pic>
        <p:nvPicPr>
          <p:cNvPr id="30" name="Audio 29">
            <a:hlinkClick r:id="" action="ppaction://media"/>
            <a:extLst>
              <a:ext uri="{FF2B5EF4-FFF2-40B4-BE49-F238E27FC236}">
                <a16:creationId xmlns:a16="http://schemas.microsoft.com/office/drawing/2014/main" id="{712E7EBB-0434-102C-D510-A859CA3D72F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40253613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8425"/>
    </mc:Choice>
    <mc:Fallback>
      <p:transition spd="slow" advTm="3842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0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E876BC-DFDE-7DBA-72D4-F5D0CA84E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594E5-30D5-E3C1-1650-11C40DF1D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1048" y="137653"/>
            <a:ext cx="10409904" cy="245806"/>
          </a:xfrm>
          <a:solidFill>
            <a:schemeClr val="bg1"/>
          </a:solidFill>
        </p:spPr>
        <p:txBody>
          <a:bodyPr anchor="t" anchorCtr="1">
            <a:normAutofit fontScale="90000"/>
          </a:bodyPr>
          <a:lstStyle/>
          <a:p>
            <a:r>
              <a:rPr lang="en-US" sz="1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References:</a:t>
            </a:r>
            <a:br>
              <a:rPr lang="en-US" sz="2800" dirty="0">
                <a:effectLst/>
              </a:rPr>
            </a:br>
            <a:br>
              <a:rPr lang="en-US" sz="13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3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Keçibaşa, G., Şahina, M. A., Arayıcı, K. C., &amp; Üresin, U. (2024). WAS (Welding Analytics System): Addressing Automotive Welding Challenges through Machine Learning. </a:t>
            </a:r>
            <a:r>
              <a:rPr lang="en-US" sz="130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Procedia CIRP, 00</a:t>
            </a:r>
            <a:r>
              <a:rPr lang="en-US" sz="13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000–000. </a:t>
            </a:r>
            <a:r>
              <a:rPr lang="en-US" sz="13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https://doi.org/10.1016/j.procs.2024.01.128</a:t>
            </a:r>
            <a:br>
              <a:rPr lang="en-US" sz="13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3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3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Othman, U., &amp; Yang, E. (2023). Human–robot collaborations in smart manufacturing environments: Review and outlook. </a:t>
            </a:r>
            <a:r>
              <a:rPr lang="en-US" sz="130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Sensors (Basel, Switzerland), 23</a:t>
            </a:r>
            <a:r>
              <a:rPr lang="en-US" sz="13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(12), 5663. </a:t>
            </a:r>
            <a:r>
              <a:rPr lang="en-US" sz="13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https://doi.org/10.3390/s23125663</a:t>
            </a:r>
            <a:br>
              <a:rPr lang="en-US" sz="13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3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3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Wete, E., Greenyer, J., Kudenko, D., &amp; Nejdl, W. (2024). Multi-robot motion and task planning in automotive production using controller-based safe reinforcement learning. </a:t>
            </a:r>
            <a:r>
              <a:rPr lang="en-US" sz="130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Proceedings of the 23rd International Conference on Autonomous Agents and Multiagent Systems (AAMAS 2024)</a:t>
            </a:r>
            <a:r>
              <a:rPr lang="en-US" sz="13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Auckland, New Zealand, 10.</a:t>
            </a:r>
            <a:br>
              <a:rPr lang="en-US" sz="13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3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3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Xu, L.-X., &amp; Chen, Y.-Y. (2021). Deep reinforcement learning algorithms for multiple arc-welding robots. </a:t>
            </a:r>
            <a:r>
              <a:rPr lang="en-US" sz="130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Frontiers in Control Engineering, 2</a:t>
            </a:r>
            <a:r>
              <a:rPr lang="en-US" sz="13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Article 632417. </a:t>
            </a:r>
            <a:r>
              <a:rPr lang="en-US" sz="13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https://doi.org/10.3389/fcteg.2021.632417</a:t>
            </a:r>
            <a:br>
              <a:rPr lang="en-US" sz="13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3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3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Yan, Z., Liu, C., Li, T., Ma, Z., Wu, Y., Cheng, Y., &amp; Chen, S. (2025). Autonomous optimization technology for welding parameters based on a dual-driven model incorporating physics and data. </a:t>
            </a:r>
            <a:r>
              <a:rPr lang="en-US" sz="130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Journal of Manufacturing Processes, 135</a:t>
            </a:r>
            <a:r>
              <a:rPr lang="en-US" sz="13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131-141. </a:t>
            </a:r>
            <a:r>
              <a:rPr lang="en-US" sz="13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https://doi.org/10.1016/j.jmapro.2025.01.019</a:t>
            </a:r>
            <a:br>
              <a:rPr lang="en-US" sz="13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3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3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Court, E. H.-D. le, Belardinelli, F., &amp; Goodall, A. W. (2025). Probabilistic Shielding for Safe Reinforcement Learning. Proceedings of the AAAI Conference on Artificial Intelligence, 39(15), 16091-16099. </a:t>
            </a:r>
            <a:r>
              <a:rPr lang="en-US" sz="13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8"/>
              </a:rPr>
              <a:t>https://doi.org/10.1609/aaai.v39i15.33767</a:t>
            </a:r>
            <a:br>
              <a:rPr lang="en-US" sz="13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3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3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Slide 2 Images:</a:t>
            </a:r>
            <a:br>
              <a:rPr lang="en-US" sz="13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3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human monitoring weld operation performance, </a:t>
            </a:r>
            <a:r>
              <a:rPr lang="en-US" sz="13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9"/>
              </a:rPr>
              <a:t>https://unsplash.com/s/photos/human-watching-robotic-weld-inspection-arm-in-automotive</a:t>
            </a:r>
            <a:br>
              <a:rPr lang="en-US" sz="13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3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weld scan image from ResearchGate, </a:t>
            </a:r>
            <a:r>
              <a:rPr lang="en-US" sz="13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10"/>
              </a:rPr>
              <a:t>https://www.researchgate.net/figure/Shape-characteristic-curves-under-different-segmentation-arc-lengths_fig9_342546163</a:t>
            </a:r>
            <a:br>
              <a:rPr lang="en-US" sz="13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3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multi-robot diagram from ResearchGate, </a:t>
            </a:r>
            <a:r>
              <a:rPr lang="en-US" sz="13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11"/>
              </a:rPr>
              <a:t>https://www.researchgate.net/figure/The-schematic-diagram-of-multi-robot-position-force-coordination-control_fig6_331536074</a:t>
            </a:r>
            <a:br>
              <a:rPr lang="en-US" sz="13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3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3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Slide 2, 6, &amp; 7 Images:</a:t>
            </a:r>
            <a:br>
              <a:rPr lang="en-US" sz="13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3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multi-robot layout and learning curve graph from Frontiers article, </a:t>
            </a:r>
            <a:r>
              <a:rPr lang="en-US" sz="13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12"/>
              </a:rPr>
              <a:t>https://www.frontiersin.org/files/Articles/632417/fcteg-02-632417-HTML/image_m/fcteg-02-632417-g001.jpg</a:t>
            </a:r>
            <a:br>
              <a:rPr lang="en-US" sz="13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3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3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Slide 3 &amp; 4 Images:</a:t>
            </a:r>
            <a:br>
              <a:rPr lang="en-US" sz="13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3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Figures 2 and 4 fro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PMC article, 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  <a:hlinkClick r:id="rId13"/>
              </a:rPr>
              <a:t>https://pmc.ncbi.nlm.nih.gov/articles/PMC7827984</a:t>
            </a:r>
            <a:b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5 Image:</a:t>
            </a:r>
            <a:b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1 from AWS article, 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  <a:hlinkClick r:id="rId14"/>
              </a:rPr>
              <a:t>https://www.aws.org/magazines-and-media/welding-digest/wd-nov-24-safe-cobot-welding</a:t>
            </a:r>
            <a:b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8 Image:</a:t>
            </a:r>
            <a:b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Wete, E., Greenyer, J., Kudenko, D., &amp; Nejdl, W. (2024). Multi-robot motion and task planning in automotive production using controller-based safe reinforcement learning.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Figure 1</a:t>
            </a:r>
            <a:b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3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800" dirty="0">
                <a:effectLst/>
              </a:rPr>
            </a:br>
            <a:br>
              <a:rPr lang="en-US" sz="2800" dirty="0">
                <a:effectLst/>
              </a:rPr>
            </a:br>
            <a:br>
              <a:rPr lang="en-US" sz="2800" dirty="0">
                <a:effectLst/>
              </a:rPr>
            </a:br>
            <a:br>
              <a:rPr lang="en-US" sz="2800" dirty="0">
                <a:effectLst/>
              </a:rPr>
            </a:br>
            <a:br>
              <a:rPr lang="en-US" sz="2800" dirty="0">
                <a:effectLst/>
              </a:rPr>
            </a:br>
            <a:br>
              <a:rPr lang="en-US" dirty="0">
                <a:effectLst/>
              </a:rPr>
            </a:br>
            <a:endParaRPr lang="en-US" dirty="0"/>
          </a:p>
        </p:txBody>
      </p:sp>
      <p:pic>
        <p:nvPicPr>
          <p:cNvPr id="7" name="Audio 6">
            <a:hlinkClick r:id="" action="ppaction://media"/>
            <a:extLst>
              <a:ext uri="{FF2B5EF4-FFF2-40B4-BE49-F238E27FC236}">
                <a16:creationId xmlns:a16="http://schemas.microsoft.com/office/drawing/2014/main" id="{33476AFA-066E-B113-9987-BFEA5BE3BC4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5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5537891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6640"/>
    </mc:Choice>
    <mc:Fallback>
      <p:transition spd="slow" advTm="2664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3544</TotalTime>
  <Words>1032</Words>
  <Application>Microsoft Office PowerPoint</Application>
  <PresentationFormat>Widescreen</PresentationFormat>
  <Paragraphs>56</Paragraphs>
  <Slides>10</Slides>
  <Notes>0</Notes>
  <HiddenSlides>0</HiddenSlides>
  <MMClips>10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Times New Roman</vt:lpstr>
      <vt:lpstr>Office Theme</vt:lpstr>
      <vt:lpstr>Collaborative Multi-Robot Inspection System for Weld Quality Assurance in Automotive Manufacturing </vt:lpstr>
      <vt:lpstr>  The collaborative weld inspection system integrates autonomy, human interaction, multi-robot coordination, and reinforcement learning to enhance quality assurance and process control in automotive manufacturing. </vt:lpstr>
      <vt:lpstr>Autonomy in robotic systems allows for real-time adaptation to weld variations, reducing defect rates in automotive manufacturing. </vt:lpstr>
      <vt:lpstr>Dual-driven algorithms enhance robotic autonomy by combining physics and data models, improving weld stability and quality in production lines.  </vt:lpstr>
      <vt:lpstr>Integrating human oversight ensures safe and efficient robot interactions, enabling collaborative weld defect monitoring without compromising operator safety.   </vt:lpstr>
      <vt:lpstr>Coordinated multi-robot systems optimize task allocation in weld inspection, minimizing downtime in automotive production lines.    </vt:lpstr>
      <vt:lpstr>Reinforcement learning enables robots to learn adaptive strategies for weld defect detection, handling uncertainties like production interruptions.     </vt:lpstr>
      <vt:lpstr>Controller-based safe reinforcement learning ensures error-free multi-robot operations during weld inspection, enhancing reliability in automotive settings.      </vt:lpstr>
      <vt:lpstr>Reinforcement learning-driven multi-robot coordination with human integration revolutionizes automotive weld quality assurance by boosting efficiency, safety, and process control.      </vt:lpstr>
      <vt:lpstr>References:  Keçibaşa, G., Şahina, M. A., Arayıcı, K. C., &amp; Üresin, U. (2024). WAS (Welding Analytics System): Addressing Automotive Welding Challenges through Machine Learning. Procedia CIRP, 00, 000–000. https://doi.org/10.1016/j.procs.2024.01.128  Othman, U., &amp; Yang, E. (2023). Human–robot collaborations in smart manufacturing environments: Review and outlook. Sensors (Basel, Switzerland), 23(12), 5663. https://doi.org/10.3390/s23125663  Wete, E., Greenyer, J., Kudenko, D., &amp; Nejdl, W. (2024). Multi-robot motion and task planning in automotive production using controller-based safe reinforcement learning. Proceedings of the 23rd International Conference on Autonomous Agents and Multiagent Systems (AAMAS 2024), Auckland, New Zealand, 10.  Xu, L.-X., &amp; Chen, Y.-Y. (2021). Deep reinforcement learning algorithms for multiple arc-welding robots. Frontiers in Control Engineering, 2, Article 632417. https://doi.org/10.3389/fcteg.2021.632417  Yan, Z., Liu, C., Li, T., Ma, Z., Wu, Y., Cheng, Y., &amp; Chen, S. (2025). Autonomous optimization technology for welding parameters based on a dual-driven model incorporating physics and data. Journal of Manufacturing Processes, 135, 131-141. https://doi.org/10.1016/j.jmapro.2025.01.019  Court, E. H.-D. le, Belardinelli, F., &amp; Goodall, A. W. (2025). Probabilistic Shielding for Safe Reinforcement Learning. Proceedings of the AAAI Conference on Artificial Intelligence, 39(15), 16091-16099. https://doi.org/10.1609/aaai.v39i15.33767  Slide 2 Images: A human monitoring weld operation performance, https://unsplash.com/s/photos/human-watching-robotic-weld-inspection-arm-in-automotive A weld scan image from ResearchGate, https://www.researchgate.net/figure/Shape-characteristic-curves-under-different-segmentation-arc-lengths_fig9_342546163 A multi-robot diagram from ResearchGate, https://www.researchgate.net/figure/The-schematic-diagram-of-multi-robot-position-force-coordination-control_fig6_331536074  Slide 2, 6, &amp; 7 Images: A multi-robot layout and learning curve graph from Frontiers article, https://www.frontiersin.org/files/Articles/632417/fcteg-02-632417-HTML/image_m/fcteg-02-632417-g001.jpg  Slide 3 &amp; 4 Images: Figures 2 and 4 from PMC article, https://pmc.ncbi.nlm.nih.gov/articles/PMC7827984   Slide 5 Image: Figure 1 from AWS article, https://www.aws.org/magazines-and-media/welding-digest/wd-nov-24-safe-cobot-welding  Slide 8 Image: Wete, E., Greenyer, J., Kudenko, D., &amp; Nejdl, W. (2024). Multi-robot motion and task planning in automotive production using controller-based safe reinforcement learning. Figure 1        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Randall Crawford</dc:creator>
  <cp:lastModifiedBy>Randall Crawford</cp:lastModifiedBy>
  <cp:revision>7</cp:revision>
  <dcterms:created xsi:type="dcterms:W3CDTF">2025-09-04T20:01:48Z</dcterms:created>
  <dcterms:modified xsi:type="dcterms:W3CDTF">2025-09-08T00:05:20Z</dcterms:modified>
</cp:coreProperties>
</file>