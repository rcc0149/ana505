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593A-39C5-53F9-EB28-A919DEF2E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86DBB-D92F-4F87-BD6F-B2516357A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AEF77-5D4E-D960-7F7C-06F0798F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28B4-0228-B87A-B7BC-11A4E538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C42B5-A16E-E455-55BA-0A46F978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5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9260-2685-4C63-2687-85B514C4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1B032-E68C-3D14-F4CC-CBDFBB4D7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58CF2-A518-EEB9-8F86-DD16CC1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4C329-6F02-32A7-2445-3C321D05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ED2E6-B9EF-C544-143F-13BA9DDE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4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0EE2-42AE-0783-C1FA-AA18BECE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741-15AB-D8FE-7540-B28DF58E9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63605-4382-9FF0-AF72-AD20C672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34CAD-25E0-E878-3E09-79D727E9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A7B85-0C08-ECB1-01ED-0A95F11E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7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8B6A-29CB-C3BF-BE8C-51D9D29B7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4AEDD-5ED5-F297-7BE4-6232B0828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4991C-8B58-7E14-E3A1-DBE92DB9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23794-940D-FD47-3559-3CFCA012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3C39D-F279-A43C-A929-0C17CED7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529AC-87A1-AA11-15DC-FD6ED429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10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144A-B474-8357-15EC-BBF51617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5BFA8-385C-14EF-0578-A31AECE1E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DDA38-6FF1-4FAB-4A45-E01BC22EA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589FA-4A2B-E677-E771-91022B400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3D36A-16EB-8F93-59BC-75D93D359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525A9-4404-BCD6-5802-B957FDF9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D4116-EC86-A2F9-F7D9-16A605FE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041B9-1941-4B88-F52A-00EDE2C0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60C0-5143-7685-5003-854391FC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1D086-D746-1101-50E4-CED8CDDF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402B-DEFD-A408-ACD8-F41E2220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52C72-5621-BFEB-4FCA-891338A6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7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CD4FA-4B32-0DF5-8BC8-8F2BB3FA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7F474-F71D-FFFC-D5D4-501EDEDB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6CAD-2E92-6827-B91E-3E105954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1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2505-5244-A09E-0DE7-32A305ADF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5BDA6-0C12-5D9F-75A8-C113C8F29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DA000-6DFE-E932-0C7C-C54192EDD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40401-E866-70DB-F304-8298A401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87C8A-0EEA-155D-4176-721F38BC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ECB43-DBB6-C914-044E-7D284687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1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38EE-9A46-3B61-FE53-9287F069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692E8-33CB-88CD-97A1-ADE50E699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FBFC3-0AD2-D35B-7A1A-7D1A75C7F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2D076-9EC8-67F4-B239-DC337B78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5515B-F831-095F-CCE9-51548C64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4E37B-CF13-2734-0326-CCBF1F53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6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DDE9-143B-FB8C-07C4-88AD4A11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6A72E-45B0-7B68-E578-E789331C3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84128-CA12-297B-1904-A2A7497A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3EF83-3450-23CD-69A1-8DBDDCC5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2649-9E96-359B-C8EB-9DA51F21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2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EE5C5-F0DF-D80C-1DE3-9278F75C6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37C36-F5D6-9F00-BB27-7EFE35BB6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D03D-34E8-C8D1-9AAD-E40A1ED0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7AB0B-CD82-49AD-FAF0-9139AD27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7FB04-8386-CB72-7459-ABC91174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8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AE133-DFA6-290A-8B45-D2431E859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10B55-E0E6-0DD8-08C3-808308E1E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F0C5F-8C28-FF73-0054-30B82DC7B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9390C-DA9B-477D-A36D-DD530AD60E65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12D9C-7AA7-3491-4114-E6F41BCAA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069BF-CA46-E885-C494-0F88A519A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71193-F486-4EAE-A42C-D2C5DE9FF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6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orbilu.uni.lu/handle/10993/51217" TargetMode="Externa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hyperlink" Target="https://developer.nvidia.com/blog/nvidia-aerial-omniverse-digital-twin-boosts-development-of-ai-native-wireless-and-deployment-flexibility/" TargetMode="External"/><Relationship Id="rId12" Type="http://schemas.openxmlformats.org/officeDocument/2006/relationships/hyperlink" Target="https://images.search.yahoo.com/search/images" TargetMode="Externa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hyperlink" Target="https://doi.org/10.1016/j.scs.2024.105225" TargetMode="External"/><Relationship Id="rId11" Type="http://schemas.openxmlformats.org/officeDocument/2006/relationships/hyperlink" Target="https://seeklogo.com/vector-logo/101614/nvidia" TargetMode="External"/><Relationship Id="rId5" Type="http://schemas.openxmlformats.org/officeDocument/2006/relationships/hyperlink" Target="https://doi.org/10.1063/5.0261883" TargetMode="External"/><Relationship Id="rId10" Type="http://schemas.openxmlformats.org/officeDocument/2006/relationships/hyperlink" Target="https://stockcake.com/i/digital-connectivity-concept_339694_759088" TargetMode="External"/><Relationship Id="rId4" Type="http://schemas.openxmlformats.org/officeDocument/2006/relationships/hyperlink" Target="https://doi.org/10.3389/fcomp.2024.1423129" TargetMode="External"/><Relationship Id="rId9" Type="http://schemas.openxmlformats.org/officeDocument/2006/relationships/hyperlink" Target="https://docs.omniverse.nvidia.com/arch-diagrams/la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2C65C-A51B-470D-1812-32AB50E099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801" r="1" b="21228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D73D56-19C8-79E6-CFF0-4116CE7962A3}"/>
              </a:ext>
            </a:extLst>
          </p:cNvPr>
          <p:cNvSpPr txBox="1"/>
          <p:nvPr/>
        </p:nvSpPr>
        <p:spPr>
          <a:xfrm>
            <a:off x="6092952" y="4310334"/>
            <a:ext cx="5674737" cy="105323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Factory Digital Twins with NVIDIA Omniverse: AI-Driven Workflows with Network Collaboration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8D3CE2-8C54-2618-8748-BC5E3ACC6E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569" r="-1" b="-1"/>
          <a:stretch>
            <a:fillRect/>
          </a:stretch>
        </p:blipFill>
        <p:spPr>
          <a:xfrm>
            <a:off x="7688294" y="173970"/>
            <a:ext cx="4538463" cy="3962394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EE8B13-9186-0D50-9B7A-39DE29408899}"/>
              </a:ext>
            </a:extLst>
          </p:cNvPr>
          <p:cNvSpPr txBox="1"/>
          <p:nvPr/>
        </p:nvSpPr>
        <p:spPr>
          <a:xfrm>
            <a:off x="6092952" y="6037689"/>
            <a:ext cx="3116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Randall Crawford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21, 2025</a:t>
            </a:r>
          </a:p>
        </p:txBody>
      </p: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91BDB28B-1758-5B40-5913-C288B5380E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3410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493"/>
    </mc:Choice>
    <mc:Fallback>
      <p:transition spd="slow" advTm="36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4C4D98-4849-2532-EAE8-B74E1E7F0A51}"/>
              </a:ext>
            </a:extLst>
          </p:cNvPr>
          <p:cNvSpPr txBox="1"/>
          <p:nvPr/>
        </p:nvSpPr>
        <p:spPr>
          <a:xfrm>
            <a:off x="747249" y="311085"/>
            <a:ext cx="10626213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Omniverse’s Factory Digital Twin architecture drives AI-Optimized workflows.</a:t>
            </a:r>
            <a:endParaRPr lang="en-US" sz="24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2D0088E-C3AE-867C-71AF-C6833A77B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49" y="2878584"/>
            <a:ext cx="1092163" cy="110083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6927F98-E44C-E48F-5B97-981322385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2587" y="2856046"/>
            <a:ext cx="1092164" cy="112336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068681F-04F3-7394-22FB-CCCD38575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412" y="5715387"/>
            <a:ext cx="5820697" cy="831528"/>
          </a:xfrm>
          <a:prstGeom prst="rect">
            <a:avLst/>
          </a:prstGeom>
        </p:spPr>
      </p:pic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307DCF1-E739-97B4-8B7E-535D3B172157}"/>
              </a:ext>
            </a:extLst>
          </p:cNvPr>
          <p:cNvCxnSpPr>
            <a:stCxn id="54" idx="2"/>
            <a:endCxn id="58" idx="1"/>
          </p:cNvCxnSpPr>
          <p:nvPr/>
        </p:nvCxnSpPr>
        <p:spPr>
          <a:xfrm rot="16200000" flipH="1">
            <a:off x="490503" y="4782242"/>
            <a:ext cx="2151736" cy="546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D3FB52C4-8F52-C60E-8E2F-A3D041E27995}"/>
              </a:ext>
            </a:extLst>
          </p:cNvPr>
          <p:cNvSpPr/>
          <p:nvPr/>
        </p:nvSpPr>
        <p:spPr>
          <a:xfrm>
            <a:off x="2487562" y="1297250"/>
            <a:ext cx="1779638" cy="60309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FC57556-2683-8ED8-8386-4FDFE26B8F33}"/>
              </a:ext>
            </a:extLst>
          </p:cNvPr>
          <p:cNvSpPr/>
          <p:nvPr/>
        </p:nvSpPr>
        <p:spPr>
          <a:xfrm>
            <a:off x="2487562" y="2207175"/>
            <a:ext cx="1779638" cy="60309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 Creation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BFF8644-CB12-C648-A86B-7CC24A3D2A77}"/>
              </a:ext>
            </a:extLst>
          </p:cNvPr>
          <p:cNvSpPr/>
          <p:nvPr/>
        </p:nvSpPr>
        <p:spPr>
          <a:xfrm>
            <a:off x="2487562" y="3127452"/>
            <a:ext cx="1779638" cy="60309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| Synthetic Data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4AD3121-3A77-B8B0-DCC5-BAA6970A71D3}"/>
              </a:ext>
            </a:extLst>
          </p:cNvPr>
          <p:cNvCxnSpPr>
            <a:stCxn id="54" idx="3"/>
            <a:endCxn id="63" idx="1"/>
          </p:cNvCxnSpPr>
          <p:nvPr/>
        </p:nvCxnSpPr>
        <p:spPr>
          <a:xfrm flipV="1">
            <a:off x="1839412" y="3428999"/>
            <a:ext cx="648150" cy="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9B8FF01-5396-2CDD-300D-6ED2F726620F}"/>
              </a:ext>
            </a:extLst>
          </p:cNvPr>
          <p:cNvCxnSpPr>
            <a:stCxn id="62" idx="0"/>
            <a:endCxn id="61" idx="2"/>
          </p:cNvCxnSpPr>
          <p:nvPr/>
        </p:nvCxnSpPr>
        <p:spPr>
          <a:xfrm flipV="1">
            <a:off x="3377381" y="1900342"/>
            <a:ext cx="0" cy="306833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57E6FE1-3265-87D2-A21F-A51BE474C5B4}"/>
              </a:ext>
            </a:extLst>
          </p:cNvPr>
          <p:cNvSpPr/>
          <p:nvPr/>
        </p:nvSpPr>
        <p:spPr>
          <a:xfrm>
            <a:off x="2487562" y="4020823"/>
            <a:ext cx="1779638" cy="60309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3566DDB-732E-8BD2-1381-930E1D728F47}"/>
              </a:ext>
            </a:extLst>
          </p:cNvPr>
          <p:cNvSpPr/>
          <p:nvPr/>
        </p:nvSpPr>
        <p:spPr>
          <a:xfrm>
            <a:off x="2487562" y="4930749"/>
            <a:ext cx="1779638" cy="60309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| IoT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BE9414B-0C10-EE96-A41F-900E8926614A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flipV="1">
            <a:off x="3377381" y="2810268"/>
            <a:ext cx="0" cy="317184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3D7DF27-E1CC-09E3-61E7-8A3AAFAEAF31}"/>
              </a:ext>
            </a:extLst>
          </p:cNvPr>
          <p:cNvCxnSpPr>
            <a:cxnSpLocks/>
            <a:stCxn id="68" idx="0"/>
            <a:endCxn id="63" idx="2"/>
          </p:cNvCxnSpPr>
          <p:nvPr/>
        </p:nvCxnSpPr>
        <p:spPr>
          <a:xfrm flipV="1">
            <a:off x="3377381" y="3730545"/>
            <a:ext cx="0" cy="290278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3696ECC-8647-CCC9-6A08-D23772A6F8FB}"/>
              </a:ext>
            </a:extLst>
          </p:cNvPr>
          <p:cNvCxnSpPr>
            <a:cxnSpLocks/>
            <a:stCxn id="69" idx="0"/>
            <a:endCxn id="68" idx="2"/>
          </p:cNvCxnSpPr>
          <p:nvPr/>
        </p:nvCxnSpPr>
        <p:spPr>
          <a:xfrm flipV="1">
            <a:off x="3377381" y="4623916"/>
            <a:ext cx="0" cy="306833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0C9EC690-E084-77DC-B73C-58E8CF418933}"/>
              </a:ext>
            </a:extLst>
          </p:cNvPr>
          <p:cNvSpPr/>
          <p:nvPr/>
        </p:nvSpPr>
        <p:spPr>
          <a:xfrm>
            <a:off x="7924798" y="2969006"/>
            <a:ext cx="1779638" cy="90963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Omniverse Platform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213654D-9DA5-3B09-8437-DBBDD2B4DFEB}"/>
              </a:ext>
            </a:extLst>
          </p:cNvPr>
          <p:cNvCxnSpPr>
            <a:cxnSpLocks/>
            <a:stCxn id="83" idx="3"/>
            <a:endCxn id="56" idx="1"/>
          </p:cNvCxnSpPr>
          <p:nvPr/>
        </p:nvCxnSpPr>
        <p:spPr>
          <a:xfrm flipV="1">
            <a:off x="9704436" y="3417731"/>
            <a:ext cx="648151" cy="6093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9EE2348A-1727-EA27-D4C4-478F61BC6925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4267200" y="1598796"/>
            <a:ext cx="3657597" cy="152865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B7C26150-0F6F-427D-39F0-A7A4BF6A235C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4267200" y="2508722"/>
            <a:ext cx="3657598" cy="761539"/>
          </a:xfrm>
          <a:prstGeom prst="bentConnector3">
            <a:avLst>
              <a:gd name="adj1" fmla="val 4274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4A523EAD-6249-6CC5-9774-60306A37FB96}"/>
              </a:ext>
            </a:extLst>
          </p:cNvPr>
          <p:cNvCxnSpPr>
            <a:cxnSpLocks/>
            <a:endCxn id="69" idx="3"/>
          </p:cNvCxnSpPr>
          <p:nvPr/>
        </p:nvCxnSpPr>
        <p:spPr>
          <a:xfrm rot="10800000" flipV="1">
            <a:off x="4267201" y="3730546"/>
            <a:ext cx="3657597" cy="150174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AFC34581-2FA9-ABF4-5212-04077E3F00A2}"/>
              </a:ext>
            </a:extLst>
          </p:cNvPr>
          <p:cNvCxnSpPr>
            <a:cxnSpLocks/>
            <a:endCxn id="68" idx="3"/>
          </p:cNvCxnSpPr>
          <p:nvPr/>
        </p:nvCxnSpPr>
        <p:spPr>
          <a:xfrm rot="10800000" flipV="1">
            <a:off x="4267201" y="3571808"/>
            <a:ext cx="3657597" cy="750562"/>
          </a:xfrm>
          <a:prstGeom prst="bentConnector3">
            <a:avLst>
              <a:gd name="adj1" fmla="val 5725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B0AAA14-1EFC-BD93-1E8B-E833A02E75BB}"/>
              </a:ext>
            </a:extLst>
          </p:cNvPr>
          <p:cNvCxnSpPr>
            <a:stCxn id="63" idx="3"/>
            <a:endCxn id="83" idx="1"/>
          </p:cNvCxnSpPr>
          <p:nvPr/>
        </p:nvCxnSpPr>
        <p:spPr>
          <a:xfrm flipV="1">
            <a:off x="4267200" y="3423824"/>
            <a:ext cx="3657598" cy="51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F4CB791-40EF-3C9B-EC3F-13ADE381BB83}"/>
              </a:ext>
            </a:extLst>
          </p:cNvPr>
          <p:cNvSpPr/>
          <p:nvPr/>
        </p:nvSpPr>
        <p:spPr>
          <a:xfrm>
            <a:off x="7924797" y="4322369"/>
            <a:ext cx="1779638" cy="60309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7CC050F-6754-01BE-F7CF-6BCB466560DA}"/>
              </a:ext>
            </a:extLst>
          </p:cNvPr>
          <p:cNvCxnSpPr>
            <a:stCxn id="83" idx="2"/>
            <a:endCxn id="107" idx="0"/>
          </p:cNvCxnSpPr>
          <p:nvPr/>
        </p:nvCxnSpPr>
        <p:spPr>
          <a:xfrm flipH="1">
            <a:off x="8814616" y="3878641"/>
            <a:ext cx="1" cy="44372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921CA11C-CFEB-B956-AAC9-924B56B469FE}"/>
              </a:ext>
            </a:extLst>
          </p:cNvPr>
          <p:cNvCxnSpPr>
            <a:stCxn id="56" idx="2"/>
            <a:endCxn id="107" idx="3"/>
          </p:cNvCxnSpPr>
          <p:nvPr/>
        </p:nvCxnSpPr>
        <p:spPr>
          <a:xfrm rot="5400000">
            <a:off x="9979302" y="3704548"/>
            <a:ext cx="644500" cy="1194234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17E86555-31DA-C3B5-9B75-851C0AB931EA}"/>
              </a:ext>
            </a:extLst>
          </p:cNvPr>
          <p:cNvCxnSpPr>
            <a:endCxn id="58" idx="3"/>
          </p:cNvCxnSpPr>
          <p:nvPr/>
        </p:nvCxnSpPr>
        <p:spPr>
          <a:xfrm rot="10800000" flipV="1">
            <a:off x="7660109" y="3979413"/>
            <a:ext cx="3489672" cy="2151737"/>
          </a:xfrm>
          <a:prstGeom prst="bentConnector3">
            <a:avLst>
              <a:gd name="adj1" fmla="val 13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4E798D6D-6974-4426-CDEF-F97CD44C12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32062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939"/>
    </mc:Choice>
    <mc:Fallback>
      <p:transition spd="slow" advTm="499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757D-7094-8D84-1602-1E3C1EAB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EFCEF6-9D9F-8DE4-C4AE-99D056EAB10D}"/>
              </a:ext>
            </a:extLst>
          </p:cNvPr>
          <p:cNvSpPr txBox="1"/>
          <p:nvPr/>
        </p:nvSpPr>
        <p:spPr>
          <a:xfrm>
            <a:off x="601233" y="314632"/>
            <a:ext cx="10989531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 infrastructure is built around a design of ensuring sensitive data is kept with internal and external firewalls for security.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9F8EB-7726-C8C8-76F6-C8A89ACDC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34" y="1416909"/>
            <a:ext cx="10989532" cy="4024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BDFD6D-8FC2-512D-9D48-4DA80AF664C9}"/>
              </a:ext>
            </a:extLst>
          </p:cNvPr>
          <p:cNvSpPr txBox="1"/>
          <p:nvPr/>
        </p:nvSpPr>
        <p:spPr>
          <a:xfrm>
            <a:off x="601233" y="5435371"/>
            <a:ext cx="173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 omniverse, 2025)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63F2ED5F-D9B4-2EAB-45BB-5D5D5FBF1A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40291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451"/>
    </mc:Choice>
    <mc:Fallback>
      <p:transition spd="slow" advTm="334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70A5-8784-3290-12EF-3D00856A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511815-ADEB-F214-1446-DB66654D4A8E}"/>
              </a:ext>
            </a:extLst>
          </p:cNvPr>
          <p:cNvSpPr txBox="1"/>
          <p:nvPr/>
        </p:nvSpPr>
        <p:spPr>
          <a:xfrm>
            <a:off x="838200" y="314633"/>
            <a:ext cx="3857780" cy="11979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Geometrical creation can be incorporated into a factory digital twin.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F0CAD-6CA3-BED6-BE11-2B02B1ADBCEC}"/>
              </a:ext>
            </a:extLst>
          </p:cNvPr>
          <p:cNvSpPr txBox="1"/>
          <p:nvPr/>
        </p:nvSpPr>
        <p:spPr>
          <a:xfrm>
            <a:off x="430279" y="5063615"/>
            <a:ext cx="1193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(AIP, 2025)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39CFE8-198F-3375-C43E-432C7906B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917" y="478642"/>
            <a:ext cx="6422804" cy="56960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1D1E0F-CE8A-CC17-76DD-82BED009D176}"/>
              </a:ext>
            </a:extLst>
          </p:cNvPr>
          <p:cNvSpPr txBox="1"/>
          <p:nvPr/>
        </p:nvSpPr>
        <p:spPr>
          <a:xfrm>
            <a:off x="5338917" y="6174658"/>
            <a:ext cx="173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 omniverse, 2025)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D6E47A-0DF0-C786-8B04-B2F22EF82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62" y="2694942"/>
            <a:ext cx="4570662" cy="23686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A2272BF-81D9-55FB-EE63-FF2793C8D451}"/>
              </a:ext>
            </a:extLst>
          </p:cNvPr>
          <p:cNvSpPr txBox="1"/>
          <p:nvPr/>
        </p:nvSpPr>
        <p:spPr>
          <a:xfrm>
            <a:off x="929026" y="2417943"/>
            <a:ext cx="1193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9ED628-E0AF-B4C0-1486-FF56114506D5}"/>
              </a:ext>
            </a:extLst>
          </p:cNvPr>
          <p:cNvSpPr txBox="1"/>
          <p:nvPr/>
        </p:nvSpPr>
        <p:spPr>
          <a:xfrm>
            <a:off x="8404688" y="1512536"/>
            <a:ext cx="271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Workflow, not Explicit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41E41B-511D-B78B-3CFB-8970414CB848}"/>
              </a:ext>
            </a:extLst>
          </p:cNvPr>
          <p:cNvSpPr txBox="1"/>
          <p:nvPr/>
        </p:nvSpPr>
        <p:spPr>
          <a:xfrm>
            <a:off x="3403267" y="2417942"/>
            <a:ext cx="1193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OpenUSD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F56C4D-FA0D-21DC-AEF9-C987CDA7CD90}"/>
              </a:ext>
            </a:extLst>
          </p:cNvPr>
          <p:cNvSpPr txBox="1"/>
          <p:nvPr/>
        </p:nvSpPr>
        <p:spPr>
          <a:xfrm>
            <a:off x="1422936" y="2048609"/>
            <a:ext cx="268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Tokamak Fusion Reactor</a:t>
            </a:r>
          </a:p>
        </p:txBody>
      </p:sp>
      <p:pic>
        <p:nvPicPr>
          <p:cNvPr id="57" name="Audio 56">
            <a:hlinkClick r:id="" action="ppaction://media"/>
            <a:extLst>
              <a:ext uri="{FF2B5EF4-FFF2-40B4-BE49-F238E27FC236}">
                <a16:creationId xmlns:a16="http://schemas.microsoft.com/office/drawing/2014/main" id="{BD1D58B5-4AA6-72EE-DBCC-C1A0F8CBAA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30987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666"/>
    </mc:Choice>
    <mc:Fallback>
      <p:transition spd="slow" advTm="306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9515-0C87-BEB5-101C-E98D18F63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6AD6689-FA11-6A00-76E8-E2D651A0778F}"/>
              </a:ext>
            </a:extLst>
          </p:cNvPr>
          <p:cNvSpPr txBox="1"/>
          <p:nvPr/>
        </p:nvSpPr>
        <p:spPr>
          <a:xfrm>
            <a:off x="855203" y="6479708"/>
            <a:ext cx="174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 omniverse, 2025)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77148-B305-2D2A-3A33-26622C3FF86B}"/>
              </a:ext>
            </a:extLst>
          </p:cNvPr>
          <p:cNvSpPr txBox="1"/>
          <p:nvPr/>
        </p:nvSpPr>
        <p:spPr>
          <a:xfrm>
            <a:off x="7497426" y="6029546"/>
            <a:ext cx="271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Workflow, not Explicit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3AB00-18A2-9861-2BEA-E6F070230CDE}"/>
              </a:ext>
            </a:extLst>
          </p:cNvPr>
          <p:cNvSpPr txBox="1"/>
          <p:nvPr/>
        </p:nvSpPr>
        <p:spPr>
          <a:xfrm>
            <a:off x="873297" y="3105834"/>
            <a:ext cx="1663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 from previous slide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2760ED-B4B4-8F25-DEA6-82BC0789F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723" y="101292"/>
            <a:ext cx="8559087" cy="66554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C4688C-5C97-C64A-74F9-1FD2FE55936A}"/>
              </a:ext>
            </a:extLst>
          </p:cNvPr>
          <p:cNvSpPr txBox="1"/>
          <p:nvPr/>
        </p:nvSpPr>
        <p:spPr>
          <a:xfrm>
            <a:off x="427451" y="264735"/>
            <a:ext cx="2699485" cy="26776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and synthetic data are used with a factory digital twin to perform tasks which can improve a physical factory.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3BAB5-438C-FA67-03BC-80D880CF503D}"/>
              </a:ext>
            </a:extLst>
          </p:cNvPr>
          <p:cNvSpPr txBox="1"/>
          <p:nvPr/>
        </p:nvSpPr>
        <p:spPr>
          <a:xfrm>
            <a:off x="11091001" y="382723"/>
            <a:ext cx="461665" cy="192785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vert"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0CFA2-3584-454F-1CD0-E82C903227A0}"/>
              </a:ext>
            </a:extLst>
          </p:cNvPr>
          <p:cNvSpPr txBox="1"/>
          <p:nvPr/>
        </p:nvSpPr>
        <p:spPr>
          <a:xfrm>
            <a:off x="11091001" y="4347442"/>
            <a:ext cx="461665" cy="21278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vert"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Improvement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DA56D3-6558-DB7E-05E4-263F4AAE4A05}"/>
              </a:ext>
            </a:extLst>
          </p:cNvPr>
          <p:cNvSpPr txBox="1"/>
          <p:nvPr/>
        </p:nvSpPr>
        <p:spPr>
          <a:xfrm>
            <a:off x="7937166" y="6029545"/>
            <a:ext cx="271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Workflow, not Explicit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CF17B636-0229-2CB0-65A0-5EE37CFAEB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91966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922"/>
    </mc:Choice>
    <mc:Fallback>
      <p:transition spd="slow" advTm="239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8046-5E84-997D-62DA-433937F6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07D5EE-F918-1297-1B98-7BD8D5A6A399}"/>
              </a:ext>
            </a:extLst>
          </p:cNvPr>
          <p:cNvSpPr txBox="1"/>
          <p:nvPr/>
        </p:nvSpPr>
        <p:spPr>
          <a:xfrm>
            <a:off x="501446" y="135310"/>
            <a:ext cx="10068232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 across Generative AI, Machine Learning, and Deep Learning contributes to the overall functionality and efficiency of the digital twin.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2D9DC1-D851-3599-0BA5-74E6425CC45B}"/>
              </a:ext>
            </a:extLst>
          </p:cNvPr>
          <p:cNvSpPr txBox="1"/>
          <p:nvPr/>
        </p:nvSpPr>
        <p:spPr>
          <a:xfrm>
            <a:off x="287209" y="5472086"/>
            <a:ext cx="174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 omniverse,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5B48C-C8E1-7BB2-06FE-6C9F74186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1108915"/>
            <a:ext cx="3606307" cy="3180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96524A-350C-A545-7235-F9FB6EFD4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669" y="1108915"/>
            <a:ext cx="4031752" cy="3180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3509E0-CDA9-B562-40A4-2F2A376E7C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184" y="1108915"/>
            <a:ext cx="4039220" cy="31806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C70C83-1452-E9EA-C27B-083C749B4DF6}"/>
              </a:ext>
            </a:extLst>
          </p:cNvPr>
          <p:cNvSpPr txBox="1"/>
          <p:nvPr/>
        </p:nvSpPr>
        <p:spPr>
          <a:xfrm>
            <a:off x="4930732" y="4729315"/>
            <a:ext cx="189762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Pipeline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50AF078-BF8A-FB41-DB5C-FF923B63FBBF}"/>
              </a:ext>
            </a:extLst>
          </p:cNvPr>
          <p:cNvCxnSpPr>
            <a:stCxn id="4" idx="2"/>
            <a:endCxn id="10" idx="1"/>
          </p:cNvCxnSpPr>
          <p:nvPr/>
        </p:nvCxnSpPr>
        <p:spPr>
          <a:xfrm rot="16200000" flipH="1">
            <a:off x="3169012" y="3152260"/>
            <a:ext cx="624461" cy="2898979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1CD8C1-FC95-5955-91A6-958E7A284617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5879545" y="4289519"/>
            <a:ext cx="0" cy="43979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5907CC8-A4AB-10A5-28CA-E72699CF395D}"/>
              </a:ext>
            </a:extLst>
          </p:cNvPr>
          <p:cNvCxnSpPr>
            <a:stCxn id="9" idx="2"/>
            <a:endCxn id="10" idx="3"/>
          </p:cNvCxnSpPr>
          <p:nvPr/>
        </p:nvCxnSpPr>
        <p:spPr>
          <a:xfrm rot="5400000">
            <a:off x="8073846" y="3044032"/>
            <a:ext cx="624461" cy="3115436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7F6F9B0B-939D-0CE6-3AE1-D6019E5517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234" y="5098647"/>
            <a:ext cx="3496163" cy="1428949"/>
          </a:xfrm>
          <a:prstGeom prst="rect">
            <a:avLst/>
          </a:prstGeom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E8D6E50-1520-4D3A-60E9-E45671DBC600}"/>
              </a:ext>
            </a:extLst>
          </p:cNvPr>
          <p:cNvCxnSpPr>
            <a:stCxn id="10" idx="2"/>
            <a:endCxn id="19" idx="1"/>
          </p:cNvCxnSpPr>
          <p:nvPr/>
        </p:nvCxnSpPr>
        <p:spPr>
          <a:xfrm rot="16200000" flipH="1">
            <a:off x="6359152" y="4619039"/>
            <a:ext cx="714475" cy="1673689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69F297-7729-3F6A-3581-D32839CBA94F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834906" y="2699217"/>
            <a:ext cx="2876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C06022-062E-58C2-88E2-76C400675A25}"/>
              </a:ext>
            </a:extLst>
          </p:cNvPr>
          <p:cNvCxnSpPr>
            <a:stCxn id="9" idx="1"/>
            <a:endCxn id="9" idx="1"/>
          </p:cNvCxnSpPr>
          <p:nvPr/>
        </p:nvCxnSpPr>
        <p:spPr>
          <a:xfrm>
            <a:off x="7924184" y="2699218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DB5904-7BD7-06F5-6D74-A28BC7CA3402}"/>
              </a:ext>
            </a:extLst>
          </p:cNvPr>
          <p:cNvCxnSpPr>
            <a:stCxn id="9" idx="1"/>
            <a:endCxn id="7" idx="3"/>
          </p:cNvCxnSpPr>
          <p:nvPr/>
        </p:nvCxnSpPr>
        <p:spPr>
          <a:xfrm flipH="1" flipV="1">
            <a:off x="7895421" y="2699217"/>
            <a:ext cx="2876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1884C7D-1EA8-BA81-0531-7E8B51A5B5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9668" y="5370146"/>
            <a:ext cx="724001" cy="885949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5737D63-C5DE-E785-0F6A-42805E87114D}"/>
              </a:ext>
            </a:extLst>
          </p:cNvPr>
          <p:cNvCxnSpPr>
            <a:cxnSpLocks/>
          </p:cNvCxnSpPr>
          <p:nvPr/>
        </p:nvCxnSpPr>
        <p:spPr>
          <a:xfrm flipV="1">
            <a:off x="3863669" y="5098645"/>
            <a:ext cx="1573570" cy="730678"/>
          </a:xfrm>
          <a:prstGeom prst="bentConnector3">
            <a:avLst>
              <a:gd name="adj1" fmla="val 999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Audio 61">
            <a:hlinkClick r:id="" action="ppaction://media"/>
            <a:extLst>
              <a:ext uri="{FF2B5EF4-FFF2-40B4-BE49-F238E27FC236}">
                <a16:creationId xmlns:a16="http://schemas.microsoft.com/office/drawing/2014/main" id="{E6D61219-F46C-8AF7-81A1-1371B159FD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95154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741"/>
    </mc:Choice>
    <mc:Fallback>
      <p:transition spd="slow" advTm="357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C312-D5F9-4B62-6A58-39F358E5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F97EC0-0A46-FAED-2577-8606F743DEB3}"/>
              </a:ext>
            </a:extLst>
          </p:cNvPr>
          <p:cNvSpPr txBox="1"/>
          <p:nvPr/>
        </p:nvSpPr>
        <p:spPr>
          <a:xfrm>
            <a:off x="464027" y="132664"/>
            <a:ext cx="10341625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Data/IoT integration across Artificial Intelligence, Robotics, and Synthetic Data contributes to the overall functionality and efficiency of the digital twin.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80956-DB66-F139-50DB-DD87B54B764B}"/>
              </a:ext>
            </a:extLst>
          </p:cNvPr>
          <p:cNvSpPr txBox="1"/>
          <p:nvPr/>
        </p:nvSpPr>
        <p:spPr>
          <a:xfrm>
            <a:off x="298142" y="5563259"/>
            <a:ext cx="174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 omniverse,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1063D-79BF-F667-5145-99EC76342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403" y="5206020"/>
            <a:ext cx="3496163" cy="142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1D604D-F278-1BB9-42F1-7528925F9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142" y="1061707"/>
            <a:ext cx="3425525" cy="3474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2977C-D545-5F8C-23CC-3B685AB1F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7854" y="1061707"/>
            <a:ext cx="3362156" cy="3474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6306E7-3167-1ED0-A669-A5422E80D1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197" y="1061707"/>
            <a:ext cx="4609266" cy="34744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45265D-F6A8-3A88-CA55-8BA52F21FE14}"/>
              </a:ext>
            </a:extLst>
          </p:cNvPr>
          <p:cNvSpPr txBox="1"/>
          <p:nvPr/>
        </p:nvSpPr>
        <p:spPr>
          <a:xfrm>
            <a:off x="4600119" y="4836688"/>
            <a:ext cx="189762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Pipeline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0F70126-60D0-AFE6-2ED6-DBA0DD2174A7}"/>
              </a:ext>
            </a:extLst>
          </p:cNvPr>
          <p:cNvCxnSpPr>
            <a:stCxn id="7" idx="2"/>
            <a:endCxn id="13" idx="1"/>
          </p:cNvCxnSpPr>
          <p:nvPr/>
        </p:nvCxnSpPr>
        <p:spPr>
          <a:xfrm rot="16200000" flipH="1">
            <a:off x="3062920" y="3484154"/>
            <a:ext cx="485185" cy="2589214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91AFAE8-C38B-030F-66D0-9A41B8A8B023}"/>
              </a:ext>
            </a:extLst>
          </p:cNvPr>
          <p:cNvCxnSpPr>
            <a:stCxn id="11" idx="2"/>
            <a:endCxn id="13" idx="3"/>
          </p:cNvCxnSpPr>
          <p:nvPr/>
        </p:nvCxnSpPr>
        <p:spPr>
          <a:xfrm rot="5400000">
            <a:off x="7845696" y="3188219"/>
            <a:ext cx="485185" cy="3181085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B5E4C3-92E4-4685-DBAA-4FBE5F1C4AF5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5548932" y="4536169"/>
            <a:ext cx="0" cy="3005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DB7C14A-0FC6-FBAC-61AC-D23A96CE7E41}"/>
              </a:ext>
            </a:extLst>
          </p:cNvPr>
          <p:cNvCxnSpPr>
            <a:cxnSpLocks/>
            <a:stCxn id="4" idx="1"/>
            <a:endCxn id="13" idx="2"/>
          </p:cNvCxnSpPr>
          <p:nvPr/>
        </p:nvCxnSpPr>
        <p:spPr>
          <a:xfrm rot="10800000">
            <a:off x="5548933" y="5206021"/>
            <a:ext cx="1994471" cy="714475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69592C-895D-950F-FFC1-258658CE4A97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723667" y="2798938"/>
            <a:ext cx="1441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CA4EFD-4337-2379-F6D9-7371561E4D8E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7230010" y="2798938"/>
            <a:ext cx="1441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FCCB31EE-197A-0A51-832C-2FEB0C896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853" y="5477519"/>
            <a:ext cx="724001" cy="885949"/>
          </a:xfrm>
          <a:prstGeom prst="rect">
            <a:avLst/>
          </a:prstGeom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CE47E0-F251-89FC-ED78-E7FB3242FCF0}"/>
              </a:ext>
            </a:extLst>
          </p:cNvPr>
          <p:cNvCxnSpPr>
            <a:stCxn id="35" idx="3"/>
          </p:cNvCxnSpPr>
          <p:nvPr/>
        </p:nvCxnSpPr>
        <p:spPr>
          <a:xfrm flipV="1">
            <a:off x="3867854" y="5206020"/>
            <a:ext cx="1235088" cy="714474"/>
          </a:xfrm>
          <a:prstGeom prst="bentConnector3">
            <a:avLst>
              <a:gd name="adj1" fmla="val 9935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Audio 41">
            <a:hlinkClick r:id="" action="ppaction://media"/>
            <a:extLst>
              <a:ext uri="{FF2B5EF4-FFF2-40B4-BE49-F238E27FC236}">
                <a16:creationId xmlns:a16="http://schemas.microsoft.com/office/drawing/2014/main" id="{249724B6-60CD-2E48-F74A-169A93C118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55549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628"/>
    </mc:Choice>
    <mc:Fallback>
      <p:transition spd="slow" advTm="376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DBEB8-7BA6-A16F-6375-011FDDEA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A6B5A4-0562-6A30-F3C8-8AE2E89D7286}"/>
              </a:ext>
            </a:extLst>
          </p:cNvPr>
          <p:cNvSpPr txBox="1"/>
          <p:nvPr/>
        </p:nvSpPr>
        <p:spPr>
          <a:xfrm>
            <a:off x="473859" y="326666"/>
            <a:ext cx="11275689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Factory Digital Twin application can be delivered to an on-premise environment or Omniverse on DGX Cloud, and accessed from various designated systems.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A8212-6F7A-737B-F518-0D405D7ED719}"/>
              </a:ext>
            </a:extLst>
          </p:cNvPr>
          <p:cNvSpPr txBox="1"/>
          <p:nvPr/>
        </p:nvSpPr>
        <p:spPr>
          <a:xfrm>
            <a:off x="473859" y="5930923"/>
            <a:ext cx="174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 omniverse,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2B933-6A98-CF95-DBE0-77CC16EE5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572" y="4194040"/>
            <a:ext cx="3496163" cy="142894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475BF5-D6BD-61A6-400A-E5D77270396F}"/>
              </a:ext>
            </a:extLst>
          </p:cNvPr>
          <p:cNvCxnSpPr>
            <a:cxnSpLocks/>
          </p:cNvCxnSpPr>
          <p:nvPr/>
        </p:nvCxnSpPr>
        <p:spPr>
          <a:xfrm>
            <a:off x="5548932" y="4536169"/>
            <a:ext cx="0" cy="3005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6CA26FB-5DF1-2C00-51F1-9718DD494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490" y="1573161"/>
            <a:ext cx="6466886" cy="435776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FD6B23-5A59-E652-E780-A5FFD10BB1DA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871376" y="4908515"/>
            <a:ext cx="59019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67CCCE7-A999-3E54-1CD1-CF320DC42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265" y="3310043"/>
            <a:ext cx="719390" cy="883997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83A234-2500-1682-3809-D5C53FD2403E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>
            <a:off x="953655" y="3752042"/>
            <a:ext cx="4508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0E95A3A3-99E2-56AA-D3E7-BA5CA73C68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6467" y="1360932"/>
            <a:ext cx="2486372" cy="239110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59C6C72-56F5-1CF1-FB15-713AF824A9C3}"/>
              </a:ext>
            </a:extLst>
          </p:cNvPr>
          <p:cNvSpPr txBox="1"/>
          <p:nvPr/>
        </p:nvSpPr>
        <p:spPr>
          <a:xfrm>
            <a:off x="8966467" y="3752041"/>
            <a:ext cx="174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(yahoo search, 2025)</a:t>
            </a:r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5514A63F-6DE4-34C3-DFD4-4ABBA63032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907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21"/>
    </mc:Choice>
    <mc:Fallback>
      <p:transition spd="slow" advTm="50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69DF-6D9D-0B88-978D-B4FA462D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74D020E-D51E-9498-6169-083924A4ADC3}"/>
              </a:ext>
            </a:extLst>
          </p:cNvPr>
          <p:cNvSpPr txBox="1"/>
          <p:nvPr/>
        </p:nvSpPr>
        <p:spPr>
          <a:xfrm>
            <a:off x="955640" y="6466815"/>
            <a:ext cx="174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(yahoo search, 2025)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044386-DA1B-DB30-5A85-8FDB03ED7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406" y="68826"/>
            <a:ext cx="9724104" cy="67891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61D8F5-5387-8DE3-B8FF-8A2A03C0770F}"/>
              </a:ext>
            </a:extLst>
          </p:cNvPr>
          <p:cNvSpPr txBox="1"/>
          <p:nvPr/>
        </p:nvSpPr>
        <p:spPr>
          <a:xfrm>
            <a:off x="473859" y="68826"/>
            <a:ext cx="5189522" cy="15696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Omniverse platform provides a comprehensive and secure digital twin solution for modern manufacturing environments.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21994C-5611-211D-BE88-ED7E4AE51F94}"/>
              </a:ext>
            </a:extLst>
          </p:cNvPr>
          <p:cNvSpPr txBox="1"/>
          <p:nvPr/>
        </p:nvSpPr>
        <p:spPr>
          <a:xfrm>
            <a:off x="10193046" y="6466815"/>
            <a:ext cx="174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 omniverse, 2025)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3A38C5-060E-AA0C-6B38-D2C327ADA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10" y="3627202"/>
            <a:ext cx="2839613" cy="2839613"/>
          </a:xfrm>
          <a:prstGeom prst="rect">
            <a:avLst/>
          </a:prstGeom>
        </p:spPr>
      </p:pic>
      <p:pic>
        <p:nvPicPr>
          <p:cNvPr id="49" name="Audio 48">
            <a:hlinkClick r:id="" action="ppaction://media"/>
            <a:extLst>
              <a:ext uri="{FF2B5EF4-FFF2-40B4-BE49-F238E27FC236}">
                <a16:creationId xmlns:a16="http://schemas.microsoft.com/office/drawing/2014/main" id="{7B79BA4D-35EF-3773-7954-1628051FA3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29000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362"/>
    </mc:Choice>
    <mc:Fallback>
      <p:transition spd="slow" advTm="693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A4422D-ADE3-0FA9-2115-591B02C70D5A}"/>
              </a:ext>
            </a:extLst>
          </p:cNvPr>
          <p:cNvSpPr txBox="1"/>
          <p:nvPr/>
        </p:nvSpPr>
        <p:spPr>
          <a:xfrm>
            <a:off x="580103" y="179978"/>
            <a:ext cx="1660697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5156B-45F5-A321-28A7-B7B6BCD70A99}"/>
              </a:ext>
            </a:extLst>
          </p:cNvPr>
          <p:cNvSpPr txBox="1"/>
          <p:nvPr/>
        </p:nvSpPr>
        <p:spPr>
          <a:xfrm>
            <a:off x="580103" y="641643"/>
            <a:ext cx="1111045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J., &amp; Zheng, Y. (2024). Frontiers in Computer Science, 6.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https://doi.org/10.3389/fcomp.2024.1423129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Bhatia, N., et al. (2025). AIP Advances, 15(4), 045018.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https://doi.org/10.1063/5.0261883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Tao, F., Zhang, M., &amp; Qi, Q. (2024). A comprehensive review of the dynamic applications of the digital twin technology in the energy sector. Sustainable Cities and Society, 102, 105225.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https://doi.org/10.1016/j.scs.2024.105225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 J. (2025). NVIDIA Aerial Omniverse Digital Twin boosts development of AI-native wireless and deployment flexibility. NVIDIA Technical Blog.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https://developer.nvidia.com/blog/nvidia-aerial-omniverse-digital-twin-boosts-development-of-ai-native-wireless-and-deployment-flexibility/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X., et al. (2022). Space Resources Week 2022.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https://orbilu.uni.lu/handle/10993/51217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Omniverse Documentation. (2025). Factory Digital Twin Reference Architecture. Retrieved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https://docs.omniverse.nvidia.com/arch-diagrams/latest/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StockCake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(2025). Digital connectivity concept. Retrieved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https://stockcake.com/i/digital-connectivity-concept_339694_759088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Logo. (2025).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https://seeklogo.com/vector-logo/101614/nvidia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NVIDIA Omniverse Logos. (2025).</a:t>
            </a:r>
            <a:r>
              <a:rPr lang="en-US" dirty="0">
                <a:hlinkClick r:id="rId12"/>
              </a:rPr>
              <a:t> https://images.search.yahoo.com/search/images</a:t>
            </a:r>
            <a:r>
              <a:rPr lang="en-US" dirty="0"/>
              <a:t> </a:t>
            </a: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C9270CCB-FB2B-5682-4753-777756342B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14330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810"/>
    </mc:Choice>
    <mc:Fallback>
      <p:transition spd="slow" advTm="228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3528</TotalTime>
  <Words>539</Words>
  <Application>Microsoft Office PowerPoint</Application>
  <PresentationFormat>Widescreen</PresentationFormat>
  <Paragraphs>57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Crawford</dc:creator>
  <cp:lastModifiedBy>Randall Crawford</cp:lastModifiedBy>
  <cp:revision>13</cp:revision>
  <dcterms:created xsi:type="dcterms:W3CDTF">2025-09-18T19:11:44Z</dcterms:created>
  <dcterms:modified xsi:type="dcterms:W3CDTF">2025-09-22T02:02:37Z</dcterms:modified>
</cp:coreProperties>
</file>