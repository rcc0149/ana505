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1" r:id="rId5"/>
    <p:sldId id="263" r:id="rId6"/>
    <p:sldId id="264" r:id="rId7"/>
    <p:sldId id="265" r:id="rId8"/>
    <p:sldId id="266" r:id="rId9"/>
    <p:sldId id="260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95.23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CA7-B100-E09D32CE1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Grad-CAM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96.71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BE-4CA7-B100-E09D32CE1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6599407"/>
        <c:axId val="416599887"/>
      </c:barChart>
      <c:catAx>
        <c:axId val="41659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887"/>
        <c:crosses val="autoZero"/>
        <c:auto val="1"/>
        <c:lblAlgn val="ctr"/>
        <c:lblOffset val="100"/>
        <c:noMultiLvlLbl val="0"/>
      </c:catAx>
      <c:valAx>
        <c:axId val="41659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Decision Tree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CA7-B100-E09D32CE1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SHAP-Enhanced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BE-4CA7-B100-E09D32CE1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6599407"/>
        <c:axId val="416599887"/>
      </c:barChart>
      <c:catAx>
        <c:axId val="41659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887"/>
        <c:crosses val="autoZero"/>
        <c:auto val="1"/>
        <c:lblAlgn val="ctr"/>
        <c:lblOffset val="100"/>
        <c:noMultiLvlLbl val="0"/>
      </c:catAx>
      <c:valAx>
        <c:axId val="41659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CNN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CA7-B100-E09D32CE1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LIME-Enhanced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BE-4CA7-B100-E09D32CE1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6599407"/>
        <c:axId val="416599887"/>
      </c:barChart>
      <c:catAx>
        <c:axId val="41659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887"/>
        <c:crosses val="autoZero"/>
        <c:auto val="1"/>
        <c:lblAlgn val="ctr"/>
        <c:lblOffset val="100"/>
        <c:noMultiLvlLbl val="0"/>
      </c:catAx>
      <c:valAx>
        <c:axId val="41659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LSTM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CA7-B100-E09D32CE1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XAI-Enhanced LSTM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BE-4CA7-B100-E09D32CE1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6599407"/>
        <c:axId val="416599887"/>
      </c:barChart>
      <c:catAx>
        <c:axId val="41659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887"/>
        <c:crosses val="autoZero"/>
        <c:auto val="1"/>
        <c:lblAlgn val="ctr"/>
        <c:lblOffset val="100"/>
        <c:noMultiLvlLbl val="0"/>
      </c:catAx>
      <c:valAx>
        <c:axId val="41659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CA7-B100-E09D32CE1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XAI-Enhanced DBN/SAE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BE-4CA7-B100-E09D32CE1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6599407"/>
        <c:axId val="416599887"/>
      </c:barChart>
      <c:catAx>
        <c:axId val="41659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887"/>
        <c:crosses val="autoZero"/>
        <c:auto val="1"/>
        <c:lblAlgn val="ctr"/>
        <c:lblOffset val="100"/>
        <c:noMultiLvlLbl val="0"/>
      </c:catAx>
      <c:valAx>
        <c:axId val="41659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CA7-B100-E09D32CE1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XAI-Enhanced Models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BE-4CA7-B100-E09D32CE1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6599407"/>
        <c:axId val="416599887"/>
      </c:barChart>
      <c:catAx>
        <c:axId val="41659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887"/>
        <c:crosses val="autoZero"/>
        <c:auto val="1"/>
        <c:lblAlgn val="ctr"/>
        <c:lblOffset val="100"/>
        <c:noMultiLvlLbl val="0"/>
      </c:catAx>
      <c:valAx>
        <c:axId val="41659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CV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2-4FB5-B0C1-A519DFB085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XAI-Enhanced CV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Accuracy %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2-4FB5-B0C1-A519DFB085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6599407"/>
        <c:axId val="416599887"/>
      </c:barChart>
      <c:catAx>
        <c:axId val="41659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887"/>
        <c:crosses val="autoZero"/>
        <c:auto val="1"/>
        <c:lblAlgn val="ctr"/>
        <c:lblOffset val="100"/>
        <c:noMultiLvlLbl val="0"/>
      </c:catAx>
      <c:valAx>
        <c:axId val="41659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59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5238-8DBE-6380-8D1B-E7D3FDE7F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9C51B-530B-82C9-F9D5-ED2D2579C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D2B69-F523-233E-2ECD-5663FCD8F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161F-1B5B-FECB-716F-FF78633A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DAED7-79D3-16F4-F20C-0AF0DF13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96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749C-2752-D079-13BF-F0DDE78B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1A0C-B2A3-B1AD-FCA5-5496C75F2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B704-9887-8722-E527-339BBEF2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33463-5EE1-E3D3-FB38-AFD5292B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3A0C-1F72-02A9-74CA-355832C2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5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7D04-4F47-C189-2C19-46BE60F5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D3826-BA82-5F4F-31EC-2E323720E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0F128-CFB9-4670-7DBC-87752F6F6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B7D9A-431D-9E67-6078-8C229DDD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69308-2C3C-F565-BF44-41D7A24B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54DD-F2E7-23CE-EF10-6A11FC32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B639-0BB7-A65B-5B1D-6BF3D854A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6DC67-79CD-2B48-B532-6D5D0BC44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6AB40-2D94-40A0-C6A9-FE9EFD49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9AA43-050D-40BC-F1B2-BADAACDCD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B6CCF-F067-06CD-5194-0E4B444E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779C-6AB0-FE94-DCEC-1B71B9EB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9FDBF-1196-E615-B654-F9760F24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050B2-26AC-CF02-DDC1-492A07EFD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8A96E-E931-DD31-630C-6408E388C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76163-3186-5FD9-8DD7-F8748A3EA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37BBFF-1503-8FD6-C822-18E89DEF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FFBDBF-D54B-DD25-DC18-0F70FCAB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9AB1B-E495-B6B4-FA36-27000639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92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793C-3D49-9CF9-6A96-9222215C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1C153-E179-73D9-9C7C-A48A27B7F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93C75B-6836-CD81-128F-C3C30949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3410C-8B90-5506-E8B5-7F87AE98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7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50419-A6FD-DCE5-861B-A160A787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AD235-B3BE-3027-929F-A62221353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1CF9B-B03E-0177-59E3-23097617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3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C0295-53B3-0D78-B65A-B898DF6A2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14D1C-D351-9E27-7935-4773C5B13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9D0E1-C5BB-75B7-47AD-0C026FA3E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C43D7-0026-90D4-7CCA-7650F72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ACF09-F638-2EA1-391C-E509F2584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15DAD-4DEA-DB51-EA63-75B301A2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3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AC71-280F-BCA1-9C14-857950F8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F278A-7E81-707A-78ED-0C5AF2507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2D804-D296-1BFB-239B-C3616AFFA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69229-7ED0-4838-06BF-49CD26C8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4CA4A-DB34-388A-5600-95E6752D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08C7-3671-D1A5-F515-3A69D7AC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3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4726-C388-FF71-558B-9A0995DC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84EB4-72A5-1075-19C7-D5A42E329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EBC7C-0955-1264-DDF8-0189F7BE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5559-E625-0A52-F9FB-78FD0F44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76822-0BBC-71B9-2CEB-F747D4DF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8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955A88-40E9-B922-2F79-0398E2E1E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3FCB0-3759-C343-0433-A2F8FD1CD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324F-E202-C08C-9FBE-733B7707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02995-1F41-B090-65E1-B5C97D98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D9416-35D9-9D01-AA24-0E6123DD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1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3E1606-554B-7D8F-E4E9-89831EA4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5054C-5EBD-A740-B6BC-DBB4BFA50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7DCCB-2C06-2055-20A6-2FE185CBA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330D7-3F5D-4BCC-AA3A-B6D52A206F6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E2E9C-5A27-5C86-738E-D14F353FE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F71E9-394F-AFE6-3D3F-F81EC7126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5C3B-8788-477A-90A1-D880AD21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2.png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75659051_Anomaly_Detection_in_Time_Series_Data_and_Its_Application_to_Semiconductor_Manufacturing" TargetMode="External"/><Relationship Id="rId3" Type="http://schemas.openxmlformats.org/officeDocument/2006/relationships/slideLayout" Target="../slideLayouts/slideLayout7.xml"/><Relationship Id="rId7" Type="http://schemas.openxmlformats.org/officeDocument/2006/relationships/hyperlink" Target="https://www.mdpi.com/2072-666X/16/9/1057" TargetMode="External"/><Relationship Id="rId12" Type="http://schemas.openxmlformats.org/officeDocument/2006/relationships/image" Target="../media/image2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hyperlink" Target="https://emergentvisiontec.com/applications/inspection-and-automation/metrology/" TargetMode="External"/><Relationship Id="rId11" Type="http://schemas.openxmlformats.org/officeDocument/2006/relationships/hyperlink" Target="https://link.springer.com/content/pdf/10.1007/s40684-021-00343-6.pdf" TargetMode="External"/><Relationship Id="rId5" Type="http://schemas.openxmlformats.org/officeDocument/2006/relationships/hyperlink" Target="https://arxiv.org/pdf/2307.14239.pdf" TargetMode="External"/><Relationship Id="rId10" Type="http://schemas.openxmlformats.org/officeDocument/2006/relationships/hyperlink" Target="https://pubsonline.informs.org/doi/pdf/10.1287/mnsc.2021.4190" TargetMode="External"/><Relationship Id="rId4" Type="http://schemas.openxmlformats.org/officeDocument/2006/relationships/hyperlink" Target="https://www.researchgate.net/publication/364678922_Wafer_defect_pattern_classification_with_explainable_decision_tree_technique" TargetMode="External"/><Relationship Id="rId9" Type="http://schemas.openxmlformats.org/officeDocument/2006/relationships/hyperlink" Target="https://www.frontiersin.org/articles/10.3389/fnins.2023.120298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C9AED7-987E-E239-7843-95602EFD2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34" y="176082"/>
            <a:ext cx="11562732" cy="650583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F6994C5-D751-CB92-233E-F9BE73DD8376}"/>
              </a:ext>
            </a:extLst>
          </p:cNvPr>
          <p:cNvSpPr txBox="1">
            <a:spLocks/>
          </p:cNvSpPr>
          <p:nvPr/>
        </p:nvSpPr>
        <p:spPr>
          <a:xfrm>
            <a:off x="314634" y="176082"/>
            <a:ext cx="9144000" cy="9129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7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in Computer Vision for Defect Detection in Manufacturing: Boosting Quality and Trust</a:t>
            </a:r>
            <a:endParaRPr lang="en-US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8A61178-96EC-773C-2913-702894447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34" y="1470047"/>
            <a:ext cx="5909191" cy="621483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Scholarly Research on Algorithmic Defect Detection in Smart Manufacturing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C3B84-5BB7-8653-3E7C-853C9C0D517C}"/>
              </a:ext>
            </a:extLst>
          </p:cNvPr>
          <p:cNvSpPr txBox="1"/>
          <p:nvPr/>
        </p:nvSpPr>
        <p:spPr>
          <a:xfrm>
            <a:off x="314634" y="2393923"/>
            <a:ext cx="174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Randall Crawford</a:t>
            </a:r>
          </a:p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September 28, 2025</a:t>
            </a:r>
          </a:p>
        </p:txBody>
      </p:sp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051BD685-06A1-8380-43C1-3517597F30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44230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779"/>
    </mc:Choice>
    <mc:Fallback>
      <p:transition spd="slow" advTm="297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FAD87-C6DB-CFA8-CF8F-19247EFF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F11B121-AF48-7A08-1C74-7291FA527DC8}"/>
              </a:ext>
            </a:extLst>
          </p:cNvPr>
          <p:cNvSpPr txBox="1"/>
          <p:nvPr/>
        </p:nvSpPr>
        <p:spPr>
          <a:xfrm>
            <a:off x="383457" y="206477"/>
            <a:ext cx="11395587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XAI enhances algorithmic tasks in computer vision for wafer defect detection, including image preprocessing, classification, localization, segmentation, periodic detection, and multi-feature fusion.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278BE-3F60-EA72-F5A3-6F629FEB1BFE}"/>
              </a:ext>
            </a:extLst>
          </p:cNvPr>
          <p:cNvSpPr txBox="1"/>
          <p:nvPr/>
        </p:nvSpPr>
        <p:spPr>
          <a:xfrm>
            <a:off x="1228572" y="6513023"/>
            <a:ext cx="13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(Springer, 2021)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F8C821-74F5-07EF-BE08-E0B9F8426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572" y="1406805"/>
            <a:ext cx="9734856" cy="5106217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BDC2C599-D469-0CC6-3A68-E087AFD49553}"/>
              </a:ext>
            </a:extLst>
          </p:cNvPr>
          <p:cNvSpPr/>
          <p:nvPr/>
        </p:nvSpPr>
        <p:spPr>
          <a:xfrm>
            <a:off x="6882581" y="4345857"/>
            <a:ext cx="3923071" cy="1858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Audio 63">
            <a:hlinkClick r:id="" action="ppaction://media"/>
            <a:extLst>
              <a:ext uri="{FF2B5EF4-FFF2-40B4-BE49-F238E27FC236}">
                <a16:creationId xmlns:a16="http://schemas.microsoft.com/office/drawing/2014/main" id="{028C86E1-AAFB-6BEF-EE6C-49E9FD5EA6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06973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130"/>
    </mc:Choice>
    <mc:Fallback>
      <p:transition spd="slow" advTm="44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6661-FB8F-5D0C-0519-926C0604B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64B9700-F90D-8B02-7409-1B6144E9356F}"/>
              </a:ext>
            </a:extLst>
          </p:cNvPr>
          <p:cNvSpPr txBox="1"/>
          <p:nvPr/>
        </p:nvSpPr>
        <p:spPr>
          <a:xfrm>
            <a:off x="363793" y="206477"/>
            <a:ext cx="11484077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 heatmaps, with image preprocessing, enhance inspection accuracy for wafer defect detection.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18E305-72DA-32C0-34F4-EEDC62883D42}"/>
              </a:ext>
            </a:extLst>
          </p:cNvPr>
          <p:cNvSpPr txBox="1"/>
          <p:nvPr/>
        </p:nvSpPr>
        <p:spPr>
          <a:xfrm>
            <a:off x="1022594" y="6303154"/>
            <a:ext cx="13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(Frontiers, 2023)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AB0EDB7-B70F-C116-D56E-85615D372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4639165"/>
              </p:ext>
            </p:extLst>
          </p:nvPr>
        </p:nvGraphicFramePr>
        <p:xfrm>
          <a:off x="6096000" y="1769807"/>
          <a:ext cx="5260258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E7D228A-76EA-DFA5-7045-679CD2A9E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94" y="1206456"/>
            <a:ext cx="4444369" cy="5096698"/>
          </a:xfrm>
          <a:prstGeom prst="rect">
            <a:avLst/>
          </a:prstGeom>
        </p:spPr>
      </p:pic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6020D53B-566F-9AE5-1E6E-A54310A847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70178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569"/>
    </mc:Choice>
    <mc:Fallback>
      <p:transition spd="slow" advTm="345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1A9D-14C7-7C64-53E4-0351F728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4BB1565-404B-F164-D47C-726B247C31C7}"/>
              </a:ext>
            </a:extLst>
          </p:cNvPr>
          <p:cNvSpPr txBox="1"/>
          <p:nvPr/>
        </p:nvSpPr>
        <p:spPr>
          <a:xfrm>
            <a:off x="393289" y="366930"/>
            <a:ext cx="8288595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enhances classification accuracy for wafer defect types.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D98E27-A40F-C315-60F9-1BEAE6FBBB1B}"/>
              </a:ext>
            </a:extLst>
          </p:cNvPr>
          <p:cNvSpPr txBox="1"/>
          <p:nvPr/>
        </p:nvSpPr>
        <p:spPr>
          <a:xfrm>
            <a:off x="196646" y="5158582"/>
            <a:ext cx="13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(IEEE, 2022)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2A7BAF8-8366-4A61-D4E8-362C87E28B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999409"/>
              </p:ext>
            </p:extLst>
          </p:nvPr>
        </p:nvGraphicFramePr>
        <p:xfrm>
          <a:off x="7502013" y="1720647"/>
          <a:ext cx="4493341" cy="3840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813439A-72EF-C502-BFA8-CB222AB1C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46" y="2123199"/>
            <a:ext cx="6941573" cy="30353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937CC3-B5B9-0907-79A1-4F998BF664FF}"/>
              </a:ext>
            </a:extLst>
          </p:cNvPr>
          <p:cNvSpPr txBox="1"/>
          <p:nvPr/>
        </p:nvSpPr>
        <p:spPr>
          <a:xfrm>
            <a:off x="1636732" y="1661534"/>
            <a:ext cx="406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Edge-Local Wafer Defect Identification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1C1A060-3D3A-6732-4EC8-F57B008765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68692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843"/>
    </mc:Choice>
    <mc:Fallback>
      <p:transition spd="slow" advTm="388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10D9-3738-B852-1C3B-7E78C797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EFB32C3-0B46-B7FD-5996-A4B4AD883505}"/>
              </a:ext>
            </a:extLst>
          </p:cNvPr>
          <p:cNvSpPr txBox="1"/>
          <p:nvPr/>
        </p:nvSpPr>
        <p:spPr>
          <a:xfrm>
            <a:off x="373624" y="389216"/>
            <a:ext cx="11395589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LIME supports localization and segmentation by delineating wafer defect boundaries.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D7438C-9A4B-137C-A6AD-EEB5B30DCE02}"/>
              </a:ext>
            </a:extLst>
          </p:cNvPr>
          <p:cNvSpPr txBox="1"/>
          <p:nvPr/>
        </p:nvSpPr>
        <p:spPr>
          <a:xfrm>
            <a:off x="216502" y="4492908"/>
            <a:ext cx="1641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(Micromachines, 2025)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A658490-B167-0EA5-F5D2-D518D5C0FE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2407964"/>
              </p:ext>
            </p:extLst>
          </p:nvPr>
        </p:nvGraphicFramePr>
        <p:xfrm>
          <a:off x="7708490" y="1690478"/>
          <a:ext cx="4238901" cy="3579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A6DED98-C058-C172-344C-4A4AA1050DDB}"/>
              </a:ext>
            </a:extLst>
          </p:cNvPr>
          <p:cNvSpPr txBox="1"/>
          <p:nvPr/>
        </p:nvSpPr>
        <p:spPr>
          <a:xfrm>
            <a:off x="1858491" y="1687984"/>
            <a:ext cx="406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Edge-Local Wafer Defect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A87BB4-5DAF-4845-D0E5-E2129FCB4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62" y="2395870"/>
            <a:ext cx="7090257" cy="20662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213D40-6B7D-1133-B24A-D7A2EC08331C}"/>
              </a:ext>
            </a:extLst>
          </p:cNvPr>
          <p:cNvSpPr txBox="1"/>
          <p:nvPr/>
        </p:nvSpPr>
        <p:spPr>
          <a:xfrm>
            <a:off x="5919888" y="2088092"/>
            <a:ext cx="993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CD51F-B3B2-84B8-C982-6A2AE6E18E07}"/>
              </a:ext>
            </a:extLst>
          </p:cNvPr>
          <p:cNvSpPr txBox="1"/>
          <p:nvPr/>
        </p:nvSpPr>
        <p:spPr>
          <a:xfrm>
            <a:off x="3318619" y="2088092"/>
            <a:ext cx="114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1CC2E-2E56-6470-6F03-10333C8C32C6}"/>
              </a:ext>
            </a:extLst>
          </p:cNvPr>
          <p:cNvSpPr txBox="1"/>
          <p:nvPr/>
        </p:nvSpPr>
        <p:spPr>
          <a:xfrm>
            <a:off x="667459" y="2088093"/>
            <a:ext cx="1282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Scan</a:t>
            </a:r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C7FE785B-25C2-6DC5-51DF-A55D55E885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4646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366"/>
    </mc:Choice>
    <mc:Fallback>
      <p:transition spd="slow" advTm="363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0D64-5234-1AFE-D7BC-FA35ECBD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633425F-E472-77E0-0987-075B63BE663F}"/>
              </a:ext>
            </a:extLst>
          </p:cNvPr>
          <p:cNvSpPr txBox="1"/>
          <p:nvPr/>
        </p:nvSpPr>
        <p:spPr>
          <a:xfrm>
            <a:off x="393289" y="421553"/>
            <a:ext cx="11257937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LSTM-based periodic defect detection is enhanced by XAI for recurring wafer flaws.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EBF89D-C62D-A85E-B1C1-8F2F0468B095}"/>
              </a:ext>
            </a:extLst>
          </p:cNvPr>
          <p:cNvSpPr txBox="1"/>
          <p:nvPr/>
        </p:nvSpPr>
        <p:spPr>
          <a:xfrm>
            <a:off x="167147" y="5311670"/>
            <a:ext cx="1641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(ResearchGate, 2023)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25B752-5C55-0125-030C-78274AFF12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931180"/>
              </p:ext>
            </p:extLst>
          </p:nvPr>
        </p:nvGraphicFramePr>
        <p:xfrm>
          <a:off x="7629834" y="1868128"/>
          <a:ext cx="4395019" cy="3515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F8A58EE-16BA-1506-693F-C0472C699AA5}"/>
              </a:ext>
            </a:extLst>
          </p:cNvPr>
          <p:cNvSpPr txBox="1"/>
          <p:nvPr/>
        </p:nvSpPr>
        <p:spPr>
          <a:xfrm>
            <a:off x="1015008" y="1570707"/>
            <a:ext cx="579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Time-Series &amp; LSTM Encoding/Decoding Process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C52160-B0FB-48E1-E7EC-C7783700A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80" y="1940039"/>
            <a:ext cx="7462687" cy="3371631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965F7D84-65A1-F443-F6E5-E23BEAD3BA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43743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834"/>
    </mc:Choice>
    <mc:Fallback>
      <p:transition spd="slow" advTm="468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C9936-33D4-7356-E6A9-28DDECD5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FA413A8-52C8-2942-8A99-88A0BD4D704E}"/>
              </a:ext>
            </a:extLst>
          </p:cNvPr>
          <p:cNvSpPr txBox="1"/>
          <p:nvPr/>
        </p:nvSpPr>
        <p:spPr>
          <a:xfrm>
            <a:off x="324464" y="302718"/>
            <a:ext cx="11543072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Multi-feature fusion with DBN/SAE leverages XAI for integrated wafer defect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44B033-0543-FAC6-F625-646344B302A4}"/>
              </a:ext>
            </a:extLst>
          </p:cNvPr>
          <p:cNvSpPr txBox="1"/>
          <p:nvPr/>
        </p:nvSpPr>
        <p:spPr>
          <a:xfrm>
            <a:off x="207112" y="5120100"/>
            <a:ext cx="1641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(Frontiers, 2023)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CD1B926-2606-74B3-9CD9-A558CC8D1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757110"/>
              </p:ext>
            </p:extLst>
          </p:nvPr>
        </p:nvGraphicFramePr>
        <p:xfrm>
          <a:off x="7688826" y="1759975"/>
          <a:ext cx="4296060" cy="3674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F66073F-091C-40BC-90A9-86A1840109CD}"/>
              </a:ext>
            </a:extLst>
          </p:cNvPr>
          <p:cNvSpPr txBox="1"/>
          <p:nvPr/>
        </p:nvSpPr>
        <p:spPr>
          <a:xfrm>
            <a:off x="925749" y="1705165"/>
            <a:ext cx="579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Multi-Feature Fusion Perceptual Network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443F9-429A-AD99-D51D-6AB30D29A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12" y="2112022"/>
            <a:ext cx="7231105" cy="2970553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85DAECF7-17C7-6160-2538-378344CA53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72794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393"/>
    </mc:Choice>
    <mc:Fallback>
      <p:transition spd="slow" advTm="403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7C9D1-C562-E34F-9972-EC89C79D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7F948C8-5C9B-8701-42F4-A1AEA8449B04}"/>
              </a:ext>
            </a:extLst>
          </p:cNvPr>
          <p:cNvSpPr txBox="1"/>
          <p:nvPr/>
        </p:nvSpPr>
        <p:spPr>
          <a:xfrm>
            <a:off x="324464" y="302718"/>
            <a:ext cx="11543072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XAI balances trade-offs between algorithmic performance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wafer defect detection.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8C346-1D41-6E2B-788A-67A2D91B4583}"/>
              </a:ext>
            </a:extLst>
          </p:cNvPr>
          <p:cNvSpPr txBox="1"/>
          <p:nvPr/>
        </p:nvSpPr>
        <p:spPr>
          <a:xfrm>
            <a:off x="1028106" y="5840978"/>
            <a:ext cx="1061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(arxiv, 2023)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16ADEEB-5D42-9686-A4B3-E855FEB1F0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350144"/>
              </p:ext>
            </p:extLst>
          </p:nvPr>
        </p:nvGraphicFramePr>
        <p:xfrm>
          <a:off x="6499123" y="1868130"/>
          <a:ext cx="4620524" cy="397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4853C00-460B-FBF4-BDE2-A9968323CFA3}"/>
              </a:ext>
            </a:extLst>
          </p:cNvPr>
          <p:cNvSpPr txBox="1"/>
          <p:nvPr/>
        </p:nvSpPr>
        <p:spPr>
          <a:xfrm>
            <a:off x="1933113" y="1759219"/>
            <a:ext cx="2643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 Trade-Off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0788FB-5CB7-80EE-902E-D79AA8425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106" y="2074495"/>
            <a:ext cx="4453376" cy="3858313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46632640-2439-FBAE-9B79-2A3F8A5146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9253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45"/>
    </mc:Choice>
    <mc:Fallback>
      <p:transition spd="slow" advTm="351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AB36-9C12-656A-59D8-580CAE64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BA3583D-71A7-78A5-FB74-76E732B2A6D0}"/>
              </a:ext>
            </a:extLst>
          </p:cNvPr>
          <p:cNvSpPr txBox="1"/>
          <p:nvPr/>
        </p:nvSpPr>
        <p:spPr>
          <a:xfrm>
            <a:off x="275304" y="223247"/>
            <a:ext cx="10196051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is vital for scaling computer vision algorithms in wafer defect detection.</a:t>
            </a:r>
            <a:endParaRPr lang="en-US" sz="2400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CE400AA-15FD-080C-A33F-BB5EACE86CAA}"/>
              </a:ext>
            </a:extLst>
          </p:cNvPr>
          <p:cNvSpPr/>
          <p:nvPr/>
        </p:nvSpPr>
        <p:spPr>
          <a:xfrm>
            <a:off x="2297313" y="3166347"/>
            <a:ext cx="2410849" cy="117987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XAI in CV for Wafer Defect Detection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4107C2-F652-F0C5-24B4-CB791C4044DB}"/>
              </a:ext>
            </a:extLst>
          </p:cNvPr>
          <p:cNvSpPr/>
          <p:nvPr/>
        </p:nvSpPr>
        <p:spPr>
          <a:xfrm>
            <a:off x="2559096" y="1287499"/>
            <a:ext cx="1887279" cy="52227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(ex. Grad-CAM)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60A8A7-684A-3A44-BD5D-5649AF2C4BEA}"/>
              </a:ext>
            </a:extLst>
          </p:cNvPr>
          <p:cNvSpPr/>
          <p:nvPr/>
        </p:nvSpPr>
        <p:spPr>
          <a:xfrm>
            <a:off x="4708162" y="2162292"/>
            <a:ext cx="1297464" cy="52210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(ex. SHAP)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D042D4-1ECE-99A6-9AA9-8D925C7AD8C7}"/>
              </a:ext>
            </a:extLst>
          </p:cNvPr>
          <p:cNvSpPr/>
          <p:nvPr/>
        </p:nvSpPr>
        <p:spPr>
          <a:xfrm>
            <a:off x="2820877" y="5554057"/>
            <a:ext cx="1363715" cy="52227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(ex. LIME)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2BA5C5-B295-6DC8-4B4E-2581ADD94AC8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3502736" y="1809777"/>
            <a:ext cx="2" cy="1356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C2514E-25FF-5263-E90D-0BA00C15B179}"/>
              </a:ext>
            </a:extLst>
          </p:cNvPr>
          <p:cNvCxnSpPr>
            <a:cxnSpLocks/>
            <a:stCxn id="14" idx="7"/>
            <a:endCxn id="16" idx="2"/>
          </p:cNvCxnSpPr>
          <p:nvPr/>
        </p:nvCxnSpPr>
        <p:spPr>
          <a:xfrm flipV="1">
            <a:off x="4355101" y="2684398"/>
            <a:ext cx="1001793" cy="654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239B8F-A73E-D2B6-2293-6ADB52010F1F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3502735" y="4346218"/>
            <a:ext cx="3" cy="12078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327B53-7D96-099C-2B8F-57E907F713E8}"/>
              </a:ext>
            </a:extLst>
          </p:cNvPr>
          <p:cNvSpPr/>
          <p:nvPr/>
        </p:nvSpPr>
        <p:spPr>
          <a:xfrm>
            <a:off x="956307" y="4695708"/>
            <a:ext cx="1694067" cy="49572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Detection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(ex. LSTM)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562EDB-1E2E-D6B5-5235-C89F727727D9}"/>
              </a:ext>
            </a:extLst>
          </p:cNvPr>
          <p:cNvSpPr/>
          <p:nvPr/>
        </p:nvSpPr>
        <p:spPr>
          <a:xfrm>
            <a:off x="857985" y="2162292"/>
            <a:ext cx="1890709" cy="5221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Multi-Feature Fusion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(ex. DBN/SAE)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DE7BB8-7EE6-10CB-AB57-716666F75AF3}"/>
              </a:ext>
            </a:extLst>
          </p:cNvPr>
          <p:cNvSpPr/>
          <p:nvPr/>
        </p:nvSpPr>
        <p:spPr>
          <a:xfrm>
            <a:off x="4708152" y="4695536"/>
            <a:ext cx="1297474" cy="495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Localization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(ex. LIME)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871EBDF-D0FB-F50E-09FF-680C8B39C124}"/>
              </a:ext>
            </a:extLst>
          </p:cNvPr>
          <p:cNvCxnSpPr>
            <a:cxnSpLocks/>
            <a:stCxn id="14" idx="5"/>
            <a:endCxn id="13" idx="0"/>
          </p:cNvCxnSpPr>
          <p:nvPr/>
        </p:nvCxnSpPr>
        <p:spPr>
          <a:xfrm>
            <a:off x="4355101" y="4173430"/>
            <a:ext cx="1001788" cy="522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5D74AD-985E-6FD0-868F-43B70EAB4C34}"/>
              </a:ext>
            </a:extLst>
          </p:cNvPr>
          <p:cNvCxnSpPr>
            <a:cxnSpLocks/>
            <a:stCxn id="14" idx="3"/>
            <a:endCxn id="3" idx="0"/>
          </p:cNvCxnSpPr>
          <p:nvPr/>
        </p:nvCxnSpPr>
        <p:spPr>
          <a:xfrm flipH="1">
            <a:off x="1803341" y="4173430"/>
            <a:ext cx="847033" cy="522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96BFB-5F38-66B6-BEDA-888E7D70223A}"/>
              </a:ext>
            </a:extLst>
          </p:cNvPr>
          <p:cNvCxnSpPr>
            <a:cxnSpLocks/>
            <a:stCxn id="14" idx="1"/>
            <a:endCxn id="4" idx="2"/>
          </p:cNvCxnSpPr>
          <p:nvPr/>
        </p:nvCxnSpPr>
        <p:spPr>
          <a:xfrm flipH="1" flipV="1">
            <a:off x="1803340" y="2684398"/>
            <a:ext cx="847034" cy="654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Chart 72">
            <a:extLst>
              <a:ext uri="{FF2B5EF4-FFF2-40B4-BE49-F238E27FC236}">
                <a16:creationId xmlns:a16="http://schemas.microsoft.com/office/drawing/2014/main" id="{9BF1360F-E7AC-BD1D-D0A6-0AE6668D67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5777467"/>
              </p:ext>
            </p:extLst>
          </p:nvPr>
        </p:nvGraphicFramePr>
        <p:xfrm>
          <a:off x="6685950" y="1352711"/>
          <a:ext cx="4857116" cy="472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8" name="Audio 97">
            <a:hlinkClick r:id="" action="ppaction://media"/>
            <a:extLst>
              <a:ext uri="{FF2B5EF4-FFF2-40B4-BE49-F238E27FC236}">
                <a16:creationId xmlns:a16="http://schemas.microsoft.com/office/drawing/2014/main" id="{E176103C-DE67-80D7-F6AA-C549C93062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56012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420"/>
    </mc:Choice>
    <mc:Fallback>
      <p:transition spd="slow" advTm="34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53EB0E-C061-4FE2-549F-92C551DE0E65}"/>
              </a:ext>
            </a:extLst>
          </p:cNvPr>
          <p:cNvSpPr txBox="1"/>
          <p:nvPr/>
        </p:nvSpPr>
        <p:spPr>
          <a:xfrm>
            <a:off x="344130" y="281518"/>
            <a:ext cx="11493909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Cheng, J., Zhang, X., &amp; Li, Y. (2022). Wafer defect pattern classification with explainable decision tree technique.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IEEE International Test Conference (ITC)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549–553.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https://www.researchgate.net/publication/364678922_Wafer_defect_pattern_classification_with_explainable_decision_tree_technique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Crook, B., Schluter, M., &amp; Speith, T. (2023). Revisiting the performance-explainability trade-off in explainable artificial intelligence (XAI).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https://arxiv.org/pdf/2307.14239.pdf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Emergent Vision Technologies (2025). Title page image.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https://emergentvisiontec.com/applications/inspection-and-automation/metrology/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Kim, J., Park, S., &amp; Lee, H. (2025). Enhancing confidence and interpretability of a CNN-based wafer defect classification model using temperature scaling and LIME.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Micromachines, 16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(9), 1057.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https://www.mdpi.com/2072-666X/16/9/1057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Lee, J.-H., Kim, S., &amp; Park, H. (2023). Anomaly detection in time series data and its application to semiconductor manufacturing.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IEEE International Conference on Semiconductor Technology (ICST)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https://www.researchgate.net/publication/375659051_Anomaly_Detection_in_Time_Series_Data_and_Its_Application_to_Semiconductor_Manufacturing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W., Wang, Y., &amp; Zhang, Q. (2023). Wafer defect recognition method based on multi-scale feature fusion.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Neuroscience, 17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1202985.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https://www.frontiersin.org/articles/10.3389/fnins.2023.1202985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Senoner, J., Netland, T., &amp; Feuerriegel, S. (2022). Using explainable artificial intelligence to improve process quality: Evidence from semiconductor manufacturing.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Science, 68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5704–5723.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https://pubsonline.informs.org/doi/pdf/10.1287/mnsc.2021.4190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J., Ma, F., &amp; Zhang, L. (2021). State of the art in defect detection based on machine vision.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Precision Engineering and Manufacturing-Green Technology,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1237–1258.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https://link.springer.com/content/pdf/10.1007/s40684-021-00343-6.pdf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37700F57-5D45-0B7D-F790-D82BD82EEE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13240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369"/>
    </mc:Choice>
    <mc:Fallback>
      <p:transition spd="slow" advTm="27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689</Words>
  <Application>Microsoft Office PowerPoint</Application>
  <PresentationFormat>Widescreen</PresentationFormat>
  <Paragraphs>64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Crawford</dc:creator>
  <cp:lastModifiedBy>Randall Crawford</cp:lastModifiedBy>
  <cp:revision>8</cp:revision>
  <dcterms:created xsi:type="dcterms:W3CDTF">2025-09-27T17:09:14Z</dcterms:created>
  <dcterms:modified xsi:type="dcterms:W3CDTF">2025-09-29T02:49:46Z</dcterms:modified>
</cp:coreProperties>
</file>