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4" r:id="rId9"/>
    <p:sldId id="265" r:id="rId10"/>
    <p:sldId id="263"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97" d="100"/>
          <a:sy n="97" d="100"/>
        </p:scale>
        <p:origin x="1110"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5CB905-DF0E-41E9-9DC2-3E4A58CDCB4A}" type="datetimeFigureOut">
              <a:rPr lang="en-US" smtClean="0"/>
              <a:t>9/14/2025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E82302-88AF-44E8-8A3E-767AB573BF44}" type="slidenum">
              <a:rPr lang="en-US" smtClean="0"/>
              <a:t>‹#›</a:t>
            </a:fld>
            <a:endParaRPr lang="en-US"/>
          </a:p>
        </p:txBody>
      </p:sp>
    </p:spTree>
    <p:extLst>
      <p:ext uri="{BB962C8B-B14F-4D97-AF65-F5344CB8AC3E}">
        <p14:creationId xmlns:p14="http://schemas.microsoft.com/office/powerpoint/2010/main" val="15877868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E82302-88AF-44E8-8A3E-767AB573BF44}" type="slidenum">
              <a:rPr lang="en-US" smtClean="0"/>
              <a:t>1</a:t>
            </a:fld>
            <a:endParaRPr lang="en-US"/>
          </a:p>
        </p:txBody>
      </p:sp>
    </p:spTree>
    <p:extLst>
      <p:ext uri="{BB962C8B-B14F-4D97-AF65-F5344CB8AC3E}">
        <p14:creationId xmlns:p14="http://schemas.microsoft.com/office/powerpoint/2010/main" val="13311610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E82302-88AF-44E8-8A3E-767AB573BF44}" type="slidenum">
              <a:rPr lang="en-US" smtClean="0"/>
              <a:t>3</a:t>
            </a:fld>
            <a:endParaRPr lang="en-US"/>
          </a:p>
        </p:txBody>
      </p:sp>
    </p:spTree>
    <p:extLst>
      <p:ext uri="{BB962C8B-B14F-4D97-AF65-F5344CB8AC3E}">
        <p14:creationId xmlns:p14="http://schemas.microsoft.com/office/powerpoint/2010/main" val="8976906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26D7F2-8FF0-833C-7D49-FE219ABF6D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6D4A12-5968-EC02-D3E5-B88F19B334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FA58069-C85C-1C77-1311-0F74C4BA399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34CF5F-C3E2-F89C-9CD5-6A4F5539B368}"/>
              </a:ext>
            </a:extLst>
          </p:cNvPr>
          <p:cNvSpPr>
            <a:spLocks noGrp="1"/>
          </p:cNvSpPr>
          <p:nvPr>
            <p:ph type="sldNum" sz="quarter" idx="5"/>
          </p:nvPr>
        </p:nvSpPr>
        <p:spPr/>
        <p:txBody>
          <a:bodyPr/>
          <a:lstStyle/>
          <a:p>
            <a:fld id="{03E82302-88AF-44E8-8A3E-767AB573BF44}" type="slidenum">
              <a:rPr lang="en-US" smtClean="0"/>
              <a:t>4</a:t>
            </a:fld>
            <a:endParaRPr lang="en-US"/>
          </a:p>
        </p:txBody>
      </p:sp>
    </p:spTree>
    <p:extLst>
      <p:ext uri="{BB962C8B-B14F-4D97-AF65-F5344CB8AC3E}">
        <p14:creationId xmlns:p14="http://schemas.microsoft.com/office/powerpoint/2010/main" val="39521624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39B04-A22A-1666-D7E8-CBB3B49032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F377B7-7F41-9D58-EEE1-58A9702FAC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0994F7-1B8B-DA12-4B74-62AB0BE1FB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0CB253-758A-402F-3960-D2DCEAB71007}"/>
              </a:ext>
            </a:extLst>
          </p:cNvPr>
          <p:cNvSpPr>
            <a:spLocks noGrp="1"/>
          </p:cNvSpPr>
          <p:nvPr>
            <p:ph type="sldNum" sz="quarter" idx="5"/>
          </p:nvPr>
        </p:nvSpPr>
        <p:spPr/>
        <p:txBody>
          <a:bodyPr/>
          <a:lstStyle/>
          <a:p>
            <a:fld id="{03E82302-88AF-44E8-8A3E-767AB573BF44}" type="slidenum">
              <a:rPr lang="en-US" smtClean="0"/>
              <a:t>5</a:t>
            </a:fld>
            <a:endParaRPr lang="en-US"/>
          </a:p>
        </p:txBody>
      </p:sp>
    </p:spTree>
    <p:extLst>
      <p:ext uri="{BB962C8B-B14F-4D97-AF65-F5344CB8AC3E}">
        <p14:creationId xmlns:p14="http://schemas.microsoft.com/office/powerpoint/2010/main" val="30069357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E400B4-D39A-2F40-9066-4579906D3D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9AED18-24DE-9147-7778-922DD406E0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5FBAA1-FACF-662B-492C-31F507AD07B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4FC798-0030-B3A0-2693-D7B97C0056E2}"/>
              </a:ext>
            </a:extLst>
          </p:cNvPr>
          <p:cNvSpPr>
            <a:spLocks noGrp="1"/>
          </p:cNvSpPr>
          <p:nvPr>
            <p:ph type="sldNum" sz="quarter" idx="5"/>
          </p:nvPr>
        </p:nvSpPr>
        <p:spPr/>
        <p:txBody>
          <a:bodyPr/>
          <a:lstStyle/>
          <a:p>
            <a:fld id="{03E82302-88AF-44E8-8A3E-767AB573BF44}" type="slidenum">
              <a:rPr lang="en-US" smtClean="0"/>
              <a:t>6</a:t>
            </a:fld>
            <a:endParaRPr lang="en-US"/>
          </a:p>
        </p:txBody>
      </p:sp>
    </p:spTree>
    <p:extLst>
      <p:ext uri="{BB962C8B-B14F-4D97-AF65-F5344CB8AC3E}">
        <p14:creationId xmlns:p14="http://schemas.microsoft.com/office/powerpoint/2010/main" val="6080576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8CEAF-30BC-8284-FB82-5B752BEBD9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AA01F1-DCC0-E4CA-5891-DEF5A4D8DE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988186-CBC3-378D-85B8-760FB96BC32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E9742D3-06C2-C439-5549-277EA9D340E5}"/>
              </a:ext>
            </a:extLst>
          </p:cNvPr>
          <p:cNvSpPr>
            <a:spLocks noGrp="1"/>
          </p:cNvSpPr>
          <p:nvPr>
            <p:ph type="sldNum" sz="quarter" idx="5"/>
          </p:nvPr>
        </p:nvSpPr>
        <p:spPr/>
        <p:txBody>
          <a:bodyPr/>
          <a:lstStyle/>
          <a:p>
            <a:fld id="{03E82302-88AF-44E8-8A3E-767AB573BF44}" type="slidenum">
              <a:rPr lang="en-US" smtClean="0"/>
              <a:t>7</a:t>
            </a:fld>
            <a:endParaRPr lang="en-US"/>
          </a:p>
        </p:txBody>
      </p:sp>
    </p:spTree>
    <p:extLst>
      <p:ext uri="{BB962C8B-B14F-4D97-AF65-F5344CB8AC3E}">
        <p14:creationId xmlns:p14="http://schemas.microsoft.com/office/powerpoint/2010/main" val="42039894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A5FBFD-CD7D-4EF0-B5B2-81E764C1A7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165E78-E199-D5C2-CE11-C650A195B69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A37D46-9EB2-A4DE-FC31-FDBF0E55151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49D8EB0-F630-7BB6-CF5A-88FF6FD33DDF}"/>
              </a:ext>
            </a:extLst>
          </p:cNvPr>
          <p:cNvSpPr>
            <a:spLocks noGrp="1"/>
          </p:cNvSpPr>
          <p:nvPr>
            <p:ph type="sldNum" sz="quarter" idx="5"/>
          </p:nvPr>
        </p:nvSpPr>
        <p:spPr/>
        <p:txBody>
          <a:bodyPr/>
          <a:lstStyle/>
          <a:p>
            <a:fld id="{03E82302-88AF-44E8-8A3E-767AB573BF44}" type="slidenum">
              <a:rPr lang="en-US" smtClean="0"/>
              <a:t>8</a:t>
            </a:fld>
            <a:endParaRPr lang="en-US"/>
          </a:p>
        </p:txBody>
      </p:sp>
    </p:spTree>
    <p:extLst>
      <p:ext uri="{BB962C8B-B14F-4D97-AF65-F5344CB8AC3E}">
        <p14:creationId xmlns:p14="http://schemas.microsoft.com/office/powerpoint/2010/main" val="6907718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0C0439-7A52-5837-1185-1C501F7DEA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F8F342-14D5-0DD9-1CF4-DAB1D62CF0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53D24D-B41A-5BEA-A7E3-532BCAD747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8EF24EC-C9B8-51D9-8D7A-2DA16CDB5AAD}"/>
              </a:ext>
            </a:extLst>
          </p:cNvPr>
          <p:cNvSpPr>
            <a:spLocks noGrp="1"/>
          </p:cNvSpPr>
          <p:nvPr>
            <p:ph type="sldNum" sz="quarter" idx="5"/>
          </p:nvPr>
        </p:nvSpPr>
        <p:spPr/>
        <p:txBody>
          <a:bodyPr/>
          <a:lstStyle/>
          <a:p>
            <a:fld id="{03E82302-88AF-44E8-8A3E-767AB573BF44}" type="slidenum">
              <a:rPr lang="en-US" smtClean="0"/>
              <a:t>9</a:t>
            </a:fld>
            <a:endParaRPr lang="en-US"/>
          </a:p>
        </p:txBody>
      </p:sp>
    </p:spTree>
    <p:extLst>
      <p:ext uri="{BB962C8B-B14F-4D97-AF65-F5344CB8AC3E}">
        <p14:creationId xmlns:p14="http://schemas.microsoft.com/office/powerpoint/2010/main" val="12771435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964138-74D9-9F62-8DB0-EF76BE0E8D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2228581-0CA0-9417-02C1-853E606B74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9EEFF6-E793-D59B-4D66-128ED63999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9DCD1C-F3B4-8FFE-EF0E-2CC07923DE2B}"/>
              </a:ext>
            </a:extLst>
          </p:cNvPr>
          <p:cNvSpPr>
            <a:spLocks noGrp="1"/>
          </p:cNvSpPr>
          <p:nvPr>
            <p:ph type="sldNum" sz="quarter" idx="5"/>
          </p:nvPr>
        </p:nvSpPr>
        <p:spPr/>
        <p:txBody>
          <a:bodyPr/>
          <a:lstStyle/>
          <a:p>
            <a:fld id="{03E82302-88AF-44E8-8A3E-767AB573BF44}" type="slidenum">
              <a:rPr lang="en-US" smtClean="0"/>
              <a:t>10</a:t>
            </a:fld>
            <a:endParaRPr lang="en-US"/>
          </a:p>
        </p:txBody>
      </p:sp>
    </p:spTree>
    <p:extLst>
      <p:ext uri="{BB962C8B-B14F-4D97-AF65-F5344CB8AC3E}">
        <p14:creationId xmlns:p14="http://schemas.microsoft.com/office/powerpoint/2010/main" val="32420055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094FD-F743-5F3D-3F6F-E49818D9B6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0FDDB8-D4C5-3938-1DC3-505D8B6D72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5CD64A-9D67-9940-1100-6F868EFE47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5AA963-C3DB-1D60-4A33-7659DF2F739B}"/>
              </a:ext>
            </a:extLst>
          </p:cNvPr>
          <p:cNvSpPr>
            <a:spLocks noGrp="1"/>
          </p:cNvSpPr>
          <p:nvPr>
            <p:ph type="sldNum" sz="quarter" idx="5"/>
          </p:nvPr>
        </p:nvSpPr>
        <p:spPr/>
        <p:txBody>
          <a:bodyPr/>
          <a:lstStyle/>
          <a:p>
            <a:fld id="{03E82302-88AF-44E8-8A3E-767AB573BF44}" type="slidenum">
              <a:rPr lang="en-US" smtClean="0"/>
              <a:t>11</a:t>
            </a:fld>
            <a:endParaRPr lang="en-US"/>
          </a:p>
        </p:txBody>
      </p:sp>
    </p:spTree>
    <p:extLst>
      <p:ext uri="{BB962C8B-B14F-4D97-AF65-F5344CB8AC3E}">
        <p14:creationId xmlns:p14="http://schemas.microsoft.com/office/powerpoint/2010/main" val="3578041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B9B90F-56E9-F396-649D-07E7A1D13FA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E254FA5-029F-C96E-477C-E76D066B76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3EB2CBA-A63C-5030-F8E3-B307278A835E}"/>
              </a:ext>
            </a:extLst>
          </p:cNvPr>
          <p:cNvSpPr>
            <a:spLocks noGrp="1"/>
          </p:cNvSpPr>
          <p:nvPr>
            <p:ph type="dt" sz="half" idx="10"/>
          </p:nvPr>
        </p:nvSpPr>
        <p:spPr/>
        <p:txBody>
          <a:bodyPr/>
          <a:lstStyle/>
          <a:p>
            <a:fld id="{786EC0D6-FF5E-4D3A-B129-D3E68F56D82B}" type="datetimeFigureOut">
              <a:rPr lang="en-US" smtClean="0"/>
              <a:t>9/14/2025</a:t>
            </a:fld>
            <a:endParaRPr lang="en-US"/>
          </a:p>
        </p:txBody>
      </p:sp>
      <p:sp>
        <p:nvSpPr>
          <p:cNvPr id="5" name="Footer Placeholder 4">
            <a:extLst>
              <a:ext uri="{FF2B5EF4-FFF2-40B4-BE49-F238E27FC236}">
                <a16:creationId xmlns:a16="http://schemas.microsoft.com/office/drawing/2014/main" id="{98F3BE39-CEDF-AA10-5C10-CC945B8113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FDF678-2610-98A6-B595-CEF096DC86B0}"/>
              </a:ext>
            </a:extLst>
          </p:cNvPr>
          <p:cNvSpPr>
            <a:spLocks noGrp="1"/>
          </p:cNvSpPr>
          <p:nvPr>
            <p:ph type="sldNum" sz="quarter" idx="12"/>
          </p:nvPr>
        </p:nvSpPr>
        <p:spPr/>
        <p:txBody>
          <a:bodyPr/>
          <a:lstStyle/>
          <a:p>
            <a:fld id="{E1DEE177-6C73-4F5E-AA7C-220367A0D5E8}" type="slidenum">
              <a:rPr lang="en-US" smtClean="0"/>
              <a:t>‹#›</a:t>
            </a:fld>
            <a:endParaRPr lang="en-US"/>
          </a:p>
        </p:txBody>
      </p:sp>
    </p:spTree>
    <p:extLst>
      <p:ext uri="{BB962C8B-B14F-4D97-AF65-F5344CB8AC3E}">
        <p14:creationId xmlns:p14="http://schemas.microsoft.com/office/powerpoint/2010/main" val="5893044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26030A-F257-DDE9-A1A9-33315C27A4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BDB6816-BB0F-28A3-4D60-FF5D74C3BB6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1509BAE-4193-1444-A9D7-D32AB0704B5F}"/>
              </a:ext>
            </a:extLst>
          </p:cNvPr>
          <p:cNvSpPr>
            <a:spLocks noGrp="1"/>
          </p:cNvSpPr>
          <p:nvPr>
            <p:ph type="dt" sz="half" idx="10"/>
          </p:nvPr>
        </p:nvSpPr>
        <p:spPr/>
        <p:txBody>
          <a:bodyPr/>
          <a:lstStyle/>
          <a:p>
            <a:fld id="{786EC0D6-FF5E-4D3A-B129-D3E68F56D82B}" type="datetimeFigureOut">
              <a:rPr lang="en-US" smtClean="0"/>
              <a:t>9/14/2025</a:t>
            </a:fld>
            <a:endParaRPr lang="en-US"/>
          </a:p>
        </p:txBody>
      </p:sp>
      <p:sp>
        <p:nvSpPr>
          <p:cNvPr id="5" name="Footer Placeholder 4">
            <a:extLst>
              <a:ext uri="{FF2B5EF4-FFF2-40B4-BE49-F238E27FC236}">
                <a16:creationId xmlns:a16="http://schemas.microsoft.com/office/drawing/2014/main" id="{58F5C619-E022-DB2D-C125-A9FEA53D80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D7D4C6-E136-D6F9-0E57-9587C23A305A}"/>
              </a:ext>
            </a:extLst>
          </p:cNvPr>
          <p:cNvSpPr>
            <a:spLocks noGrp="1"/>
          </p:cNvSpPr>
          <p:nvPr>
            <p:ph type="sldNum" sz="quarter" idx="12"/>
          </p:nvPr>
        </p:nvSpPr>
        <p:spPr/>
        <p:txBody>
          <a:bodyPr/>
          <a:lstStyle/>
          <a:p>
            <a:fld id="{E1DEE177-6C73-4F5E-AA7C-220367A0D5E8}" type="slidenum">
              <a:rPr lang="en-US" smtClean="0"/>
              <a:t>‹#›</a:t>
            </a:fld>
            <a:endParaRPr lang="en-US"/>
          </a:p>
        </p:txBody>
      </p:sp>
    </p:spTree>
    <p:extLst>
      <p:ext uri="{BB962C8B-B14F-4D97-AF65-F5344CB8AC3E}">
        <p14:creationId xmlns:p14="http://schemas.microsoft.com/office/powerpoint/2010/main" val="18965991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4EA04E-B799-94A6-2809-7830203FEC3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1C6335B-0661-DD83-748A-24E9BADF386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FB29E9B-9DF4-84E9-0527-F03B0CE45F88}"/>
              </a:ext>
            </a:extLst>
          </p:cNvPr>
          <p:cNvSpPr>
            <a:spLocks noGrp="1"/>
          </p:cNvSpPr>
          <p:nvPr>
            <p:ph type="dt" sz="half" idx="10"/>
          </p:nvPr>
        </p:nvSpPr>
        <p:spPr/>
        <p:txBody>
          <a:bodyPr/>
          <a:lstStyle/>
          <a:p>
            <a:fld id="{786EC0D6-FF5E-4D3A-B129-D3E68F56D82B}" type="datetimeFigureOut">
              <a:rPr lang="en-US" smtClean="0"/>
              <a:t>9/14/2025</a:t>
            </a:fld>
            <a:endParaRPr lang="en-US"/>
          </a:p>
        </p:txBody>
      </p:sp>
      <p:sp>
        <p:nvSpPr>
          <p:cNvPr id="5" name="Footer Placeholder 4">
            <a:extLst>
              <a:ext uri="{FF2B5EF4-FFF2-40B4-BE49-F238E27FC236}">
                <a16:creationId xmlns:a16="http://schemas.microsoft.com/office/drawing/2014/main" id="{454A1665-7990-E179-D783-7735D0AD78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596311-D077-86EF-58C0-CC5D337833F7}"/>
              </a:ext>
            </a:extLst>
          </p:cNvPr>
          <p:cNvSpPr>
            <a:spLocks noGrp="1"/>
          </p:cNvSpPr>
          <p:nvPr>
            <p:ph type="sldNum" sz="quarter" idx="12"/>
          </p:nvPr>
        </p:nvSpPr>
        <p:spPr/>
        <p:txBody>
          <a:bodyPr/>
          <a:lstStyle/>
          <a:p>
            <a:fld id="{E1DEE177-6C73-4F5E-AA7C-220367A0D5E8}" type="slidenum">
              <a:rPr lang="en-US" smtClean="0"/>
              <a:t>‹#›</a:t>
            </a:fld>
            <a:endParaRPr lang="en-US"/>
          </a:p>
        </p:txBody>
      </p:sp>
    </p:spTree>
    <p:extLst>
      <p:ext uri="{BB962C8B-B14F-4D97-AF65-F5344CB8AC3E}">
        <p14:creationId xmlns:p14="http://schemas.microsoft.com/office/powerpoint/2010/main" val="3274960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A1F79-D5A8-3F36-2779-0303650354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B20C6E-BAF4-D2B6-2200-5B1D3EB1FB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D0088B7-609E-8477-BF18-E435CA346A6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8DD4FCA-E65F-144C-2343-4EE03A667F9A}"/>
              </a:ext>
            </a:extLst>
          </p:cNvPr>
          <p:cNvSpPr>
            <a:spLocks noGrp="1"/>
          </p:cNvSpPr>
          <p:nvPr>
            <p:ph type="dt" sz="half" idx="10"/>
          </p:nvPr>
        </p:nvSpPr>
        <p:spPr/>
        <p:txBody>
          <a:bodyPr/>
          <a:lstStyle/>
          <a:p>
            <a:fld id="{786EC0D6-FF5E-4D3A-B129-D3E68F56D82B}" type="datetimeFigureOut">
              <a:rPr lang="en-US" smtClean="0"/>
              <a:t>9/14/2025</a:t>
            </a:fld>
            <a:endParaRPr lang="en-US"/>
          </a:p>
        </p:txBody>
      </p:sp>
      <p:sp>
        <p:nvSpPr>
          <p:cNvPr id="6" name="Footer Placeholder 5">
            <a:extLst>
              <a:ext uri="{FF2B5EF4-FFF2-40B4-BE49-F238E27FC236}">
                <a16:creationId xmlns:a16="http://schemas.microsoft.com/office/drawing/2014/main" id="{08ABCF3B-4A2A-18E2-362A-B3B4FA8D67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858122D-5FF4-D9B8-4661-BD80C9F64B5F}"/>
              </a:ext>
            </a:extLst>
          </p:cNvPr>
          <p:cNvSpPr>
            <a:spLocks noGrp="1"/>
          </p:cNvSpPr>
          <p:nvPr>
            <p:ph type="sldNum" sz="quarter" idx="12"/>
          </p:nvPr>
        </p:nvSpPr>
        <p:spPr/>
        <p:txBody>
          <a:bodyPr/>
          <a:lstStyle/>
          <a:p>
            <a:fld id="{E1DEE177-6C73-4F5E-AA7C-220367A0D5E8}" type="slidenum">
              <a:rPr lang="en-US" smtClean="0"/>
              <a:t>‹#›</a:t>
            </a:fld>
            <a:endParaRPr lang="en-US"/>
          </a:p>
        </p:txBody>
      </p:sp>
    </p:spTree>
    <p:extLst>
      <p:ext uri="{BB962C8B-B14F-4D97-AF65-F5344CB8AC3E}">
        <p14:creationId xmlns:p14="http://schemas.microsoft.com/office/powerpoint/2010/main" val="13385724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DAAD8-F77D-BBE9-7916-4D1939CE95A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4D5C394-B2ED-FBA6-084B-D27593D773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6931A28-5C65-3EE7-46DA-9F031B16853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9D0B94F-C443-57C6-E112-CCA4E42A33E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1D2C072-CB48-B9B1-35EE-8FA4BEFC4A3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A671E0C-90C2-AA43-A6F1-1BD9F2C50A82}"/>
              </a:ext>
            </a:extLst>
          </p:cNvPr>
          <p:cNvSpPr>
            <a:spLocks noGrp="1"/>
          </p:cNvSpPr>
          <p:nvPr>
            <p:ph type="dt" sz="half" idx="10"/>
          </p:nvPr>
        </p:nvSpPr>
        <p:spPr/>
        <p:txBody>
          <a:bodyPr/>
          <a:lstStyle/>
          <a:p>
            <a:fld id="{786EC0D6-FF5E-4D3A-B129-D3E68F56D82B}" type="datetimeFigureOut">
              <a:rPr lang="en-US" smtClean="0"/>
              <a:t>9/14/2025</a:t>
            </a:fld>
            <a:endParaRPr lang="en-US"/>
          </a:p>
        </p:txBody>
      </p:sp>
      <p:sp>
        <p:nvSpPr>
          <p:cNvPr id="8" name="Footer Placeholder 7">
            <a:extLst>
              <a:ext uri="{FF2B5EF4-FFF2-40B4-BE49-F238E27FC236}">
                <a16:creationId xmlns:a16="http://schemas.microsoft.com/office/drawing/2014/main" id="{3E86DF41-18B5-06E0-F83B-2EC37DCAF83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0E71A6-283D-06D6-D426-4F8597A7C7F6}"/>
              </a:ext>
            </a:extLst>
          </p:cNvPr>
          <p:cNvSpPr>
            <a:spLocks noGrp="1"/>
          </p:cNvSpPr>
          <p:nvPr>
            <p:ph type="sldNum" sz="quarter" idx="12"/>
          </p:nvPr>
        </p:nvSpPr>
        <p:spPr/>
        <p:txBody>
          <a:bodyPr/>
          <a:lstStyle/>
          <a:p>
            <a:fld id="{E1DEE177-6C73-4F5E-AA7C-220367A0D5E8}" type="slidenum">
              <a:rPr lang="en-US" smtClean="0"/>
              <a:t>‹#›</a:t>
            </a:fld>
            <a:endParaRPr lang="en-US"/>
          </a:p>
        </p:txBody>
      </p:sp>
    </p:spTree>
    <p:extLst>
      <p:ext uri="{BB962C8B-B14F-4D97-AF65-F5344CB8AC3E}">
        <p14:creationId xmlns:p14="http://schemas.microsoft.com/office/powerpoint/2010/main" val="3450006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B65DB7-F235-0300-74DF-D14F54236D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9BA6C3A-14E3-6830-E629-DF5CECB24637}"/>
              </a:ext>
            </a:extLst>
          </p:cNvPr>
          <p:cNvSpPr>
            <a:spLocks noGrp="1"/>
          </p:cNvSpPr>
          <p:nvPr>
            <p:ph type="dt" sz="half" idx="10"/>
          </p:nvPr>
        </p:nvSpPr>
        <p:spPr/>
        <p:txBody>
          <a:bodyPr/>
          <a:lstStyle/>
          <a:p>
            <a:fld id="{786EC0D6-FF5E-4D3A-B129-D3E68F56D82B}" type="datetimeFigureOut">
              <a:rPr lang="en-US" smtClean="0"/>
              <a:t>9/14/2025</a:t>
            </a:fld>
            <a:endParaRPr lang="en-US"/>
          </a:p>
        </p:txBody>
      </p:sp>
      <p:sp>
        <p:nvSpPr>
          <p:cNvPr id="4" name="Footer Placeholder 3">
            <a:extLst>
              <a:ext uri="{FF2B5EF4-FFF2-40B4-BE49-F238E27FC236}">
                <a16:creationId xmlns:a16="http://schemas.microsoft.com/office/drawing/2014/main" id="{A89DC6A9-B110-82D1-4303-3A25385609F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80408F-6D11-C05C-9640-7AD3B33AF3F9}"/>
              </a:ext>
            </a:extLst>
          </p:cNvPr>
          <p:cNvSpPr>
            <a:spLocks noGrp="1"/>
          </p:cNvSpPr>
          <p:nvPr>
            <p:ph type="sldNum" sz="quarter" idx="12"/>
          </p:nvPr>
        </p:nvSpPr>
        <p:spPr/>
        <p:txBody>
          <a:bodyPr/>
          <a:lstStyle/>
          <a:p>
            <a:fld id="{E1DEE177-6C73-4F5E-AA7C-220367A0D5E8}" type="slidenum">
              <a:rPr lang="en-US" smtClean="0"/>
              <a:t>‹#›</a:t>
            </a:fld>
            <a:endParaRPr lang="en-US"/>
          </a:p>
        </p:txBody>
      </p:sp>
    </p:spTree>
    <p:extLst>
      <p:ext uri="{BB962C8B-B14F-4D97-AF65-F5344CB8AC3E}">
        <p14:creationId xmlns:p14="http://schemas.microsoft.com/office/powerpoint/2010/main" val="187439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E83B403-8897-EF2F-4627-6CF004951288}"/>
              </a:ext>
            </a:extLst>
          </p:cNvPr>
          <p:cNvSpPr>
            <a:spLocks noGrp="1"/>
          </p:cNvSpPr>
          <p:nvPr>
            <p:ph type="dt" sz="half" idx="10"/>
          </p:nvPr>
        </p:nvSpPr>
        <p:spPr/>
        <p:txBody>
          <a:bodyPr/>
          <a:lstStyle/>
          <a:p>
            <a:fld id="{786EC0D6-FF5E-4D3A-B129-D3E68F56D82B}" type="datetimeFigureOut">
              <a:rPr lang="en-US" smtClean="0"/>
              <a:t>9/14/2025</a:t>
            </a:fld>
            <a:endParaRPr lang="en-US"/>
          </a:p>
        </p:txBody>
      </p:sp>
      <p:sp>
        <p:nvSpPr>
          <p:cNvPr id="3" name="Footer Placeholder 2">
            <a:extLst>
              <a:ext uri="{FF2B5EF4-FFF2-40B4-BE49-F238E27FC236}">
                <a16:creationId xmlns:a16="http://schemas.microsoft.com/office/drawing/2014/main" id="{BA31289D-8FAC-B3F4-D90E-10D8D696FF3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6C051E2-FC33-9FE3-16E9-B29C005C5313}"/>
              </a:ext>
            </a:extLst>
          </p:cNvPr>
          <p:cNvSpPr>
            <a:spLocks noGrp="1"/>
          </p:cNvSpPr>
          <p:nvPr>
            <p:ph type="sldNum" sz="quarter" idx="12"/>
          </p:nvPr>
        </p:nvSpPr>
        <p:spPr/>
        <p:txBody>
          <a:bodyPr/>
          <a:lstStyle/>
          <a:p>
            <a:fld id="{E1DEE177-6C73-4F5E-AA7C-220367A0D5E8}" type="slidenum">
              <a:rPr lang="en-US" smtClean="0"/>
              <a:t>‹#›</a:t>
            </a:fld>
            <a:endParaRPr lang="en-US"/>
          </a:p>
        </p:txBody>
      </p:sp>
    </p:spTree>
    <p:extLst>
      <p:ext uri="{BB962C8B-B14F-4D97-AF65-F5344CB8AC3E}">
        <p14:creationId xmlns:p14="http://schemas.microsoft.com/office/powerpoint/2010/main" val="2490139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3458B-7AC5-0723-0483-E05AD80170F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C8DBC43-C89F-3598-48EC-E818F3D978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E290574-63A5-6675-B12E-9FF002581F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F52B1C-F7E4-20BA-9763-FEA279E41516}"/>
              </a:ext>
            </a:extLst>
          </p:cNvPr>
          <p:cNvSpPr>
            <a:spLocks noGrp="1"/>
          </p:cNvSpPr>
          <p:nvPr>
            <p:ph type="dt" sz="half" idx="10"/>
          </p:nvPr>
        </p:nvSpPr>
        <p:spPr/>
        <p:txBody>
          <a:bodyPr/>
          <a:lstStyle/>
          <a:p>
            <a:fld id="{786EC0D6-FF5E-4D3A-B129-D3E68F56D82B}" type="datetimeFigureOut">
              <a:rPr lang="en-US" smtClean="0"/>
              <a:t>9/14/2025</a:t>
            </a:fld>
            <a:endParaRPr lang="en-US"/>
          </a:p>
        </p:txBody>
      </p:sp>
      <p:sp>
        <p:nvSpPr>
          <p:cNvPr id="6" name="Footer Placeholder 5">
            <a:extLst>
              <a:ext uri="{FF2B5EF4-FFF2-40B4-BE49-F238E27FC236}">
                <a16:creationId xmlns:a16="http://schemas.microsoft.com/office/drawing/2014/main" id="{8130003E-B6DA-FD86-EF93-398C0A47A74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ECB8A3-1744-AB71-5D37-79BA78F8B21A}"/>
              </a:ext>
            </a:extLst>
          </p:cNvPr>
          <p:cNvSpPr>
            <a:spLocks noGrp="1"/>
          </p:cNvSpPr>
          <p:nvPr>
            <p:ph type="sldNum" sz="quarter" idx="12"/>
          </p:nvPr>
        </p:nvSpPr>
        <p:spPr/>
        <p:txBody>
          <a:bodyPr/>
          <a:lstStyle/>
          <a:p>
            <a:fld id="{E1DEE177-6C73-4F5E-AA7C-220367A0D5E8}" type="slidenum">
              <a:rPr lang="en-US" smtClean="0"/>
              <a:t>‹#›</a:t>
            </a:fld>
            <a:endParaRPr lang="en-US"/>
          </a:p>
        </p:txBody>
      </p:sp>
    </p:spTree>
    <p:extLst>
      <p:ext uri="{BB962C8B-B14F-4D97-AF65-F5344CB8AC3E}">
        <p14:creationId xmlns:p14="http://schemas.microsoft.com/office/powerpoint/2010/main" val="32413055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61433-D943-3761-1037-D43CB5D1E8F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EAEC9CF-5E1B-B76A-2DE2-C35F52CC28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48E0755-0F2D-CA55-7F8A-039D93DDCDC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76ECD3F-31A2-0100-E3F7-8061FAD22269}"/>
              </a:ext>
            </a:extLst>
          </p:cNvPr>
          <p:cNvSpPr>
            <a:spLocks noGrp="1"/>
          </p:cNvSpPr>
          <p:nvPr>
            <p:ph type="dt" sz="half" idx="10"/>
          </p:nvPr>
        </p:nvSpPr>
        <p:spPr/>
        <p:txBody>
          <a:bodyPr/>
          <a:lstStyle/>
          <a:p>
            <a:fld id="{786EC0D6-FF5E-4D3A-B129-D3E68F56D82B}" type="datetimeFigureOut">
              <a:rPr lang="en-US" smtClean="0"/>
              <a:t>9/14/2025</a:t>
            </a:fld>
            <a:endParaRPr lang="en-US"/>
          </a:p>
        </p:txBody>
      </p:sp>
      <p:sp>
        <p:nvSpPr>
          <p:cNvPr id="6" name="Footer Placeholder 5">
            <a:extLst>
              <a:ext uri="{FF2B5EF4-FFF2-40B4-BE49-F238E27FC236}">
                <a16:creationId xmlns:a16="http://schemas.microsoft.com/office/drawing/2014/main" id="{C02A1738-4890-E13B-D704-B408A5B871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567C49-1CF3-D85D-E494-DA26A705B1DF}"/>
              </a:ext>
            </a:extLst>
          </p:cNvPr>
          <p:cNvSpPr>
            <a:spLocks noGrp="1"/>
          </p:cNvSpPr>
          <p:nvPr>
            <p:ph type="sldNum" sz="quarter" idx="12"/>
          </p:nvPr>
        </p:nvSpPr>
        <p:spPr/>
        <p:txBody>
          <a:bodyPr/>
          <a:lstStyle/>
          <a:p>
            <a:fld id="{E1DEE177-6C73-4F5E-AA7C-220367A0D5E8}" type="slidenum">
              <a:rPr lang="en-US" smtClean="0"/>
              <a:t>‹#›</a:t>
            </a:fld>
            <a:endParaRPr lang="en-US"/>
          </a:p>
        </p:txBody>
      </p:sp>
    </p:spTree>
    <p:extLst>
      <p:ext uri="{BB962C8B-B14F-4D97-AF65-F5344CB8AC3E}">
        <p14:creationId xmlns:p14="http://schemas.microsoft.com/office/powerpoint/2010/main" val="6232424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4A9094-5B6C-AAEB-FEA2-99D91E06ED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69C02A1-03DD-6299-22A4-217D42E566E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B93604-9DFE-5EB4-8D23-D9B03BEEA188}"/>
              </a:ext>
            </a:extLst>
          </p:cNvPr>
          <p:cNvSpPr>
            <a:spLocks noGrp="1"/>
          </p:cNvSpPr>
          <p:nvPr>
            <p:ph type="dt" sz="half" idx="10"/>
          </p:nvPr>
        </p:nvSpPr>
        <p:spPr/>
        <p:txBody>
          <a:bodyPr/>
          <a:lstStyle/>
          <a:p>
            <a:fld id="{786EC0D6-FF5E-4D3A-B129-D3E68F56D82B}" type="datetimeFigureOut">
              <a:rPr lang="en-US" smtClean="0"/>
              <a:t>9/14/2025</a:t>
            </a:fld>
            <a:endParaRPr lang="en-US"/>
          </a:p>
        </p:txBody>
      </p:sp>
      <p:sp>
        <p:nvSpPr>
          <p:cNvPr id="5" name="Footer Placeholder 4">
            <a:extLst>
              <a:ext uri="{FF2B5EF4-FFF2-40B4-BE49-F238E27FC236}">
                <a16:creationId xmlns:a16="http://schemas.microsoft.com/office/drawing/2014/main" id="{8B9924DF-FE21-E53D-7A03-801BC059CF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4D58DE-D80B-6C96-7B0B-EE386806EBBE}"/>
              </a:ext>
            </a:extLst>
          </p:cNvPr>
          <p:cNvSpPr>
            <a:spLocks noGrp="1"/>
          </p:cNvSpPr>
          <p:nvPr>
            <p:ph type="sldNum" sz="quarter" idx="12"/>
          </p:nvPr>
        </p:nvSpPr>
        <p:spPr/>
        <p:txBody>
          <a:bodyPr/>
          <a:lstStyle/>
          <a:p>
            <a:fld id="{E1DEE177-6C73-4F5E-AA7C-220367A0D5E8}" type="slidenum">
              <a:rPr lang="en-US" smtClean="0"/>
              <a:t>‹#›</a:t>
            </a:fld>
            <a:endParaRPr lang="en-US"/>
          </a:p>
        </p:txBody>
      </p:sp>
    </p:spTree>
    <p:extLst>
      <p:ext uri="{BB962C8B-B14F-4D97-AF65-F5344CB8AC3E}">
        <p14:creationId xmlns:p14="http://schemas.microsoft.com/office/powerpoint/2010/main" val="39313304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2C201F3-077D-A4FA-6319-E2C6FD06C86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9126997-5273-F7E8-81AA-DABA8748C82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5C1B659-AEB1-B00B-1089-0A91200ECB19}"/>
              </a:ext>
            </a:extLst>
          </p:cNvPr>
          <p:cNvSpPr>
            <a:spLocks noGrp="1"/>
          </p:cNvSpPr>
          <p:nvPr>
            <p:ph type="dt" sz="half" idx="10"/>
          </p:nvPr>
        </p:nvSpPr>
        <p:spPr/>
        <p:txBody>
          <a:bodyPr/>
          <a:lstStyle/>
          <a:p>
            <a:fld id="{786EC0D6-FF5E-4D3A-B129-D3E68F56D82B}" type="datetimeFigureOut">
              <a:rPr lang="en-US" smtClean="0"/>
              <a:t>9/14/2025</a:t>
            </a:fld>
            <a:endParaRPr lang="en-US"/>
          </a:p>
        </p:txBody>
      </p:sp>
      <p:sp>
        <p:nvSpPr>
          <p:cNvPr id="5" name="Footer Placeholder 4">
            <a:extLst>
              <a:ext uri="{FF2B5EF4-FFF2-40B4-BE49-F238E27FC236}">
                <a16:creationId xmlns:a16="http://schemas.microsoft.com/office/drawing/2014/main" id="{36B241F4-58D5-C484-450D-54484A9A3B8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CBA740-ECE8-363E-AC29-3D27E6B438EB}"/>
              </a:ext>
            </a:extLst>
          </p:cNvPr>
          <p:cNvSpPr>
            <a:spLocks noGrp="1"/>
          </p:cNvSpPr>
          <p:nvPr>
            <p:ph type="sldNum" sz="quarter" idx="12"/>
          </p:nvPr>
        </p:nvSpPr>
        <p:spPr/>
        <p:txBody>
          <a:bodyPr/>
          <a:lstStyle/>
          <a:p>
            <a:fld id="{E1DEE177-6C73-4F5E-AA7C-220367A0D5E8}" type="slidenum">
              <a:rPr lang="en-US" smtClean="0"/>
              <a:t>‹#›</a:t>
            </a:fld>
            <a:endParaRPr lang="en-US"/>
          </a:p>
        </p:txBody>
      </p:sp>
    </p:spTree>
    <p:extLst>
      <p:ext uri="{BB962C8B-B14F-4D97-AF65-F5344CB8AC3E}">
        <p14:creationId xmlns:p14="http://schemas.microsoft.com/office/powerpoint/2010/main" val="3026697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CB1251-F404-5C1F-9500-B349E1164FD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8B04B8B-4314-92A7-E069-A1CF55EE893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DBA8A79-1BBA-F0B6-01BB-80E9FA314A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86EC0D6-FF5E-4D3A-B129-D3E68F56D82B}" type="datetimeFigureOut">
              <a:rPr lang="en-US" smtClean="0"/>
              <a:t>9/14/2025</a:t>
            </a:fld>
            <a:endParaRPr lang="en-US"/>
          </a:p>
        </p:txBody>
      </p:sp>
      <p:sp>
        <p:nvSpPr>
          <p:cNvPr id="5" name="Footer Placeholder 4">
            <a:extLst>
              <a:ext uri="{FF2B5EF4-FFF2-40B4-BE49-F238E27FC236}">
                <a16:creationId xmlns:a16="http://schemas.microsoft.com/office/drawing/2014/main" id="{6A36165D-A68D-D1B9-0BE6-69F33BF8B0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4B03046-1A45-7066-4A9B-9E971F72F91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1DEE177-6C73-4F5E-AA7C-220367A0D5E8}" type="slidenum">
              <a:rPr lang="en-US" smtClean="0"/>
              <a:t>‹#›</a:t>
            </a:fld>
            <a:endParaRPr lang="en-US"/>
          </a:p>
        </p:txBody>
      </p:sp>
    </p:spTree>
    <p:extLst>
      <p:ext uri="{BB962C8B-B14F-4D97-AF65-F5344CB8AC3E}">
        <p14:creationId xmlns:p14="http://schemas.microsoft.com/office/powerpoint/2010/main" val="8936197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7.png"/><Relationship Id="rId2" Type="http://schemas.openxmlformats.org/officeDocument/2006/relationships/audio" Target="../media/media4.m4a"/><Relationship Id="rId1" Type="http://schemas.microsoft.com/office/2007/relationships/media" Target="../media/media4.m4a"/><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6.m4a"/><Relationship Id="rId1" Type="http://schemas.microsoft.com/office/2007/relationships/media" Target="../media/media6.m4a"/><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2.xml"/><Relationship Id="rId7" Type="http://schemas.openxmlformats.org/officeDocument/2006/relationships/image" Target="../media/image14.png"/><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7" Type="http://schemas.openxmlformats.org/officeDocument/2006/relationships/image" Target="../media/image2.png"/><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8" Type="http://schemas.openxmlformats.org/officeDocument/2006/relationships/hyperlink" Target="https://www.tsmc.com/english/news-events/blog-article-20240926" TargetMode="External"/><Relationship Id="rId3" Type="http://schemas.openxmlformats.org/officeDocument/2006/relationships/slideLayout" Target="../slideLayouts/slideLayout2.xml"/><Relationship Id="rId7" Type="http://schemas.openxmlformats.org/officeDocument/2006/relationships/hyperlink" Target="https://medium.com/@preethishnananbotlagunta/reinforcement-learning-a-a18f9479" TargetMode="External"/><Relationship Id="rId2" Type="http://schemas.openxmlformats.org/officeDocument/2006/relationships/audio" Target="../media/media10.m4a"/><Relationship Id="rId1" Type="http://schemas.microsoft.com/office/2007/relationships/media" Target="../media/media10.m4a"/><Relationship Id="rId6" Type="http://schemas.openxmlformats.org/officeDocument/2006/relationships/hyperlink" Target="https://optimization-online.org/wp-content/uploads/2019/07/7320.pdf" TargetMode="External"/><Relationship Id="rId5" Type="http://schemas.openxmlformats.org/officeDocument/2006/relationships/hyperlink" Target="http://www.or.uni-bonn.de/~held/publications/sh_diss.pdf" TargetMode="External"/><Relationship Id="rId4" Type="http://schemas.openxmlformats.org/officeDocument/2006/relationships/notesSlide" Target="../notesSlides/notesSlide9.xml"/><Relationship Id="rId9" Type="http://schemas.openxmlformats.org/officeDocument/2006/relationships/image" Target="../media/image2.png"/></Relationships>
</file>

<file path=ppt/slides/_rels/slide11.xml.rels><?xml version="1.0" encoding="UTF-8" standalone="yes"?>
<Relationships xmlns="http://schemas.openxmlformats.org/package/2006/relationships"><Relationship Id="rId8" Type="http://schemas.openxmlformats.org/officeDocument/2006/relationships/hyperlink" Target="https://www.researchgate.net/figure/Flowchart-of-Benders-Decomposition_fig1_347880772" TargetMode="External"/><Relationship Id="rId3" Type="http://schemas.openxmlformats.org/officeDocument/2006/relationships/hyperlink" Target="https://users.eecs.northwestern.edu/~haizhou/357/lec2.pdf" TargetMode="External"/><Relationship Id="rId7" Type="http://schemas.openxmlformats.org/officeDocument/2006/relationships/hyperlink" Target="https://picture.iczhiku.com/resource/eetop/WHKDfRjygeqLPnbB.pdf" TargetMode="Externa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hyperlink" Target="http://vlsicad.eecs.umich.edu/KLMH/downloads/book/chapter7/chap7-111206.pdf" TargetMode="External"/><Relationship Id="rId5" Type="http://schemas.openxmlformats.org/officeDocument/2006/relationships/hyperlink" Target="https://www.physicaldesign4u.com/2020/02/placement.html" TargetMode="External"/><Relationship Id="rId10" Type="http://schemas.openxmlformats.org/officeDocument/2006/relationships/hyperlink" Target="https://semiengineering.com/a-new-approach-to-design-stage-layout-optimization-can-speed-time-to-tapeout-while-improving-power-management/" TargetMode="External"/><Relationship Id="rId4" Type="http://schemas.openxmlformats.org/officeDocument/2006/relationships/hyperlink" Target="https://limsk.ece.gatech.edu/course/ece6133/slides/floorplanning.pdf" TargetMode="External"/><Relationship Id="rId9" Type="http://schemas.openxmlformats.org/officeDocument/2006/relationships/hyperlink" Target="https://patents.google.com/patent/US8769470B2"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C43F0D3-BF4F-2E14-692A-712FCC936038}"/>
              </a:ext>
            </a:extLst>
          </p:cNvPr>
          <p:cNvPicPr>
            <a:picLocks noChangeAspect="1"/>
          </p:cNvPicPr>
          <p:nvPr/>
        </p:nvPicPr>
        <p:blipFill>
          <a:blip r:embed="rId5"/>
          <a:stretch>
            <a:fillRect/>
          </a:stretch>
        </p:blipFill>
        <p:spPr>
          <a:xfrm>
            <a:off x="353961" y="213710"/>
            <a:ext cx="11484077" cy="6430579"/>
          </a:xfrm>
          <a:prstGeom prst="rect">
            <a:avLst/>
          </a:prstGeom>
        </p:spPr>
      </p:pic>
      <p:sp>
        <p:nvSpPr>
          <p:cNvPr id="9" name="Title 1">
            <a:extLst>
              <a:ext uri="{FF2B5EF4-FFF2-40B4-BE49-F238E27FC236}">
                <a16:creationId xmlns:a16="http://schemas.microsoft.com/office/drawing/2014/main" id="{CB65108E-FCFE-8795-1127-7E19DD220575}"/>
              </a:ext>
            </a:extLst>
          </p:cNvPr>
          <p:cNvSpPr txBox="1">
            <a:spLocks/>
          </p:cNvSpPr>
          <p:nvPr/>
        </p:nvSpPr>
        <p:spPr>
          <a:xfrm>
            <a:off x="796412" y="685484"/>
            <a:ext cx="9144000" cy="848347"/>
          </a:xfrm>
          <a:prstGeom prst="rect">
            <a:avLst/>
          </a:prstGeom>
        </p:spPr>
        <p:txBody>
          <a:bodyPr vert="horz" lIns="91440" tIns="45720" rIns="91440" bIns="45720" rtlCol="0" anchor="ctr" anchorCtr="0">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sz="2700" b="1" dirty="0">
                <a:solidFill>
                  <a:schemeClr val="tx2">
                    <a:lumMod val="25000"/>
                    <a:lumOff val="75000"/>
                  </a:schemeClr>
                </a:solidFill>
                <a:latin typeface="Times New Roman" panose="02020603050405020304" pitchFamily="18" charset="0"/>
                <a:cs typeface="Times New Roman" panose="02020603050405020304" pitchFamily="18" charset="0"/>
              </a:rPr>
              <a:t>Reinforcing Innovation: RL Optimization for TSMC’s 2nm Chip Design</a:t>
            </a:r>
            <a:endParaRPr lang="en-US" dirty="0">
              <a:solidFill>
                <a:schemeClr val="tx2">
                  <a:lumMod val="25000"/>
                  <a:lumOff val="75000"/>
                </a:schemeClr>
              </a:solidFill>
            </a:endParaRPr>
          </a:p>
        </p:txBody>
      </p:sp>
      <p:sp>
        <p:nvSpPr>
          <p:cNvPr id="12" name="Subtitle 2">
            <a:extLst>
              <a:ext uri="{FF2B5EF4-FFF2-40B4-BE49-F238E27FC236}">
                <a16:creationId xmlns:a16="http://schemas.microsoft.com/office/drawing/2014/main" id="{00AD5536-2C58-F577-BA2B-DBF060AB7775}"/>
              </a:ext>
            </a:extLst>
          </p:cNvPr>
          <p:cNvSpPr>
            <a:spLocks noGrp="1"/>
          </p:cNvSpPr>
          <p:nvPr>
            <p:ph type="subTitle" idx="1"/>
          </p:nvPr>
        </p:nvSpPr>
        <p:spPr>
          <a:xfrm>
            <a:off x="5260259" y="2533522"/>
            <a:ext cx="5948515" cy="665162"/>
          </a:xfrm>
        </p:spPr>
        <p:txBody>
          <a:bodyPr anchor="ctr" anchorCtr="0">
            <a:normAutofit/>
          </a:bodyPr>
          <a:lstStyle/>
          <a:p>
            <a:r>
              <a:rPr lang="en-US" sz="1800" b="1" dirty="0">
                <a:solidFill>
                  <a:schemeClr val="tx2">
                    <a:lumMod val="25000"/>
                    <a:lumOff val="75000"/>
                  </a:schemeClr>
                </a:solidFill>
                <a:latin typeface="Times New Roman" panose="02020603050405020304" pitchFamily="18" charset="0"/>
                <a:cs typeface="Times New Roman" panose="02020603050405020304" pitchFamily="18" charset="0"/>
              </a:rPr>
              <a:t>Leveraging Reinforcement Learning in Physical Design for Advanced Nodes</a:t>
            </a:r>
          </a:p>
        </p:txBody>
      </p:sp>
      <p:sp>
        <p:nvSpPr>
          <p:cNvPr id="13" name="TextBox 12">
            <a:extLst>
              <a:ext uri="{FF2B5EF4-FFF2-40B4-BE49-F238E27FC236}">
                <a16:creationId xmlns:a16="http://schemas.microsoft.com/office/drawing/2014/main" id="{D970F9D2-1A54-B95A-AA3C-8BD2B8FA7B18}"/>
              </a:ext>
            </a:extLst>
          </p:cNvPr>
          <p:cNvSpPr txBox="1"/>
          <p:nvPr/>
        </p:nvSpPr>
        <p:spPr>
          <a:xfrm>
            <a:off x="580104" y="4579492"/>
            <a:ext cx="2566219" cy="523220"/>
          </a:xfrm>
          <a:prstGeom prst="rect">
            <a:avLst/>
          </a:prstGeom>
          <a:noFill/>
        </p:spPr>
        <p:txBody>
          <a:bodyPr wrap="square" rtlCol="0">
            <a:spAutoFit/>
          </a:bodyPr>
          <a:lstStyle/>
          <a:p>
            <a:pPr algn="ctr"/>
            <a:r>
              <a:rPr lang="en-US" sz="1400" b="1" dirty="0">
                <a:solidFill>
                  <a:schemeClr val="tx2">
                    <a:lumMod val="25000"/>
                    <a:lumOff val="75000"/>
                  </a:schemeClr>
                </a:solidFill>
                <a:latin typeface="Times New Roman" panose="02020603050405020304" pitchFamily="18" charset="0"/>
                <a:cs typeface="Times New Roman" panose="02020603050405020304" pitchFamily="18" charset="0"/>
              </a:rPr>
              <a:t>Randall Crawford</a:t>
            </a:r>
          </a:p>
          <a:p>
            <a:pPr algn="ctr"/>
            <a:r>
              <a:rPr lang="en-US" sz="1400" b="1" dirty="0">
                <a:solidFill>
                  <a:schemeClr val="tx2">
                    <a:lumMod val="25000"/>
                    <a:lumOff val="75000"/>
                  </a:schemeClr>
                </a:solidFill>
                <a:latin typeface="Times New Roman" panose="02020603050405020304" pitchFamily="18" charset="0"/>
                <a:cs typeface="Times New Roman" panose="02020603050405020304" pitchFamily="18" charset="0"/>
              </a:rPr>
              <a:t>September 14, 2025</a:t>
            </a:r>
          </a:p>
        </p:txBody>
      </p:sp>
      <p:pic>
        <p:nvPicPr>
          <p:cNvPr id="4" name="Audio 3">
            <a:hlinkClick r:id="" action="ppaction://media"/>
            <a:extLst>
              <a:ext uri="{FF2B5EF4-FFF2-40B4-BE49-F238E27FC236}">
                <a16:creationId xmlns:a16="http://schemas.microsoft.com/office/drawing/2014/main" id="{B47ADE67-301C-AFA4-6C09-66A13BF347FC}"/>
              </a:ext>
            </a:extLst>
          </p:cNvPr>
          <p:cNvPicPr>
            <a:picLocks noChangeAspect="1"/>
          </p:cNvPicPr>
          <p:nvPr>
            <a:audioFile r:link="rId2"/>
            <p:extLst>
              <p:ext uri="{DAA4B4D4-6D71-4841-9C94-3DE7FCFB9230}">
                <p14:media xmlns:p14="http://schemas.microsoft.com/office/powerpoint/2010/main" r:embed="rId1"/>
              </p:ext>
            </p:extLst>
          </p:nvPr>
        </p:nvPicPr>
        <p:blipFill>
          <a:blip r:embed="rId6"/>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544577222"/>
      </p:ext>
    </p:extLst>
  </p:cSld>
  <p:clrMapOvr>
    <a:masterClrMapping/>
  </p:clrMapOvr>
  <mc:AlternateContent xmlns:mc="http://schemas.openxmlformats.org/markup-compatibility/2006">
    <mc:Choice xmlns:p14="http://schemas.microsoft.com/office/powerpoint/2010/main" Requires="p14">
      <p:transition spd="slow" p14:dur="2000" advTm="25385"/>
    </mc:Choice>
    <mc:Fallback>
      <p:transition spd="slow" advTm="2538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D1C90-083C-3717-9AED-A13C2E881D7B}"/>
              </a:ext>
            </a:extLst>
          </p:cNvPr>
          <p:cNvSpPr>
            <a:spLocks noGrp="1"/>
          </p:cNvSpPr>
          <p:nvPr>
            <p:ph type="title"/>
          </p:nvPr>
        </p:nvSpPr>
        <p:spPr>
          <a:xfrm>
            <a:off x="838200" y="365125"/>
            <a:ext cx="10606548" cy="795081"/>
          </a:xfrm>
          <a:solidFill>
            <a:schemeClr val="accent1">
              <a:lumMod val="20000"/>
              <a:lumOff val="80000"/>
            </a:schemeClr>
          </a:solidFill>
        </p:spPr>
        <p:txBody>
          <a:bodyPr anchor="t" anchorCtr="1">
            <a:normAutofit fontScale="90000"/>
          </a:bodyPr>
          <a:lstStyle/>
          <a:p>
            <a:r>
              <a:rPr lang="en-US" sz="2700" b="1" dirty="0">
                <a:effectLst/>
                <a:latin typeface="Times New Roman" panose="02020603050405020304" pitchFamily="18" charset="0"/>
                <a:cs typeface="Times New Roman" panose="02020603050405020304" pitchFamily="18" charset="0"/>
              </a:rPr>
              <a:t>Reinforcement learning drives optimization across TSMC’s 2nm physical design domains.</a:t>
            </a:r>
            <a:br>
              <a:rPr lang="en-US" dirty="0">
                <a:effectLst/>
              </a:rPr>
            </a:br>
            <a:endParaRPr lang="en-US" dirty="0"/>
          </a:p>
        </p:txBody>
      </p:sp>
      <p:sp>
        <p:nvSpPr>
          <p:cNvPr id="5" name="TextBox 4">
            <a:extLst>
              <a:ext uri="{FF2B5EF4-FFF2-40B4-BE49-F238E27FC236}">
                <a16:creationId xmlns:a16="http://schemas.microsoft.com/office/drawing/2014/main" id="{1C318437-915F-B69D-C3D6-8059BB9CAD4D}"/>
              </a:ext>
            </a:extLst>
          </p:cNvPr>
          <p:cNvSpPr txBox="1"/>
          <p:nvPr/>
        </p:nvSpPr>
        <p:spPr>
          <a:xfrm>
            <a:off x="6292336" y="1531535"/>
            <a:ext cx="3618271"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Optimization Algorithmic Solution</a:t>
            </a:r>
          </a:p>
        </p:txBody>
      </p:sp>
      <p:sp>
        <p:nvSpPr>
          <p:cNvPr id="8" name="TextBox 7">
            <a:extLst>
              <a:ext uri="{FF2B5EF4-FFF2-40B4-BE49-F238E27FC236}">
                <a16:creationId xmlns:a16="http://schemas.microsoft.com/office/drawing/2014/main" id="{FB19AD78-C2C0-BBAF-0E3D-A6B50FA18002}"/>
              </a:ext>
            </a:extLst>
          </p:cNvPr>
          <p:cNvSpPr txBox="1"/>
          <p:nvPr/>
        </p:nvSpPr>
        <p:spPr>
          <a:xfrm>
            <a:off x="2438401" y="1531535"/>
            <a:ext cx="2733368"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Physical Design Domains</a:t>
            </a:r>
          </a:p>
        </p:txBody>
      </p:sp>
      <p:sp>
        <p:nvSpPr>
          <p:cNvPr id="9" name="Rectangle: Rounded Corners 8">
            <a:extLst>
              <a:ext uri="{FF2B5EF4-FFF2-40B4-BE49-F238E27FC236}">
                <a16:creationId xmlns:a16="http://schemas.microsoft.com/office/drawing/2014/main" id="{3706C134-6B59-349B-C118-35E008B2CB6D}"/>
              </a:ext>
            </a:extLst>
          </p:cNvPr>
          <p:cNvSpPr/>
          <p:nvPr/>
        </p:nvSpPr>
        <p:spPr>
          <a:xfrm>
            <a:off x="2551472" y="2023784"/>
            <a:ext cx="2507226" cy="338554"/>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Partitioning</a:t>
            </a:r>
          </a:p>
        </p:txBody>
      </p:sp>
      <p:sp>
        <p:nvSpPr>
          <p:cNvPr id="10" name="Rectangle: Rounded Corners 9">
            <a:extLst>
              <a:ext uri="{FF2B5EF4-FFF2-40B4-BE49-F238E27FC236}">
                <a16:creationId xmlns:a16="http://schemas.microsoft.com/office/drawing/2014/main" id="{A3AF70DD-9799-47FA-685C-8DD512BA2BD8}"/>
              </a:ext>
            </a:extLst>
          </p:cNvPr>
          <p:cNvSpPr/>
          <p:nvPr/>
        </p:nvSpPr>
        <p:spPr>
          <a:xfrm>
            <a:off x="2551472" y="2735797"/>
            <a:ext cx="2507226" cy="338554"/>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Floorplanning</a:t>
            </a:r>
          </a:p>
        </p:txBody>
      </p:sp>
      <p:sp>
        <p:nvSpPr>
          <p:cNvPr id="11" name="Rectangle: Rounded Corners 10">
            <a:extLst>
              <a:ext uri="{FF2B5EF4-FFF2-40B4-BE49-F238E27FC236}">
                <a16:creationId xmlns:a16="http://schemas.microsoft.com/office/drawing/2014/main" id="{854A6B6C-E340-A2C1-ED59-A9B7BDCB0AC7}"/>
              </a:ext>
            </a:extLst>
          </p:cNvPr>
          <p:cNvSpPr/>
          <p:nvPr/>
        </p:nvSpPr>
        <p:spPr>
          <a:xfrm>
            <a:off x="2551472" y="3457164"/>
            <a:ext cx="2507226" cy="338554"/>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Placement</a:t>
            </a:r>
          </a:p>
        </p:txBody>
      </p:sp>
      <p:sp>
        <p:nvSpPr>
          <p:cNvPr id="12" name="Rectangle: Rounded Corners 11">
            <a:extLst>
              <a:ext uri="{FF2B5EF4-FFF2-40B4-BE49-F238E27FC236}">
                <a16:creationId xmlns:a16="http://schemas.microsoft.com/office/drawing/2014/main" id="{BA7665AE-4E34-0EC8-884D-4CFD51385A58}"/>
              </a:ext>
            </a:extLst>
          </p:cNvPr>
          <p:cNvSpPr/>
          <p:nvPr/>
        </p:nvSpPr>
        <p:spPr>
          <a:xfrm>
            <a:off x="2551472" y="4178531"/>
            <a:ext cx="2507226" cy="338554"/>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Clock Tree Synthesis</a:t>
            </a:r>
          </a:p>
        </p:txBody>
      </p:sp>
      <p:sp>
        <p:nvSpPr>
          <p:cNvPr id="13" name="Rectangle: Rounded Corners 12">
            <a:extLst>
              <a:ext uri="{FF2B5EF4-FFF2-40B4-BE49-F238E27FC236}">
                <a16:creationId xmlns:a16="http://schemas.microsoft.com/office/drawing/2014/main" id="{185646F8-A8F2-E77C-78F2-6AA9D383CC9E}"/>
              </a:ext>
            </a:extLst>
          </p:cNvPr>
          <p:cNvSpPr/>
          <p:nvPr/>
        </p:nvSpPr>
        <p:spPr>
          <a:xfrm>
            <a:off x="2551472" y="4899898"/>
            <a:ext cx="2507226" cy="338554"/>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Signal Routing</a:t>
            </a:r>
          </a:p>
        </p:txBody>
      </p:sp>
      <p:sp>
        <p:nvSpPr>
          <p:cNvPr id="14" name="Rectangle: Rounded Corners 13">
            <a:extLst>
              <a:ext uri="{FF2B5EF4-FFF2-40B4-BE49-F238E27FC236}">
                <a16:creationId xmlns:a16="http://schemas.microsoft.com/office/drawing/2014/main" id="{191F1086-2608-4F7C-BDCF-3CBB0EE30069}"/>
              </a:ext>
            </a:extLst>
          </p:cNvPr>
          <p:cNvSpPr/>
          <p:nvPr/>
        </p:nvSpPr>
        <p:spPr>
          <a:xfrm>
            <a:off x="2551472" y="5621265"/>
            <a:ext cx="2507226" cy="338554"/>
          </a:xfrm>
          <a:prstGeom prst="round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Timing Closure</a:t>
            </a:r>
          </a:p>
        </p:txBody>
      </p:sp>
      <p:sp>
        <p:nvSpPr>
          <p:cNvPr id="15" name="Rectangle: Rounded Corners 14">
            <a:extLst>
              <a:ext uri="{FF2B5EF4-FFF2-40B4-BE49-F238E27FC236}">
                <a16:creationId xmlns:a16="http://schemas.microsoft.com/office/drawing/2014/main" id="{F9577E3C-B35C-608B-08D0-492F80ED3AC7}"/>
              </a:ext>
            </a:extLst>
          </p:cNvPr>
          <p:cNvSpPr/>
          <p:nvPr/>
        </p:nvSpPr>
        <p:spPr>
          <a:xfrm>
            <a:off x="6478843" y="3457164"/>
            <a:ext cx="3245260" cy="33855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Reinforcement Learning</a:t>
            </a:r>
          </a:p>
        </p:txBody>
      </p:sp>
      <p:sp>
        <p:nvSpPr>
          <p:cNvPr id="16" name="Rectangle: Rounded Corners 15">
            <a:extLst>
              <a:ext uri="{FF2B5EF4-FFF2-40B4-BE49-F238E27FC236}">
                <a16:creationId xmlns:a16="http://schemas.microsoft.com/office/drawing/2014/main" id="{908C3E56-2F0A-8D8E-5E44-5902D8003520}"/>
              </a:ext>
            </a:extLst>
          </p:cNvPr>
          <p:cNvSpPr/>
          <p:nvPr/>
        </p:nvSpPr>
        <p:spPr>
          <a:xfrm>
            <a:off x="6478842" y="5621265"/>
            <a:ext cx="3245261" cy="338554"/>
          </a:xfrm>
          <a:prstGeom prst="round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solidFill>
                  <a:schemeClr val="tx1"/>
                </a:solidFill>
                <a:latin typeface="Times New Roman" panose="02020603050405020304" pitchFamily="18" charset="0"/>
                <a:cs typeface="Times New Roman" panose="02020603050405020304" pitchFamily="18" charset="0"/>
              </a:rPr>
              <a:t>RL w/ Benders Decomposition</a:t>
            </a:r>
          </a:p>
        </p:txBody>
      </p:sp>
      <p:cxnSp>
        <p:nvCxnSpPr>
          <p:cNvPr id="18" name="Straight Connector 17">
            <a:extLst>
              <a:ext uri="{FF2B5EF4-FFF2-40B4-BE49-F238E27FC236}">
                <a16:creationId xmlns:a16="http://schemas.microsoft.com/office/drawing/2014/main" id="{3681CCA8-2212-BBB1-0E07-61B255B43686}"/>
              </a:ext>
            </a:extLst>
          </p:cNvPr>
          <p:cNvCxnSpPr>
            <a:cxnSpLocks/>
            <a:stCxn id="9" idx="3"/>
            <a:endCxn id="15" idx="1"/>
          </p:cNvCxnSpPr>
          <p:nvPr/>
        </p:nvCxnSpPr>
        <p:spPr>
          <a:xfrm>
            <a:off x="5058698" y="2193061"/>
            <a:ext cx="1420145" cy="143338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2B13418D-7B6C-E315-03AB-CC3048E29EBC}"/>
              </a:ext>
            </a:extLst>
          </p:cNvPr>
          <p:cNvCxnSpPr>
            <a:cxnSpLocks/>
            <a:stCxn id="10" idx="3"/>
            <a:endCxn id="15" idx="1"/>
          </p:cNvCxnSpPr>
          <p:nvPr/>
        </p:nvCxnSpPr>
        <p:spPr>
          <a:xfrm>
            <a:off x="5058698" y="2905074"/>
            <a:ext cx="1420145" cy="72136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2F43B8AD-D693-00C1-5EEB-F1650F709A67}"/>
              </a:ext>
            </a:extLst>
          </p:cNvPr>
          <p:cNvCxnSpPr>
            <a:cxnSpLocks/>
            <a:stCxn id="11" idx="3"/>
            <a:endCxn id="15" idx="1"/>
          </p:cNvCxnSpPr>
          <p:nvPr/>
        </p:nvCxnSpPr>
        <p:spPr>
          <a:xfrm>
            <a:off x="5058698" y="3626441"/>
            <a:ext cx="142014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3502873E-CC16-0E46-6450-600B794711F9}"/>
              </a:ext>
            </a:extLst>
          </p:cNvPr>
          <p:cNvCxnSpPr>
            <a:cxnSpLocks/>
            <a:stCxn id="12" idx="3"/>
            <a:endCxn id="15" idx="1"/>
          </p:cNvCxnSpPr>
          <p:nvPr/>
        </p:nvCxnSpPr>
        <p:spPr>
          <a:xfrm flipV="1">
            <a:off x="5058698" y="3626441"/>
            <a:ext cx="1420145" cy="72136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79123825-8225-7657-2F4B-2ABFFD03DF14}"/>
              </a:ext>
            </a:extLst>
          </p:cNvPr>
          <p:cNvCxnSpPr>
            <a:cxnSpLocks/>
            <a:stCxn id="13" idx="3"/>
            <a:endCxn id="15" idx="1"/>
          </p:cNvCxnSpPr>
          <p:nvPr/>
        </p:nvCxnSpPr>
        <p:spPr>
          <a:xfrm flipV="1">
            <a:off x="5058698" y="3626441"/>
            <a:ext cx="1420145" cy="1442734"/>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800A6136-7D5E-8011-E62E-B719DADBCC48}"/>
              </a:ext>
            </a:extLst>
          </p:cNvPr>
          <p:cNvCxnSpPr>
            <a:cxnSpLocks/>
            <a:stCxn id="14" idx="3"/>
            <a:endCxn id="16" idx="1"/>
          </p:cNvCxnSpPr>
          <p:nvPr/>
        </p:nvCxnSpPr>
        <p:spPr>
          <a:xfrm>
            <a:off x="5058698" y="5790542"/>
            <a:ext cx="1420144"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pic>
        <p:nvPicPr>
          <p:cNvPr id="6" name="Audio 5">
            <a:hlinkClick r:id="" action="ppaction://media"/>
            <a:extLst>
              <a:ext uri="{FF2B5EF4-FFF2-40B4-BE49-F238E27FC236}">
                <a16:creationId xmlns:a16="http://schemas.microsoft.com/office/drawing/2014/main" id="{85EC64D6-D018-D267-53AF-DF3456677F09}"/>
              </a:ext>
            </a:extLst>
          </p:cNvPr>
          <p:cNvPicPr>
            <a:picLocks noChangeAspect="1"/>
          </p:cNvPicPr>
          <p:nvPr>
            <a:audioFile r:link="rId2"/>
            <p:extLst>
              <p:ext uri="{DAA4B4D4-6D71-4841-9C94-3DE7FCFB9230}">
                <p14:media xmlns:p14="http://schemas.microsoft.com/office/powerpoint/2010/main" r:embed="rId1"/>
              </p:ext>
            </p:extLst>
          </p:nvPr>
        </p:nvPicPr>
        <p:blipFill>
          <a:blip r:embed="rId4"/>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45393840"/>
      </p:ext>
    </p:extLst>
  </p:cSld>
  <p:clrMapOvr>
    <a:masterClrMapping/>
  </p:clrMapOvr>
  <mc:AlternateContent xmlns:mc="http://schemas.openxmlformats.org/markup-compatibility/2006">
    <mc:Choice xmlns:p14="http://schemas.microsoft.com/office/powerpoint/2010/main" Requires="p14">
      <p:transition spd="slow" p14:dur="2000" advTm="30954"/>
    </mc:Choice>
    <mc:Fallback>
      <p:transition spd="slow" advTm="3095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BE3F0-AF2A-BE25-AD04-4C75A0D7B6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318473-353F-52C5-5CE0-6B832898DE31}"/>
              </a:ext>
            </a:extLst>
          </p:cNvPr>
          <p:cNvSpPr>
            <a:spLocks noGrp="1"/>
          </p:cNvSpPr>
          <p:nvPr>
            <p:ph type="title"/>
          </p:nvPr>
        </p:nvSpPr>
        <p:spPr>
          <a:xfrm>
            <a:off x="521109" y="355293"/>
            <a:ext cx="9507794" cy="470617"/>
          </a:xfrm>
          <a:solidFill>
            <a:schemeClr val="accent1">
              <a:lumMod val="20000"/>
              <a:lumOff val="80000"/>
            </a:schemeClr>
          </a:solidFill>
        </p:spPr>
        <p:txBody>
          <a:bodyPr anchor="t" anchorCtr="1">
            <a:normAutofit fontScale="90000"/>
          </a:bodyPr>
          <a:lstStyle/>
          <a:p>
            <a:r>
              <a:rPr lang="en-US" sz="2700" b="1" dirty="0">
                <a:solidFill>
                  <a:srgbClr val="000000"/>
                </a:solidFill>
                <a:effectLst/>
                <a:latin typeface="Times New Roman" panose="02020603050405020304" pitchFamily="18" charset="0"/>
              </a:rPr>
              <a:t>Reinforcement learning minimizes cut sizes in TSMC 2nm partitioning.</a:t>
            </a:r>
            <a:br>
              <a:rPr lang="en-US" sz="2700" b="1" dirty="0">
                <a:solidFill>
                  <a:srgbClr val="000000"/>
                </a:solidFill>
                <a:effectLst/>
                <a:latin typeface="Times New Roman" panose="02020603050405020304" pitchFamily="18" charset="0"/>
              </a:rPr>
            </a:br>
            <a:br>
              <a:rPr lang="en-US" sz="2700" dirty="0">
                <a:solidFill>
                  <a:srgbClr val="000000"/>
                </a:solidFill>
                <a:effectLst/>
                <a:latin typeface="Times New Roman" panose="02020603050405020304" pitchFamily="18" charset="0"/>
              </a:rPr>
            </a:br>
            <a:endParaRPr lang="en-US" dirty="0"/>
          </a:p>
        </p:txBody>
      </p:sp>
      <p:pic>
        <p:nvPicPr>
          <p:cNvPr id="52" name="Picture 51">
            <a:extLst>
              <a:ext uri="{FF2B5EF4-FFF2-40B4-BE49-F238E27FC236}">
                <a16:creationId xmlns:a16="http://schemas.microsoft.com/office/drawing/2014/main" id="{6E085B9D-F45F-1FEE-94A9-9CE6129CF3D9}"/>
              </a:ext>
            </a:extLst>
          </p:cNvPr>
          <p:cNvPicPr>
            <a:picLocks noChangeAspect="1"/>
          </p:cNvPicPr>
          <p:nvPr/>
        </p:nvPicPr>
        <p:blipFill>
          <a:blip r:embed="rId5"/>
          <a:stretch>
            <a:fillRect/>
          </a:stretch>
        </p:blipFill>
        <p:spPr>
          <a:xfrm>
            <a:off x="521107" y="1517560"/>
            <a:ext cx="5308191" cy="3236701"/>
          </a:xfrm>
          <a:prstGeom prst="rect">
            <a:avLst/>
          </a:prstGeom>
        </p:spPr>
      </p:pic>
      <p:sp>
        <p:nvSpPr>
          <p:cNvPr id="53" name="TextBox 52">
            <a:extLst>
              <a:ext uri="{FF2B5EF4-FFF2-40B4-BE49-F238E27FC236}">
                <a16:creationId xmlns:a16="http://schemas.microsoft.com/office/drawing/2014/main" id="{1D8B0717-AB3D-29BA-E9F4-3A75004ADEF0}"/>
              </a:ext>
            </a:extLst>
          </p:cNvPr>
          <p:cNvSpPr txBox="1"/>
          <p:nvPr/>
        </p:nvSpPr>
        <p:spPr>
          <a:xfrm>
            <a:off x="1602449" y="942824"/>
            <a:ext cx="3145508"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Circuit Partitioning Example</a:t>
            </a:r>
          </a:p>
        </p:txBody>
      </p:sp>
      <p:pic>
        <p:nvPicPr>
          <p:cNvPr id="58" name="Picture 57" descr="A diagram of a diagram&#10;&#10;AI-generated content may be incorrect.">
            <a:extLst>
              <a:ext uri="{FF2B5EF4-FFF2-40B4-BE49-F238E27FC236}">
                <a16:creationId xmlns:a16="http://schemas.microsoft.com/office/drawing/2014/main" id="{30FE849C-442E-BB0B-2D15-0F1B3D7FD00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138284" y="1429070"/>
            <a:ext cx="5231299" cy="4223097"/>
          </a:xfrm>
          <a:prstGeom prst="rect">
            <a:avLst/>
          </a:prstGeom>
        </p:spPr>
      </p:pic>
      <p:sp>
        <p:nvSpPr>
          <p:cNvPr id="59" name="TextBox 58">
            <a:extLst>
              <a:ext uri="{FF2B5EF4-FFF2-40B4-BE49-F238E27FC236}">
                <a16:creationId xmlns:a16="http://schemas.microsoft.com/office/drawing/2014/main" id="{185C219D-0609-6124-4CC1-E46F097EFFA5}"/>
              </a:ext>
            </a:extLst>
          </p:cNvPr>
          <p:cNvSpPr txBox="1"/>
          <p:nvPr/>
        </p:nvSpPr>
        <p:spPr>
          <a:xfrm>
            <a:off x="6365822" y="942824"/>
            <a:ext cx="477622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RL Optimization for TSMC 2nm Partitioning</a:t>
            </a:r>
          </a:p>
        </p:txBody>
      </p:sp>
      <p:sp>
        <p:nvSpPr>
          <p:cNvPr id="60" name="TextBox 59">
            <a:extLst>
              <a:ext uri="{FF2B5EF4-FFF2-40B4-BE49-F238E27FC236}">
                <a16:creationId xmlns:a16="http://schemas.microsoft.com/office/drawing/2014/main" id="{7A4F54C4-7CFB-8AD9-71F6-51090D4BC9A6}"/>
              </a:ext>
            </a:extLst>
          </p:cNvPr>
          <p:cNvSpPr txBox="1"/>
          <p:nvPr/>
        </p:nvSpPr>
        <p:spPr>
          <a:xfrm>
            <a:off x="521109" y="5793662"/>
            <a:ext cx="10848474" cy="923330"/>
          </a:xfrm>
          <a:prstGeom prst="rect">
            <a:avLst/>
          </a:prstGeom>
          <a:noFill/>
        </p:spPr>
        <p:txBody>
          <a:bodyPr wrap="square" rtlCol="0">
            <a:spAutoFit/>
          </a:bodyPr>
          <a:lstStyle/>
          <a:p>
            <a:r>
              <a:rPr lang="en-US" u="sng" dirty="0">
                <a:highlight>
                  <a:srgbClr val="FFFF00"/>
                </a:highlight>
                <a:latin typeface="Times New Roman" panose="02020603050405020304" pitchFamily="18" charset="0"/>
                <a:cs typeface="Times New Roman" panose="02020603050405020304" pitchFamily="18" charset="0"/>
              </a:rPr>
              <a:t>Special Note</a:t>
            </a:r>
            <a:r>
              <a:rPr lang="en-US" dirty="0">
                <a:highlight>
                  <a:srgbClr val="FFFF00"/>
                </a:highlight>
                <a:latin typeface="Times New Roman" panose="02020603050405020304" pitchFamily="18" charset="0"/>
                <a:cs typeface="Times New Roman" panose="02020603050405020304" pitchFamily="18" charset="0"/>
              </a:rPr>
              <a:t>: This simple example uses single-unit edge weighting, whereas real-world applications often employ weighted edges representing signal frequency, timing criticality, power consumption, and physical distance.  These weights are used to prioritize weighted cut size rather than just the number of crossing edges.</a:t>
            </a:r>
          </a:p>
        </p:txBody>
      </p:sp>
      <p:sp>
        <p:nvSpPr>
          <p:cNvPr id="61" name="TextBox 60">
            <a:extLst>
              <a:ext uri="{FF2B5EF4-FFF2-40B4-BE49-F238E27FC236}">
                <a16:creationId xmlns:a16="http://schemas.microsoft.com/office/drawing/2014/main" id="{DDB7E595-EE63-6D52-189C-9C40578825E1}"/>
              </a:ext>
            </a:extLst>
          </p:cNvPr>
          <p:cNvSpPr txBox="1"/>
          <p:nvPr/>
        </p:nvSpPr>
        <p:spPr>
          <a:xfrm>
            <a:off x="521107" y="4754261"/>
            <a:ext cx="1366687" cy="261610"/>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(northwestern, 2020)</a:t>
            </a:r>
          </a:p>
        </p:txBody>
      </p:sp>
      <p:pic>
        <p:nvPicPr>
          <p:cNvPr id="5" name="Audio 4">
            <a:hlinkClick r:id="" action="ppaction://media"/>
            <a:extLst>
              <a:ext uri="{FF2B5EF4-FFF2-40B4-BE49-F238E27FC236}">
                <a16:creationId xmlns:a16="http://schemas.microsoft.com/office/drawing/2014/main" id="{1BBA5DE0-FC23-4ED5-7EBA-29AA4642BB6D}"/>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755148029"/>
      </p:ext>
    </p:extLst>
  </p:cSld>
  <p:clrMapOvr>
    <a:masterClrMapping/>
  </p:clrMapOvr>
  <mc:AlternateContent xmlns:mc="http://schemas.openxmlformats.org/markup-compatibility/2006">
    <mc:Choice xmlns:p14="http://schemas.microsoft.com/office/powerpoint/2010/main" Requires="p14">
      <p:transition spd="slow" p14:dur="2000" advTm="31127"/>
    </mc:Choice>
    <mc:Fallback>
      <p:transition spd="slow" advTm="31127"/>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748E6D-6D3B-515B-2C6D-1D16D96748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4BD678-7FA9-C567-7283-88562E97DE96}"/>
              </a:ext>
            </a:extLst>
          </p:cNvPr>
          <p:cNvSpPr>
            <a:spLocks noGrp="1"/>
          </p:cNvSpPr>
          <p:nvPr>
            <p:ph type="title"/>
          </p:nvPr>
        </p:nvSpPr>
        <p:spPr>
          <a:xfrm>
            <a:off x="521109" y="355293"/>
            <a:ext cx="10166556" cy="470617"/>
          </a:xfrm>
          <a:solidFill>
            <a:schemeClr val="accent1">
              <a:lumMod val="20000"/>
              <a:lumOff val="80000"/>
            </a:schemeClr>
          </a:solidFill>
        </p:spPr>
        <p:txBody>
          <a:bodyPr anchor="t" anchorCtr="1">
            <a:normAutofit fontScale="90000"/>
          </a:bodyPr>
          <a:lstStyle/>
          <a:p>
            <a:r>
              <a:rPr lang="en-US" sz="2700" b="1" dirty="0">
                <a:solidFill>
                  <a:srgbClr val="000000"/>
                </a:solidFill>
                <a:effectLst/>
                <a:latin typeface="Times New Roman" panose="02020603050405020304" pitchFamily="18" charset="0"/>
              </a:rPr>
              <a:t>Reinforcement learning optimizes floorplans for TSMC 2nm area efficiency.</a:t>
            </a:r>
            <a:br>
              <a:rPr lang="en-US" sz="2700" b="1" dirty="0">
                <a:solidFill>
                  <a:srgbClr val="000000"/>
                </a:solidFill>
                <a:effectLst/>
                <a:latin typeface="Times New Roman" panose="02020603050405020304" pitchFamily="18" charset="0"/>
              </a:rPr>
            </a:br>
            <a:br>
              <a:rPr lang="en-US" sz="2700" dirty="0">
                <a:solidFill>
                  <a:srgbClr val="000000"/>
                </a:solidFill>
                <a:effectLst/>
                <a:latin typeface="Times New Roman" panose="02020603050405020304" pitchFamily="18" charset="0"/>
              </a:rPr>
            </a:br>
            <a:endParaRPr lang="en-US" dirty="0"/>
          </a:p>
        </p:txBody>
      </p:sp>
      <p:sp>
        <p:nvSpPr>
          <p:cNvPr id="53" name="TextBox 52">
            <a:extLst>
              <a:ext uri="{FF2B5EF4-FFF2-40B4-BE49-F238E27FC236}">
                <a16:creationId xmlns:a16="http://schemas.microsoft.com/office/drawing/2014/main" id="{9309A54C-565D-EB8D-80EA-0A391CBC9792}"/>
              </a:ext>
            </a:extLst>
          </p:cNvPr>
          <p:cNvSpPr txBox="1"/>
          <p:nvPr/>
        </p:nvSpPr>
        <p:spPr>
          <a:xfrm>
            <a:off x="909567" y="1394034"/>
            <a:ext cx="487131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RL Optimization for TSMC 2nm Floorplanning</a:t>
            </a:r>
          </a:p>
        </p:txBody>
      </p:sp>
      <p:sp>
        <p:nvSpPr>
          <p:cNvPr id="59" name="TextBox 58">
            <a:extLst>
              <a:ext uri="{FF2B5EF4-FFF2-40B4-BE49-F238E27FC236}">
                <a16:creationId xmlns:a16="http://schemas.microsoft.com/office/drawing/2014/main" id="{0AADEC3F-B13F-630E-A826-A854D9CF52C2}"/>
              </a:ext>
            </a:extLst>
          </p:cNvPr>
          <p:cNvSpPr txBox="1"/>
          <p:nvPr/>
        </p:nvSpPr>
        <p:spPr>
          <a:xfrm>
            <a:off x="6411116" y="1394034"/>
            <a:ext cx="468563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General Floorplanning Design Considerations</a:t>
            </a:r>
          </a:p>
        </p:txBody>
      </p:sp>
      <p:pic>
        <p:nvPicPr>
          <p:cNvPr id="4" name="Picture 3">
            <a:extLst>
              <a:ext uri="{FF2B5EF4-FFF2-40B4-BE49-F238E27FC236}">
                <a16:creationId xmlns:a16="http://schemas.microsoft.com/office/drawing/2014/main" id="{79349F93-3107-319F-E97F-1C41D5993F23}"/>
              </a:ext>
            </a:extLst>
          </p:cNvPr>
          <p:cNvPicPr>
            <a:picLocks noChangeAspect="1"/>
          </p:cNvPicPr>
          <p:nvPr/>
        </p:nvPicPr>
        <p:blipFill>
          <a:blip r:embed="rId5"/>
          <a:stretch>
            <a:fillRect/>
          </a:stretch>
        </p:blipFill>
        <p:spPr>
          <a:xfrm>
            <a:off x="440237" y="1909593"/>
            <a:ext cx="2324424" cy="2429214"/>
          </a:xfrm>
          <a:prstGeom prst="rect">
            <a:avLst/>
          </a:prstGeom>
        </p:spPr>
      </p:pic>
      <p:pic>
        <p:nvPicPr>
          <p:cNvPr id="6" name="Picture 5">
            <a:extLst>
              <a:ext uri="{FF2B5EF4-FFF2-40B4-BE49-F238E27FC236}">
                <a16:creationId xmlns:a16="http://schemas.microsoft.com/office/drawing/2014/main" id="{E2D7AD21-2BC2-EFA1-F953-C5C71A384E66}"/>
              </a:ext>
            </a:extLst>
          </p:cNvPr>
          <p:cNvPicPr>
            <a:picLocks noChangeAspect="1"/>
          </p:cNvPicPr>
          <p:nvPr/>
        </p:nvPicPr>
        <p:blipFill>
          <a:blip r:embed="rId6"/>
          <a:stretch>
            <a:fillRect/>
          </a:stretch>
        </p:blipFill>
        <p:spPr>
          <a:xfrm>
            <a:off x="3986502" y="1909593"/>
            <a:ext cx="2067213" cy="2495898"/>
          </a:xfrm>
          <a:prstGeom prst="rect">
            <a:avLst/>
          </a:prstGeom>
        </p:spPr>
      </p:pic>
      <p:pic>
        <p:nvPicPr>
          <p:cNvPr id="8" name="Picture 7">
            <a:extLst>
              <a:ext uri="{FF2B5EF4-FFF2-40B4-BE49-F238E27FC236}">
                <a16:creationId xmlns:a16="http://schemas.microsoft.com/office/drawing/2014/main" id="{B3664DFA-E494-EF1E-CB7D-8F12813433EB}"/>
              </a:ext>
            </a:extLst>
          </p:cNvPr>
          <p:cNvPicPr>
            <a:picLocks noChangeAspect="1"/>
          </p:cNvPicPr>
          <p:nvPr/>
        </p:nvPicPr>
        <p:blipFill>
          <a:blip r:embed="rId7"/>
          <a:stretch>
            <a:fillRect/>
          </a:stretch>
        </p:blipFill>
        <p:spPr>
          <a:xfrm>
            <a:off x="6365821" y="1922817"/>
            <a:ext cx="4776226" cy="3344074"/>
          </a:xfrm>
          <a:prstGeom prst="rect">
            <a:avLst/>
          </a:prstGeom>
        </p:spPr>
      </p:pic>
      <p:sp>
        <p:nvSpPr>
          <p:cNvPr id="9" name="Arrow: Right 8">
            <a:extLst>
              <a:ext uri="{FF2B5EF4-FFF2-40B4-BE49-F238E27FC236}">
                <a16:creationId xmlns:a16="http://schemas.microsoft.com/office/drawing/2014/main" id="{4433802F-D5CA-17B0-ED17-BBE5011A4435}"/>
              </a:ext>
            </a:extLst>
          </p:cNvPr>
          <p:cNvSpPr/>
          <p:nvPr/>
        </p:nvSpPr>
        <p:spPr>
          <a:xfrm>
            <a:off x="3126658" y="2788210"/>
            <a:ext cx="547738" cy="369332"/>
          </a:xfrm>
          <a:prstGeom prst="rightArrow">
            <a:avLst/>
          </a:prstGeom>
          <a:solidFill>
            <a:schemeClr val="tx2">
              <a:lumMod val="50000"/>
              <a:lumOff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964023B2-45C5-9736-FF20-69DDCE360C52}"/>
              </a:ext>
            </a:extLst>
          </p:cNvPr>
          <p:cNvSpPr txBox="1"/>
          <p:nvPr/>
        </p:nvSpPr>
        <p:spPr>
          <a:xfrm>
            <a:off x="440237" y="4338807"/>
            <a:ext cx="993059" cy="261610"/>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(gatech, 2015)</a:t>
            </a:r>
          </a:p>
        </p:txBody>
      </p:sp>
      <p:sp>
        <p:nvSpPr>
          <p:cNvPr id="11" name="TextBox 10">
            <a:extLst>
              <a:ext uri="{FF2B5EF4-FFF2-40B4-BE49-F238E27FC236}">
                <a16:creationId xmlns:a16="http://schemas.microsoft.com/office/drawing/2014/main" id="{67A1EAC3-67F8-FD37-BD6D-6EF10BCBD736}"/>
              </a:ext>
            </a:extLst>
          </p:cNvPr>
          <p:cNvSpPr txBox="1"/>
          <p:nvPr/>
        </p:nvSpPr>
        <p:spPr>
          <a:xfrm>
            <a:off x="3986502" y="4405491"/>
            <a:ext cx="993059" cy="261610"/>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(gatech, 2015)</a:t>
            </a:r>
          </a:p>
        </p:txBody>
      </p:sp>
      <p:sp>
        <p:nvSpPr>
          <p:cNvPr id="12" name="TextBox 11">
            <a:extLst>
              <a:ext uri="{FF2B5EF4-FFF2-40B4-BE49-F238E27FC236}">
                <a16:creationId xmlns:a16="http://schemas.microsoft.com/office/drawing/2014/main" id="{E91FC7FE-2CD3-6933-0A05-254A6331800C}"/>
              </a:ext>
            </a:extLst>
          </p:cNvPr>
          <p:cNvSpPr txBox="1"/>
          <p:nvPr/>
        </p:nvSpPr>
        <p:spPr>
          <a:xfrm>
            <a:off x="6365821" y="5266891"/>
            <a:ext cx="993059" cy="261610"/>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(gatech, 2015)</a:t>
            </a:r>
          </a:p>
        </p:txBody>
      </p:sp>
      <p:sp>
        <p:nvSpPr>
          <p:cNvPr id="13" name="TextBox 12">
            <a:extLst>
              <a:ext uri="{FF2B5EF4-FFF2-40B4-BE49-F238E27FC236}">
                <a16:creationId xmlns:a16="http://schemas.microsoft.com/office/drawing/2014/main" id="{3C922FE7-DDB8-E476-CF2D-C6AC492A2543}"/>
              </a:ext>
            </a:extLst>
          </p:cNvPr>
          <p:cNvSpPr txBox="1"/>
          <p:nvPr/>
        </p:nvSpPr>
        <p:spPr>
          <a:xfrm>
            <a:off x="521109" y="5793662"/>
            <a:ext cx="10620938" cy="646331"/>
          </a:xfrm>
          <a:prstGeom prst="rect">
            <a:avLst/>
          </a:prstGeom>
          <a:noFill/>
        </p:spPr>
        <p:txBody>
          <a:bodyPr wrap="square" rtlCol="0">
            <a:spAutoFit/>
          </a:bodyPr>
          <a:lstStyle/>
          <a:p>
            <a:r>
              <a:rPr lang="en-US" u="sng" dirty="0">
                <a:highlight>
                  <a:srgbClr val="FFFF00"/>
                </a:highlight>
                <a:latin typeface="Times New Roman" panose="02020603050405020304" pitchFamily="18" charset="0"/>
                <a:cs typeface="Times New Roman" panose="02020603050405020304" pitchFamily="18" charset="0"/>
              </a:rPr>
              <a:t>Special Note</a:t>
            </a:r>
            <a:r>
              <a:rPr lang="en-US" dirty="0">
                <a:highlight>
                  <a:srgbClr val="FFFF00"/>
                </a:highlight>
                <a:latin typeface="Times New Roman" panose="02020603050405020304" pitchFamily="18" charset="0"/>
                <a:cs typeface="Times New Roman" panose="02020603050405020304" pitchFamily="18" charset="0"/>
              </a:rPr>
              <a:t>: This example emphasizes floorplan area optimization, but floorplanning can also optimize for wirelength, timing, power consumption, and other design metrics to enhance TSMC 2nm performance.</a:t>
            </a:r>
          </a:p>
        </p:txBody>
      </p:sp>
      <p:pic>
        <p:nvPicPr>
          <p:cNvPr id="7" name="Audio 6">
            <a:hlinkClick r:id="" action="ppaction://media"/>
            <a:extLst>
              <a:ext uri="{FF2B5EF4-FFF2-40B4-BE49-F238E27FC236}">
                <a16:creationId xmlns:a16="http://schemas.microsoft.com/office/drawing/2014/main" id="{F400B615-9BF9-340C-1A96-8677255C4641}"/>
              </a:ext>
            </a:extLst>
          </p:cNvPr>
          <p:cNvPicPr>
            <a:picLocks noChangeAspect="1"/>
          </p:cNvPicPr>
          <p:nvPr>
            <a:audioFile r:link="rId2"/>
            <p:extLst>
              <p:ext uri="{DAA4B4D4-6D71-4841-9C94-3DE7FCFB9230}">
                <p14:media xmlns:p14="http://schemas.microsoft.com/office/powerpoint/2010/main" r:embed="rId1"/>
              </p:ext>
            </p:extLst>
          </p:nvPr>
        </p:nvPicPr>
        <p:blipFill>
          <a:blip r:embed="rId8"/>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611670923"/>
      </p:ext>
    </p:extLst>
  </p:cSld>
  <p:clrMapOvr>
    <a:masterClrMapping/>
  </p:clrMapOvr>
  <mc:AlternateContent xmlns:mc="http://schemas.openxmlformats.org/markup-compatibility/2006">
    <mc:Choice xmlns:p14="http://schemas.microsoft.com/office/powerpoint/2010/main" Requires="p14">
      <p:transition spd="slow" p14:dur="2000" advTm="28131"/>
    </mc:Choice>
    <mc:Fallback>
      <p:transition spd="slow" advTm="2813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39AB0-37B7-EE9B-DD2C-BBAEE01420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AC335BF-2782-4403-16FA-E2E5C5EB20EA}"/>
              </a:ext>
            </a:extLst>
          </p:cNvPr>
          <p:cNvSpPr>
            <a:spLocks noGrp="1"/>
          </p:cNvSpPr>
          <p:nvPr>
            <p:ph type="title"/>
          </p:nvPr>
        </p:nvSpPr>
        <p:spPr>
          <a:xfrm>
            <a:off x="521109" y="355293"/>
            <a:ext cx="10471356" cy="470617"/>
          </a:xfrm>
          <a:solidFill>
            <a:schemeClr val="accent1">
              <a:lumMod val="20000"/>
              <a:lumOff val="80000"/>
            </a:schemeClr>
          </a:solidFill>
        </p:spPr>
        <p:txBody>
          <a:bodyPr anchor="t" anchorCtr="1">
            <a:normAutofit fontScale="90000"/>
          </a:bodyPr>
          <a:lstStyle/>
          <a:p>
            <a:r>
              <a:rPr lang="en-US" sz="2700" b="1" dirty="0">
                <a:solidFill>
                  <a:srgbClr val="000000"/>
                </a:solidFill>
                <a:effectLst/>
                <a:latin typeface="Times New Roman" panose="02020603050405020304" pitchFamily="18" charset="0"/>
              </a:rPr>
              <a:t>Reinforcement learning enhances TSMC 2nm placement with neural guidance.</a:t>
            </a:r>
            <a:br>
              <a:rPr lang="en-US" sz="2700" b="1" dirty="0">
                <a:solidFill>
                  <a:srgbClr val="000000"/>
                </a:solidFill>
                <a:effectLst/>
                <a:latin typeface="Times New Roman" panose="02020603050405020304" pitchFamily="18" charset="0"/>
              </a:rPr>
            </a:br>
            <a:br>
              <a:rPr lang="en-US" sz="2700" dirty="0">
                <a:solidFill>
                  <a:srgbClr val="000000"/>
                </a:solidFill>
                <a:effectLst/>
                <a:latin typeface="Times New Roman" panose="02020603050405020304" pitchFamily="18" charset="0"/>
              </a:rPr>
            </a:br>
            <a:endParaRPr lang="en-US" dirty="0"/>
          </a:p>
        </p:txBody>
      </p:sp>
      <p:sp>
        <p:nvSpPr>
          <p:cNvPr id="53" name="TextBox 52">
            <a:extLst>
              <a:ext uri="{FF2B5EF4-FFF2-40B4-BE49-F238E27FC236}">
                <a16:creationId xmlns:a16="http://schemas.microsoft.com/office/drawing/2014/main" id="{419C0FD2-8D8D-1018-C9BB-4D4DD2099DF8}"/>
              </a:ext>
            </a:extLst>
          </p:cNvPr>
          <p:cNvSpPr txBox="1"/>
          <p:nvPr/>
        </p:nvSpPr>
        <p:spPr>
          <a:xfrm>
            <a:off x="1618776" y="936662"/>
            <a:ext cx="199320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Coarse Placement</a:t>
            </a:r>
          </a:p>
        </p:txBody>
      </p:sp>
      <p:sp>
        <p:nvSpPr>
          <p:cNvPr id="59" name="TextBox 58">
            <a:extLst>
              <a:ext uri="{FF2B5EF4-FFF2-40B4-BE49-F238E27FC236}">
                <a16:creationId xmlns:a16="http://schemas.microsoft.com/office/drawing/2014/main" id="{B2C8C7EB-1F7B-40D5-109A-7D33A3B4B339}"/>
              </a:ext>
            </a:extLst>
          </p:cNvPr>
          <p:cNvSpPr txBox="1"/>
          <p:nvPr/>
        </p:nvSpPr>
        <p:spPr>
          <a:xfrm>
            <a:off x="7899981" y="936662"/>
            <a:ext cx="199320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After Legalization</a:t>
            </a:r>
          </a:p>
        </p:txBody>
      </p:sp>
      <p:sp>
        <p:nvSpPr>
          <p:cNvPr id="13" name="TextBox 12">
            <a:extLst>
              <a:ext uri="{FF2B5EF4-FFF2-40B4-BE49-F238E27FC236}">
                <a16:creationId xmlns:a16="http://schemas.microsoft.com/office/drawing/2014/main" id="{B86973E2-DE0B-09D3-073D-370708B7BACA}"/>
              </a:ext>
            </a:extLst>
          </p:cNvPr>
          <p:cNvSpPr txBox="1"/>
          <p:nvPr/>
        </p:nvSpPr>
        <p:spPr>
          <a:xfrm>
            <a:off x="521109" y="5511993"/>
            <a:ext cx="10620938" cy="646331"/>
          </a:xfrm>
          <a:prstGeom prst="rect">
            <a:avLst/>
          </a:prstGeom>
          <a:noFill/>
        </p:spPr>
        <p:txBody>
          <a:bodyPr wrap="square" rtlCol="0">
            <a:spAutoFit/>
          </a:bodyPr>
          <a:lstStyle/>
          <a:p>
            <a:r>
              <a:rPr lang="en-US" u="sng" dirty="0">
                <a:highlight>
                  <a:srgbClr val="FFFF00"/>
                </a:highlight>
                <a:latin typeface="Times New Roman" panose="02020603050405020304" pitchFamily="18" charset="0"/>
                <a:cs typeface="Times New Roman" panose="02020603050405020304" pitchFamily="18" charset="0"/>
              </a:rPr>
              <a:t>Special Note</a:t>
            </a:r>
            <a:r>
              <a:rPr lang="en-US" dirty="0">
                <a:highlight>
                  <a:srgbClr val="FFFF00"/>
                </a:highlight>
                <a:latin typeface="Times New Roman" panose="02020603050405020304" pitchFamily="18" charset="0"/>
                <a:cs typeface="Times New Roman" panose="02020603050405020304" pitchFamily="18" charset="0"/>
              </a:rPr>
              <a:t>: This example uses wirelength optimization, but TSMC 2nm leverages RL for timing, power, density, and DTCO in advanced placement.</a:t>
            </a:r>
          </a:p>
        </p:txBody>
      </p:sp>
      <p:pic>
        <p:nvPicPr>
          <p:cNvPr id="5" name="Picture 4">
            <a:extLst>
              <a:ext uri="{FF2B5EF4-FFF2-40B4-BE49-F238E27FC236}">
                <a16:creationId xmlns:a16="http://schemas.microsoft.com/office/drawing/2014/main" id="{0FAEBD1A-3167-87EC-26E7-37B353324934}"/>
              </a:ext>
            </a:extLst>
          </p:cNvPr>
          <p:cNvPicPr>
            <a:picLocks noChangeAspect="1"/>
          </p:cNvPicPr>
          <p:nvPr/>
        </p:nvPicPr>
        <p:blipFill>
          <a:blip r:embed="rId5"/>
          <a:stretch>
            <a:fillRect/>
          </a:stretch>
        </p:blipFill>
        <p:spPr>
          <a:xfrm>
            <a:off x="521109" y="1305995"/>
            <a:ext cx="4188543" cy="2499504"/>
          </a:xfrm>
          <a:prstGeom prst="rect">
            <a:avLst/>
          </a:prstGeom>
        </p:spPr>
      </p:pic>
      <p:pic>
        <p:nvPicPr>
          <p:cNvPr id="14" name="Picture 13">
            <a:extLst>
              <a:ext uri="{FF2B5EF4-FFF2-40B4-BE49-F238E27FC236}">
                <a16:creationId xmlns:a16="http://schemas.microsoft.com/office/drawing/2014/main" id="{71D114C7-DFC1-0ABE-5C35-731048DB4D9A}"/>
              </a:ext>
            </a:extLst>
          </p:cNvPr>
          <p:cNvPicPr>
            <a:picLocks noChangeAspect="1"/>
          </p:cNvPicPr>
          <p:nvPr/>
        </p:nvPicPr>
        <p:blipFill>
          <a:blip r:embed="rId6"/>
          <a:stretch>
            <a:fillRect/>
          </a:stretch>
        </p:blipFill>
        <p:spPr>
          <a:xfrm>
            <a:off x="6801305" y="1305993"/>
            <a:ext cx="4191160" cy="2499505"/>
          </a:xfrm>
          <a:prstGeom prst="rect">
            <a:avLst/>
          </a:prstGeom>
        </p:spPr>
      </p:pic>
      <p:sp>
        <p:nvSpPr>
          <p:cNvPr id="16" name="Arrow: Right 15">
            <a:extLst>
              <a:ext uri="{FF2B5EF4-FFF2-40B4-BE49-F238E27FC236}">
                <a16:creationId xmlns:a16="http://schemas.microsoft.com/office/drawing/2014/main" id="{A03708B3-8749-BDD3-0DAF-6D92952EA3EB}"/>
              </a:ext>
            </a:extLst>
          </p:cNvPr>
          <p:cNvSpPr/>
          <p:nvPr/>
        </p:nvSpPr>
        <p:spPr>
          <a:xfrm>
            <a:off x="4876800" y="2241755"/>
            <a:ext cx="1710813" cy="31070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CE33F1DB-BFFC-77B3-34A9-165AE2482DD1}"/>
              </a:ext>
            </a:extLst>
          </p:cNvPr>
          <p:cNvSpPr txBox="1"/>
          <p:nvPr/>
        </p:nvSpPr>
        <p:spPr>
          <a:xfrm>
            <a:off x="4994787" y="1977150"/>
            <a:ext cx="1341537" cy="338554"/>
          </a:xfrm>
          <a:prstGeom prst="rect">
            <a:avLst/>
          </a:prstGeom>
          <a:noFill/>
        </p:spPr>
        <p:txBody>
          <a:bodyPr wrap="square" rtlCol="0">
            <a:spAutoFit/>
          </a:bodyPr>
          <a:lstStyle/>
          <a:p>
            <a:pPr algn="ctr"/>
            <a:r>
              <a:rPr lang="en-US" sz="1600" b="1" dirty="0">
                <a:latin typeface="Times New Roman" panose="02020603050405020304" pitchFamily="18" charset="0"/>
                <a:cs typeface="Times New Roman" panose="02020603050405020304" pitchFamily="18" charset="0"/>
              </a:rPr>
              <a:t>RL Guidance</a:t>
            </a:r>
          </a:p>
        </p:txBody>
      </p:sp>
      <p:sp>
        <p:nvSpPr>
          <p:cNvPr id="18" name="TextBox 17">
            <a:extLst>
              <a:ext uri="{FF2B5EF4-FFF2-40B4-BE49-F238E27FC236}">
                <a16:creationId xmlns:a16="http://schemas.microsoft.com/office/drawing/2014/main" id="{38167613-540B-D9D3-EB8D-FC6C9F34840E}"/>
              </a:ext>
            </a:extLst>
          </p:cNvPr>
          <p:cNvSpPr txBox="1"/>
          <p:nvPr/>
        </p:nvSpPr>
        <p:spPr>
          <a:xfrm>
            <a:off x="413037" y="3805498"/>
            <a:ext cx="1742524" cy="261610"/>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(vsli-physical design, 2020)</a:t>
            </a:r>
          </a:p>
        </p:txBody>
      </p:sp>
      <p:sp>
        <p:nvSpPr>
          <p:cNvPr id="19" name="TextBox 18">
            <a:extLst>
              <a:ext uri="{FF2B5EF4-FFF2-40B4-BE49-F238E27FC236}">
                <a16:creationId xmlns:a16="http://schemas.microsoft.com/office/drawing/2014/main" id="{2F2ECA8E-C744-EE07-3673-8364099905A1}"/>
              </a:ext>
            </a:extLst>
          </p:cNvPr>
          <p:cNvSpPr txBox="1"/>
          <p:nvPr/>
        </p:nvSpPr>
        <p:spPr>
          <a:xfrm>
            <a:off x="6700117" y="3805498"/>
            <a:ext cx="1742524" cy="261610"/>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(vsli-physical design, 2020)</a:t>
            </a:r>
          </a:p>
        </p:txBody>
      </p:sp>
      <p:sp>
        <p:nvSpPr>
          <p:cNvPr id="20" name="TextBox 19">
            <a:extLst>
              <a:ext uri="{FF2B5EF4-FFF2-40B4-BE49-F238E27FC236}">
                <a16:creationId xmlns:a16="http://schemas.microsoft.com/office/drawing/2014/main" id="{9E03F080-2EB3-D150-79A2-9B55015266D5}"/>
              </a:ext>
            </a:extLst>
          </p:cNvPr>
          <p:cNvSpPr txBox="1"/>
          <p:nvPr/>
        </p:nvSpPr>
        <p:spPr>
          <a:xfrm>
            <a:off x="413037" y="4072754"/>
            <a:ext cx="4296615" cy="646331"/>
          </a:xfrm>
          <a:prstGeom prst="rect">
            <a:avLst/>
          </a:prstGeom>
          <a:noFill/>
        </p:spPr>
        <p:txBody>
          <a:bodyPr wrap="square" rtlCol="0">
            <a:spAutoFit/>
          </a:bodyPr>
          <a:lstStyle/>
          <a:p>
            <a:r>
              <a:rPr lang="en-US" u="sng" dirty="0">
                <a:latin typeface="Times New Roman" panose="02020603050405020304" pitchFamily="18" charset="0"/>
                <a:cs typeface="Times New Roman" panose="02020603050405020304" pitchFamily="18" charset="0"/>
              </a:rPr>
              <a:t>Coarse Placement</a:t>
            </a:r>
            <a:r>
              <a:rPr lang="en-US" dirty="0">
                <a:latin typeface="Times New Roman" panose="02020603050405020304" pitchFamily="18" charset="0"/>
                <a:cs typeface="Times New Roman" panose="02020603050405020304" pitchFamily="18" charset="0"/>
              </a:rPr>
              <a:t>: Random cell distribution with high wirelength and density variation.</a:t>
            </a:r>
          </a:p>
        </p:txBody>
      </p:sp>
      <p:sp>
        <p:nvSpPr>
          <p:cNvPr id="21" name="TextBox 20">
            <a:extLst>
              <a:ext uri="{FF2B5EF4-FFF2-40B4-BE49-F238E27FC236}">
                <a16:creationId xmlns:a16="http://schemas.microsoft.com/office/drawing/2014/main" id="{1B9543BA-2F65-BBF7-1016-3356CB589915}"/>
              </a:ext>
            </a:extLst>
          </p:cNvPr>
          <p:cNvSpPr txBox="1"/>
          <p:nvPr/>
        </p:nvSpPr>
        <p:spPr>
          <a:xfrm>
            <a:off x="6695850" y="4058581"/>
            <a:ext cx="4296615" cy="1200329"/>
          </a:xfrm>
          <a:prstGeom prst="rect">
            <a:avLst/>
          </a:prstGeom>
          <a:noFill/>
        </p:spPr>
        <p:txBody>
          <a:bodyPr wrap="square" rtlCol="0">
            <a:spAutoFit/>
          </a:bodyPr>
          <a:lstStyle/>
          <a:p>
            <a:r>
              <a:rPr lang="en-US" u="sng" dirty="0">
                <a:latin typeface="Times New Roman" panose="02020603050405020304" pitchFamily="18" charset="0"/>
                <a:cs typeface="Times New Roman" panose="02020603050405020304" pitchFamily="18" charset="0"/>
              </a:rPr>
              <a:t>Legalized Placement</a:t>
            </a:r>
            <a:r>
              <a:rPr lang="en-US" dirty="0">
                <a:latin typeface="Times New Roman" panose="02020603050405020304" pitchFamily="18" charset="0"/>
                <a:cs typeface="Times New Roman" panose="02020603050405020304" pitchFamily="18" charset="0"/>
              </a:rPr>
              <a:t>: RL with neural guidance further optimizes, reducing runtime 20x and wirelength, guided by a neural subgrid.</a:t>
            </a:r>
          </a:p>
        </p:txBody>
      </p:sp>
      <p:pic>
        <p:nvPicPr>
          <p:cNvPr id="22" name="Audio 21">
            <a:hlinkClick r:id="" action="ppaction://media"/>
            <a:extLst>
              <a:ext uri="{FF2B5EF4-FFF2-40B4-BE49-F238E27FC236}">
                <a16:creationId xmlns:a16="http://schemas.microsoft.com/office/drawing/2014/main" id="{ABC2A8FC-218C-52CB-89C8-152722241D01}"/>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289600675"/>
      </p:ext>
    </p:extLst>
  </p:cSld>
  <p:clrMapOvr>
    <a:masterClrMapping/>
  </p:clrMapOvr>
  <mc:AlternateContent xmlns:mc="http://schemas.openxmlformats.org/markup-compatibility/2006">
    <mc:Choice xmlns:p14="http://schemas.microsoft.com/office/powerpoint/2010/main" Requires="p14">
      <p:transition spd="slow" p14:dur="2000" advTm="28594"/>
    </mc:Choice>
    <mc:Fallback>
      <p:transition spd="slow" advTm="2859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2"/>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56BC7-A500-4594-7A85-3CACD6780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391DBD-1CFE-05EA-805E-3BE53E68D86A}"/>
              </a:ext>
            </a:extLst>
          </p:cNvPr>
          <p:cNvSpPr>
            <a:spLocks noGrp="1"/>
          </p:cNvSpPr>
          <p:nvPr>
            <p:ph type="title"/>
          </p:nvPr>
        </p:nvSpPr>
        <p:spPr>
          <a:xfrm>
            <a:off x="521109" y="355293"/>
            <a:ext cx="8514736" cy="470617"/>
          </a:xfrm>
          <a:solidFill>
            <a:schemeClr val="accent1">
              <a:lumMod val="20000"/>
              <a:lumOff val="80000"/>
            </a:schemeClr>
          </a:solidFill>
        </p:spPr>
        <p:txBody>
          <a:bodyPr anchor="t" anchorCtr="1">
            <a:normAutofit fontScale="90000"/>
          </a:bodyPr>
          <a:lstStyle/>
          <a:p>
            <a:pPr algn="ctr"/>
            <a:r>
              <a:rPr lang="en-US" sz="2700" b="1" dirty="0">
                <a:solidFill>
                  <a:srgbClr val="000000"/>
                </a:solidFill>
                <a:effectLst/>
                <a:latin typeface="Times New Roman" panose="02020603050405020304" pitchFamily="18" charset="0"/>
              </a:rPr>
              <a:t>Reinforcement learning drives TSMC 2nm clock tree synthesis.</a:t>
            </a:r>
            <a:br>
              <a:rPr lang="en-US" sz="2700" b="1" dirty="0">
                <a:solidFill>
                  <a:srgbClr val="000000"/>
                </a:solidFill>
                <a:effectLst/>
                <a:latin typeface="Times New Roman" panose="02020603050405020304" pitchFamily="18" charset="0"/>
              </a:rPr>
            </a:br>
            <a:br>
              <a:rPr lang="en-US" sz="2700" dirty="0">
                <a:solidFill>
                  <a:srgbClr val="000000"/>
                </a:solidFill>
                <a:effectLst/>
                <a:latin typeface="Times New Roman" panose="02020603050405020304" pitchFamily="18" charset="0"/>
              </a:rPr>
            </a:br>
            <a:r>
              <a:rPr lang="en-US" sz="2700" dirty="0">
                <a:solidFill>
                  <a:srgbClr val="000000"/>
                </a:solidFill>
                <a:effectLst/>
                <a:latin typeface="Times New Roman" panose="02020603050405020304" pitchFamily="18" charset="0"/>
              </a:rPr>
              <a:t>                                     </a:t>
            </a:r>
            <a:r>
              <a:rPr lang="en-US" sz="2200" b="1" dirty="0">
                <a:solidFill>
                  <a:srgbClr val="000000"/>
                </a:solidFill>
                <a:effectLst/>
                <a:latin typeface="Times New Roman" panose="02020603050405020304" pitchFamily="18" charset="0"/>
              </a:rPr>
              <a:t>Deferred</a:t>
            </a:r>
            <a:r>
              <a:rPr lang="en-US" sz="2200" b="1" dirty="0">
                <a:solidFill>
                  <a:srgbClr val="000000"/>
                </a:solidFill>
                <a:latin typeface="Times New Roman" panose="02020603050405020304" pitchFamily="18" charset="0"/>
              </a:rPr>
              <a:t>-Merge Embedding (DME)</a:t>
            </a:r>
            <a:br>
              <a:rPr lang="en-US" sz="2200" b="1" dirty="0">
                <a:solidFill>
                  <a:srgbClr val="000000"/>
                </a:solidFill>
                <a:latin typeface="Times New Roman" panose="02020603050405020304" pitchFamily="18" charset="0"/>
              </a:rPr>
            </a:br>
            <a:br>
              <a:rPr lang="en-US" sz="2200" b="1" dirty="0">
                <a:solidFill>
                  <a:srgbClr val="000000"/>
                </a:solidFill>
                <a:latin typeface="Times New Roman" panose="02020603050405020304" pitchFamily="18" charset="0"/>
              </a:rPr>
            </a:br>
            <a:endParaRPr lang="en-US" sz="2200" b="1" dirty="0"/>
          </a:p>
        </p:txBody>
      </p:sp>
      <p:sp>
        <p:nvSpPr>
          <p:cNvPr id="53" name="TextBox 52">
            <a:extLst>
              <a:ext uri="{FF2B5EF4-FFF2-40B4-BE49-F238E27FC236}">
                <a16:creationId xmlns:a16="http://schemas.microsoft.com/office/drawing/2014/main" id="{4E043092-B5E5-6460-A733-F75506EEEBC2}"/>
              </a:ext>
            </a:extLst>
          </p:cNvPr>
          <p:cNvSpPr txBox="1"/>
          <p:nvPr/>
        </p:nvSpPr>
        <p:spPr>
          <a:xfrm>
            <a:off x="229639" y="1468684"/>
            <a:ext cx="617474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Build Tree of Segments Algorithm (DME Bottom-Up Phase)</a:t>
            </a:r>
          </a:p>
        </p:txBody>
      </p:sp>
      <p:sp>
        <p:nvSpPr>
          <p:cNvPr id="59" name="TextBox 58">
            <a:extLst>
              <a:ext uri="{FF2B5EF4-FFF2-40B4-BE49-F238E27FC236}">
                <a16:creationId xmlns:a16="http://schemas.microsoft.com/office/drawing/2014/main" id="{E13EC59C-B045-1805-EC53-33319753F165}"/>
              </a:ext>
            </a:extLst>
          </p:cNvPr>
          <p:cNvSpPr txBox="1"/>
          <p:nvPr/>
        </p:nvSpPr>
        <p:spPr>
          <a:xfrm>
            <a:off x="6678560" y="1452697"/>
            <a:ext cx="471456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Find Exact Locations (DME Top-Down Phase)</a:t>
            </a:r>
          </a:p>
        </p:txBody>
      </p:sp>
      <p:sp>
        <p:nvSpPr>
          <p:cNvPr id="13" name="TextBox 12">
            <a:extLst>
              <a:ext uri="{FF2B5EF4-FFF2-40B4-BE49-F238E27FC236}">
                <a16:creationId xmlns:a16="http://schemas.microsoft.com/office/drawing/2014/main" id="{CB142B85-C7F1-4FC1-2F54-C9F84E50BA5E}"/>
              </a:ext>
            </a:extLst>
          </p:cNvPr>
          <p:cNvSpPr txBox="1"/>
          <p:nvPr/>
        </p:nvSpPr>
        <p:spPr>
          <a:xfrm>
            <a:off x="521109" y="5856376"/>
            <a:ext cx="10620938" cy="646331"/>
          </a:xfrm>
          <a:prstGeom prst="rect">
            <a:avLst/>
          </a:prstGeom>
          <a:noFill/>
        </p:spPr>
        <p:txBody>
          <a:bodyPr wrap="square" rtlCol="0">
            <a:spAutoFit/>
          </a:bodyPr>
          <a:lstStyle/>
          <a:p>
            <a:r>
              <a:rPr lang="en-US" u="sng" dirty="0">
                <a:highlight>
                  <a:srgbClr val="FFFF00"/>
                </a:highlight>
                <a:latin typeface="Times New Roman" panose="02020603050405020304" pitchFamily="18" charset="0"/>
                <a:cs typeface="Times New Roman" panose="02020603050405020304" pitchFamily="18" charset="0"/>
              </a:rPr>
              <a:t>Special Note</a:t>
            </a:r>
            <a:r>
              <a:rPr lang="en-US" dirty="0">
                <a:highlight>
                  <a:srgbClr val="FFFF00"/>
                </a:highlight>
                <a:latin typeface="Times New Roman" panose="02020603050405020304" pitchFamily="18" charset="0"/>
                <a:cs typeface="Times New Roman" panose="02020603050405020304" pitchFamily="18" charset="0"/>
              </a:rPr>
              <a:t>: This example uses skew optimization, but RL with neural guidance can optimize timing, power, and density for TSMC 2nm efficiency.</a:t>
            </a:r>
          </a:p>
        </p:txBody>
      </p:sp>
      <p:sp>
        <p:nvSpPr>
          <p:cNvPr id="18" name="TextBox 17">
            <a:extLst>
              <a:ext uri="{FF2B5EF4-FFF2-40B4-BE49-F238E27FC236}">
                <a16:creationId xmlns:a16="http://schemas.microsoft.com/office/drawing/2014/main" id="{1A72A7E8-7CB3-265F-9C50-C7B42C30503A}"/>
              </a:ext>
            </a:extLst>
          </p:cNvPr>
          <p:cNvSpPr txBox="1"/>
          <p:nvPr/>
        </p:nvSpPr>
        <p:spPr>
          <a:xfrm>
            <a:off x="481862" y="4710555"/>
            <a:ext cx="1742524" cy="261610"/>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(umich, 2011)</a:t>
            </a:r>
          </a:p>
        </p:txBody>
      </p:sp>
      <p:sp>
        <p:nvSpPr>
          <p:cNvPr id="19" name="TextBox 18">
            <a:extLst>
              <a:ext uri="{FF2B5EF4-FFF2-40B4-BE49-F238E27FC236}">
                <a16:creationId xmlns:a16="http://schemas.microsoft.com/office/drawing/2014/main" id="{889E8BDA-C55E-B3BB-E210-BF9EB823F646}"/>
              </a:ext>
            </a:extLst>
          </p:cNvPr>
          <p:cNvSpPr txBox="1"/>
          <p:nvPr/>
        </p:nvSpPr>
        <p:spPr>
          <a:xfrm>
            <a:off x="6302559" y="4735918"/>
            <a:ext cx="1742524" cy="261610"/>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(umich, 2011)</a:t>
            </a:r>
          </a:p>
        </p:txBody>
      </p:sp>
      <p:sp>
        <p:nvSpPr>
          <p:cNvPr id="20" name="TextBox 19">
            <a:extLst>
              <a:ext uri="{FF2B5EF4-FFF2-40B4-BE49-F238E27FC236}">
                <a16:creationId xmlns:a16="http://schemas.microsoft.com/office/drawing/2014/main" id="{5FBB84B7-72CA-2416-A43C-2B7534D42B47}"/>
              </a:ext>
            </a:extLst>
          </p:cNvPr>
          <p:cNvSpPr txBox="1"/>
          <p:nvPr/>
        </p:nvSpPr>
        <p:spPr>
          <a:xfrm>
            <a:off x="1514249" y="5112080"/>
            <a:ext cx="957661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Optimized CTS: RL enhances DME with neural guidance, reducing skew to 10% and runtime by 20x.</a:t>
            </a:r>
          </a:p>
        </p:txBody>
      </p:sp>
      <p:pic>
        <p:nvPicPr>
          <p:cNvPr id="4" name="Picture 3">
            <a:extLst>
              <a:ext uri="{FF2B5EF4-FFF2-40B4-BE49-F238E27FC236}">
                <a16:creationId xmlns:a16="http://schemas.microsoft.com/office/drawing/2014/main" id="{656AFB16-A631-DA73-0A10-0C7FF67F0C4A}"/>
              </a:ext>
            </a:extLst>
          </p:cNvPr>
          <p:cNvPicPr>
            <a:picLocks noChangeAspect="1"/>
          </p:cNvPicPr>
          <p:nvPr/>
        </p:nvPicPr>
        <p:blipFill>
          <a:blip r:embed="rId5"/>
          <a:stretch>
            <a:fillRect/>
          </a:stretch>
        </p:blipFill>
        <p:spPr>
          <a:xfrm>
            <a:off x="550313" y="1838016"/>
            <a:ext cx="5533395" cy="2904732"/>
          </a:xfrm>
          <a:prstGeom prst="rect">
            <a:avLst/>
          </a:prstGeom>
        </p:spPr>
      </p:pic>
      <p:pic>
        <p:nvPicPr>
          <p:cNvPr id="7" name="Picture 6">
            <a:extLst>
              <a:ext uri="{FF2B5EF4-FFF2-40B4-BE49-F238E27FC236}">
                <a16:creationId xmlns:a16="http://schemas.microsoft.com/office/drawing/2014/main" id="{720CD3AA-7F20-734C-33C8-6DABC1DF28A0}"/>
              </a:ext>
            </a:extLst>
          </p:cNvPr>
          <p:cNvPicPr>
            <a:picLocks noChangeAspect="1"/>
          </p:cNvPicPr>
          <p:nvPr/>
        </p:nvPicPr>
        <p:blipFill>
          <a:blip r:embed="rId6"/>
          <a:stretch>
            <a:fillRect/>
          </a:stretch>
        </p:blipFill>
        <p:spPr>
          <a:xfrm>
            <a:off x="6381134" y="1809518"/>
            <a:ext cx="5309420" cy="2926400"/>
          </a:xfrm>
          <a:prstGeom prst="rect">
            <a:avLst/>
          </a:prstGeom>
        </p:spPr>
      </p:pic>
      <p:pic>
        <p:nvPicPr>
          <p:cNvPr id="6" name="Audio 5">
            <a:hlinkClick r:id="" action="ppaction://media"/>
            <a:extLst>
              <a:ext uri="{FF2B5EF4-FFF2-40B4-BE49-F238E27FC236}">
                <a16:creationId xmlns:a16="http://schemas.microsoft.com/office/drawing/2014/main" id="{498D13B3-2898-1561-C6FC-BD686C534BFB}"/>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1876611173"/>
      </p:ext>
    </p:extLst>
  </p:cSld>
  <p:clrMapOvr>
    <a:masterClrMapping/>
  </p:clrMapOvr>
  <mc:AlternateContent xmlns:mc="http://schemas.openxmlformats.org/markup-compatibility/2006">
    <mc:Choice xmlns:p14="http://schemas.microsoft.com/office/powerpoint/2010/main" Requires="p14">
      <p:transition spd="slow" p14:dur="2000" advTm="29310"/>
    </mc:Choice>
    <mc:Fallback>
      <p:transition spd="slow" advTm="293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03F68D-ABD4-A289-3208-3796DC1055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BFF445-BA02-1899-9A5E-93E0AFE1D1AE}"/>
              </a:ext>
            </a:extLst>
          </p:cNvPr>
          <p:cNvSpPr>
            <a:spLocks noGrp="1"/>
          </p:cNvSpPr>
          <p:nvPr>
            <p:ph type="title"/>
          </p:nvPr>
        </p:nvSpPr>
        <p:spPr>
          <a:xfrm>
            <a:off x="521109" y="355293"/>
            <a:ext cx="9281652" cy="470617"/>
          </a:xfrm>
          <a:solidFill>
            <a:schemeClr val="accent1">
              <a:lumMod val="20000"/>
              <a:lumOff val="80000"/>
            </a:schemeClr>
          </a:solidFill>
        </p:spPr>
        <p:txBody>
          <a:bodyPr anchor="t" anchorCtr="1">
            <a:normAutofit fontScale="90000"/>
          </a:bodyPr>
          <a:lstStyle/>
          <a:p>
            <a:pPr algn="ctr"/>
            <a:r>
              <a:rPr lang="en-US" sz="2700" b="1" dirty="0">
                <a:solidFill>
                  <a:srgbClr val="000000"/>
                </a:solidFill>
                <a:effectLst/>
                <a:latin typeface="Times New Roman" panose="02020603050405020304" pitchFamily="18" charset="0"/>
              </a:rPr>
              <a:t>Reinforcement learning refines TSMC 2nm signal routing congestion.</a:t>
            </a:r>
            <a:r>
              <a:rPr lang="en-US" sz="2700" dirty="0">
                <a:solidFill>
                  <a:srgbClr val="000000"/>
                </a:solidFill>
                <a:effectLst/>
                <a:latin typeface="Times New Roman" panose="02020603050405020304" pitchFamily="18" charset="0"/>
              </a:rPr>
              <a:t>                            </a:t>
            </a:r>
            <a:br>
              <a:rPr lang="en-US" sz="2200" b="1" dirty="0">
                <a:solidFill>
                  <a:srgbClr val="000000"/>
                </a:solidFill>
                <a:latin typeface="Times New Roman" panose="02020603050405020304" pitchFamily="18" charset="0"/>
              </a:rPr>
            </a:br>
            <a:br>
              <a:rPr lang="en-US" sz="2200" b="1" dirty="0">
                <a:solidFill>
                  <a:srgbClr val="000000"/>
                </a:solidFill>
                <a:latin typeface="Times New Roman" panose="02020603050405020304" pitchFamily="18" charset="0"/>
              </a:rPr>
            </a:br>
            <a:endParaRPr lang="en-US" sz="2200" b="1" dirty="0"/>
          </a:p>
        </p:txBody>
      </p:sp>
      <p:sp>
        <p:nvSpPr>
          <p:cNvPr id="53" name="TextBox 52">
            <a:extLst>
              <a:ext uri="{FF2B5EF4-FFF2-40B4-BE49-F238E27FC236}">
                <a16:creationId xmlns:a16="http://schemas.microsoft.com/office/drawing/2014/main" id="{8D2F5C85-4106-1EAD-BF6D-DA3107C0F8A6}"/>
              </a:ext>
            </a:extLst>
          </p:cNvPr>
          <p:cNvSpPr txBox="1"/>
          <p:nvPr/>
        </p:nvSpPr>
        <p:spPr>
          <a:xfrm>
            <a:off x="464411" y="1088920"/>
            <a:ext cx="563158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Initial Routing: High congestion with vias and overflow</a:t>
            </a:r>
          </a:p>
        </p:txBody>
      </p:sp>
      <p:sp>
        <p:nvSpPr>
          <p:cNvPr id="59" name="TextBox 58">
            <a:extLst>
              <a:ext uri="{FF2B5EF4-FFF2-40B4-BE49-F238E27FC236}">
                <a16:creationId xmlns:a16="http://schemas.microsoft.com/office/drawing/2014/main" id="{52C67C31-AEEA-5966-AA19-280F3158DCCE}"/>
              </a:ext>
            </a:extLst>
          </p:cNvPr>
          <p:cNvSpPr txBox="1"/>
          <p:nvPr/>
        </p:nvSpPr>
        <p:spPr>
          <a:xfrm>
            <a:off x="6135368" y="1080875"/>
            <a:ext cx="4788310" cy="646331"/>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Optimized Routing: RL reduces congestion by 30% with neural-guided paths</a:t>
            </a:r>
          </a:p>
        </p:txBody>
      </p:sp>
      <p:sp>
        <p:nvSpPr>
          <p:cNvPr id="13" name="TextBox 12">
            <a:extLst>
              <a:ext uri="{FF2B5EF4-FFF2-40B4-BE49-F238E27FC236}">
                <a16:creationId xmlns:a16="http://schemas.microsoft.com/office/drawing/2014/main" id="{C81AC33C-5337-6A2D-3F80-0C49804AC9B9}"/>
              </a:ext>
            </a:extLst>
          </p:cNvPr>
          <p:cNvSpPr txBox="1"/>
          <p:nvPr/>
        </p:nvSpPr>
        <p:spPr>
          <a:xfrm>
            <a:off x="464411" y="5240486"/>
            <a:ext cx="10620938" cy="646331"/>
          </a:xfrm>
          <a:prstGeom prst="rect">
            <a:avLst/>
          </a:prstGeom>
          <a:noFill/>
        </p:spPr>
        <p:txBody>
          <a:bodyPr wrap="square" rtlCol="0">
            <a:spAutoFit/>
          </a:bodyPr>
          <a:lstStyle/>
          <a:p>
            <a:r>
              <a:rPr lang="en-US" u="sng" dirty="0">
                <a:highlight>
                  <a:srgbClr val="FFFF00"/>
                </a:highlight>
                <a:latin typeface="Times New Roman" panose="02020603050405020304" pitchFamily="18" charset="0"/>
                <a:cs typeface="Times New Roman" panose="02020603050405020304" pitchFamily="18" charset="0"/>
              </a:rPr>
              <a:t>Special Note</a:t>
            </a:r>
            <a:r>
              <a:rPr lang="en-US" dirty="0">
                <a:highlight>
                  <a:srgbClr val="FFFF00"/>
                </a:highlight>
                <a:latin typeface="Times New Roman" panose="02020603050405020304" pitchFamily="18" charset="0"/>
                <a:cs typeface="Times New Roman" panose="02020603050405020304" pitchFamily="18" charset="0"/>
              </a:rPr>
              <a:t>: This example optimizes congestion, but RL can address timing, power, and density for TSMC 2nm’s high-density challenges.</a:t>
            </a:r>
          </a:p>
        </p:txBody>
      </p:sp>
      <p:sp>
        <p:nvSpPr>
          <p:cNvPr id="18" name="TextBox 17">
            <a:extLst>
              <a:ext uri="{FF2B5EF4-FFF2-40B4-BE49-F238E27FC236}">
                <a16:creationId xmlns:a16="http://schemas.microsoft.com/office/drawing/2014/main" id="{9847EFC8-8AA0-A7DF-1198-B65BA2606701}"/>
              </a:ext>
            </a:extLst>
          </p:cNvPr>
          <p:cNvSpPr txBox="1"/>
          <p:nvPr/>
        </p:nvSpPr>
        <p:spPr>
          <a:xfrm>
            <a:off x="521109" y="4627468"/>
            <a:ext cx="1742524" cy="261610"/>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(iczhiku, 2007)</a:t>
            </a:r>
          </a:p>
        </p:txBody>
      </p:sp>
      <p:sp>
        <p:nvSpPr>
          <p:cNvPr id="19" name="TextBox 18">
            <a:extLst>
              <a:ext uri="{FF2B5EF4-FFF2-40B4-BE49-F238E27FC236}">
                <a16:creationId xmlns:a16="http://schemas.microsoft.com/office/drawing/2014/main" id="{9CA2825F-ECA1-16A4-4195-4A3A7EF0030E}"/>
              </a:ext>
            </a:extLst>
          </p:cNvPr>
          <p:cNvSpPr txBox="1"/>
          <p:nvPr/>
        </p:nvSpPr>
        <p:spPr>
          <a:xfrm>
            <a:off x="6135368" y="4627649"/>
            <a:ext cx="1742524" cy="261610"/>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(iczhiku, 2007)</a:t>
            </a:r>
          </a:p>
        </p:txBody>
      </p:sp>
      <p:pic>
        <p:nvPicPr>
          <p:cNvPr id="5" name="Picture 4">
            <a:extLst>
              <a:ext uri="{FF2B5EF4-FFF2-40B4-BE49-F238E27FC236}">
                <a16:creationId xmlns:a16="http://schemas.microsoft.com/office/drawing/2014/main" id="{649A66E6-193C-0E45-26AB-E72FBFDA3A5B}"/>
              </a:ext>
            </a:extLst>
          </p:cNvPr>
          <p:cNvPicPr>
            <a:picLocks noChangeAspect="1"/>
          </p:cNvPicPr>
          <p:nvPr/>
        </p:nvPicPr>
        <p:blipFill>
          <a:blip r:embed="rId5"/>
          <a:stretch>
            <a:fillRect/>
          </a:stretch>
        </p:blipFill>
        <p:spPr>
          <a:xfrm>
            <a:off x="582397" y="1463884"/>
            <a:ext cx="2856403" cy="3164841"/>
          </a:xfrm>
          <a:prstGeom prst="rect">
            <a:avLst/>
          </a:prstGeom>
        </p:spPr>
      </p:pic>
      <p:pic>
        <p:nvPicPr>
          <p:cNvPr id="8" name="Picture 7">
            <a:extLst>
              <a:ext uri="{FF2B5EF4-FFF2-40B4-BE49-F238E27FC236}">
                <a16:creationId xmlns:a16="http://schemas.microsoft.com/office/drawing/2014/main" id="{53872BFB-3906-8C05-0439-F2FAF026250F}"/>
              </a:ext>
            </a:extLst>
          </p:cNvPr>
          <p:cNvPicPr>
            <a:picLocks noChangeAspect="1"/>
          </p:cNvPicPr>
          <p:nvPr/>
        </p:nvPicPr>
        <p:blipFill>
          <a:blip r:embed="rId6"/>
          <a:stretch>
            <a:fillRect/>
          </a:stretch>
        </p:blipFill>
        <p:spPr>
          <a:xfrm>
            <a:off x="3440469" y="2417505"/>
            <a:ext cx="2678110" cy="1869360"/>
          </a:xfrm>
          <a:prstGeom prst="rect">
            <a:avLst/>
          </a:prstGeom>
        </p:spPr>
      </p:pic>
      <p:pic>
        <p:nvPicPr>
          <p:cNvPr id="10" name="Picture 9">
            <a:extLst>
              <a:ext uri="{FF2B5EF4-FFF2-40B4-BE49-F238E27FC236}">
                <a16:creationId xmlns:a16="http://schemas.microsoft.com/office/drawing/2014/main" id="{4AF7B715-8852-ECDB-2CA7-FCCB49A740F3}"/>
              </a:ext>
            </a:extLst>
          </p:cNvPr>
          <p:cNvPicPr>
            <a:picLocks noChangeAspect="1"/>
          </p:cNvPicPr>
          <p:nvPr/>
        </p:nvPicPr>
        <p:blipFill>
          <a:blip r:embed="rId7"/>
          <a:stretch>
            <a:fillRect/>
          </a:stretch>
        </p:blipFill>
        <p:spPr>
          <a:xfrm>
            <a:off x="6096000" y="1857604"/>
            <a:ext cx="4867047" cy="2769864"/>
          </a:xfrm>
          <a:prstGeom prst="rect">
            <a:avLst/>
          </a:prstGeom>
        </p:spPr>
      </p:pic>
      <p:pic>
        <p:nvPicPr>
          <p:cNvPr id="12" name="Audio 11">
            <a:hlinkClick r:id="" action="ppaction://media"/>
            <a:extLst>
              <a:ext uri="{FF2B5EF4-FFF2-40B4-BE49-F238E27FC236}">
                <a16:creationId xmlns:a16="http://schemas.microsoft.com/office/drawing/2014/main" id="{8BA05537-0AC4-7EB0-66C1-EA64076E66AD}"/>
              </a:ext>
            </a:extLst>
          </p:cNvPr>
          <p:cNvPicPr>
            <a:picLocks noChangeAspect="1"/>
          </p:cNvPicPr>
          <p:nvPr>
            <a:audioFile r:link="rId2"/>
            <p:extLst>
              <p:ext uri="{DAA4B4D4-6D71-4841-9C94-3DE7FCFB9230}">
                <p14:media xmlns:p14="http://schemas.microsoft.com/office/powerpoint/2010/main" r:embed="rId1"/>
              </p:ext>
            </p:extLst>
          </p:nvPr>
        </p:nvPicPr>
        <p:blipFill>
          <a:blip r:embed="rId8"/>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4005481367"/>
      </p:ext>
    </p:extLst>
  </p:cSld>
  <p:clrMapOvr>
    <a:masterClrMapping/>
  </p:clrMapOvr>
  <mc:AlternateContent xmlns:mc="http://schemas.openxmlformats.org/markup-compatibility/2006">
    <mc:Choice xmlns:p14="http://schemas.microsoft.com/office/powerpoint/2010/main" Requires="p14">
      <p:transition spd="slow" p14:dur="2000" advTm="25594"/>
    </mc:Choice>
    <mc:Fallback>
      <p:transition spd="slow" advTm="2559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B39C5B-6CAF-DC90-B34B-A4F7E5D916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552F37-9740-1A3B-D0F6-A78B6AF993AA}"/>
              </a:ext>
            </a:extLst>
          </p:cNvPr>
          <p:cNvSpPr>
            <a:spLocks noGrp="1"/>
          </p:cNvSpPr>
          <p:nvPr>
            <p:ph type="title"/>
          </p:nvPr>
        </p:nvSpPr>
        <p:spPr>
          <a:xfrm>
            <a:off x="521109" y="355293"/>
            <a:ext cx="10186220" cy="766731"/>
          </a:xfrm>
          <a:solidFill>
            <a:schemeClr val="accent1">
              <a:lumMod val="20000"/>
              <a:lumOff val="80000"/>
            </a:schemeClr>
          </a:solidFill>
        </p:spPr>
        <p:txBody>
          <a:bodyPr anchor="t" anchorCtr="1">
            <a:normAutofit fontScale="90000"/>
          </a:bodyPr>
          <a:lstStyle/>
          <a:p>
            <a:r>
              <a:rPr lang="en-US" sz="2700" b="1" dirty="0">
                <a:solidFill>
                  <a:srgbClr val="000000"/>
                </a:solidFill>
                <a:effectLst/>
                <a:latin typeface="Times New Roman" panose="02020603050405020304" pitchFamily="18" charset="0"/>
              </a:rPr>
              <a:t>Reinforcement learning accelerates TSMC 2nm timing closure with Benders Decomposition.</a:t>
            </a:r>
            <a:br>
              <a:rPr lang="en-US" sz="2200" b="1" dirty="0">
                <a:solidFill>
                  <a:srgbClr val="000000"/>
                </a:solidFill>
                <a:latin typeface="Times New Roman" panose="02020603050405020304" pitchFamily="18" charset="0"/>
              </a:rPr>
            </a:br>
            <a:br>
              <a:rPr lang="en-US" sz="2200" b="1" dirty="0">
                <a:solidFill>
                  <a:srgbClr val="000000"/>
                </a:solidFill>
                <a:latin typeface="Times New Roman" panose="02020603050405020304" pitchFamily="18" charset="0"/>
              </a:rPr>
            </a:br>
            <a:endParaRPr lang="en-US" sz="2200" b="1" dirty="0"/>
          </a:p>
        </p:txBody>
      </p:sp>
      <p:sp>
        <p:nvSpPr>
          <p:cNvPr id="53" name="TextBox 52">
            <a:extLst>
              <a:ext uri="{FF2B5EF4-FFF2-40B4-BE49-F238E27FC236}">
                <a16:creationId xmlns:a16="http://schemas.microsoft.com/office/drawing/2014/main" id="{B7D11403-24DD-600C-F39F-C9702022BBFA}"/>
              </a:ext>
            </a:extLst>
          </p:cNvPr>
          <p:cNvSpPr txBox="1"/>
          <p:nvPr/>
        </p:nvSpPr>
        <p:spPr>
          <a:xfrm>
            <a:off x="521109" y="1141015"/>
            <a:ext cx="437305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Benders Decomposition Process Flowchart</a:t>
            </a:r>
          </a:p>
        </p:txBody>
      </p:sp>
      <p:sp>
        <p:nvSpPr>
          <p:cNvPr id="59" name="TextBox 58">
            <a:extLst>
              <a:ext uri="{FF2B5EF4-FFF2-40B4-BE49-F238E27FC236}">
                <a16:creationId xmlns:a16="http://schemas.microsoft.com/office/drawing/2014/main" id="{DE83AE55-55B8-C193-9296-6ABED20F526E}"/>
              </a:ext>
            </a:extLst>
          </p:cNvPr>
          <p:cNvSpPr txBox="1"/>
          <p:nvPr/>
        </p:nvSpPr>
        <p:spPr>
          <a:xfrm>
            <a:off x="5111304" y="1148982"/>
            <a:ext cx="437305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Timing Closure in Chip Design Flowchart</a:t>
            </a:r>
          </a:p>
        </p:txBody>
      </p:sp>
      <p:sp>
        <p:nvSpPr>
          <p:cNvPr id="13" name="TextBox 12">
            <a:extLst>
              <a:ext uri="{FF2B5EF4-FFF2-40B4-BE49-F238E27FC236}">
                <a16:creationId xmlns:a16="http://schemas.microsoft.com/office/drawing/2014/main" id="{D597E706-41DA-DFA7-FAFE-71F581216A32}"/>
              </a:ext>
            </a:extLst>
          </p:cNvPr>
          <p:cNvSpPr txBox="1"/>
          <p:nvPr/>
        </p:nvSpPr>
        <p:spPr>
          <a:xfrm>
            <a:off x="8270052" y="1547954"/>
            <a:ext cx="3789868" cy="1754326"/>
          </a:xfrm>
          <a:prstGeom prst="rect">
            <a:avLst/>
          </a:prstGeom>
          <a:noFill/>
        </p:spPr>
        <p:txBody>
          <a:bodyPr wrap="square" rtlCol="0">
            <a:spAutoFit/>
          </a:bodyPr>
          <a:lstStyle/>
          <a:p>
            <a:r>
              <a:rPr lang="en-US" u="sng" dirty="0">
                <a:highlight>
                  <a:srgbClr val="FFFF00"/>
                </a:highlight>
                <a:latin typeface="Times New Roman" panose="02020603050405020304" pitchFamily="18" charset="0"/>
                <a:cs typeface="Times New Roman" panose="02020603050405020304" pitchFamily="18" charset="0"/>
              </a:rPr>
              <a:t>Special Note</a:t>
            </a:r>
            <a:r>
              <a:rPr lang="en-US" dirty="0">
                <a:highlight>
                  <a:srgbClr val="FFFF00"/>
                </a:highlight>
                <a:latin typeface="Times New Roman" panose="02020603050405020304" pitchFamily="18" charset="0"/>
                <a:cs typeface="Times New Roman" panose="02020603050405020304" pitchFamily="18" charset="0"/>
              </a:rPr>
              <a:t>: Optimized Timing: RL </a:t>
            </a:r>
          </a:p>
          <a:p>
            <a:r>
              <a:rPr lang="en-US" dirty="0">
                <a:highlight>
                  <a:srgbClr val="FFFF00"/>
                </a:highlight>
                <a:latin typeface="Times New Roman" panose="02020603050405020304" pitchFamily="18" charset="0"/>
                <a:cs typeface="Times New Roman" panose="02020603050405020304" pitchFamily="18" charset="0"/>
              </a:rPr>
              <a:t>with Benders Decomposition improves </a:t>
            </a:r>
          </a:p>
          <a:p>
            <a:r>
              <a:rPr lang="en-US" dirty="0">
                <a:highlight>
                  <a:srgbClr val="FFFF00"/>
                </a:highlight>
                <a:latin typeface="Times New Roman" panose="02020603050405020304" pitchFamily="18" charset="0"/>
                <a:cs typeface="Times New Roman" panose="02020603050405020304" pitchFamily="18" charset="0"/>
              </a:rPr>
              <a:t>slack by 15%.  These flowcharts relate </a:t>
            </a:r>
          </a:p>
          <a:p>
            <a:r>
              <a:rPr lang="en-US" dirty="0">
                <a:highlight>
                  <a:srgbClr val="FFFF00"/>
                </a:highlight>
                <a:latin typeface="Times New Roman" panose="02020603050405020304" pitchFamily="18" charset="0"/>
                <a:cs typeface="Times New Roman" panose="02020603050405020304" pitchFamily="18" charset="0"/>
              </a:rPr>
              <a:t>to timing optimization, but power, </a:t>
            </a:r>
          </a:p>
          <a:p>
            <a:r>
              <a:rPr lang="en-US" dirty="0">
                <a:highlight>
                  <a:srgbClr val="FFFF00"/>
                </a:highlight>
                <a:latin typeface="Times New Roman" panose="02020603050405020304" pitchFamily="18" charset="0"/>
                <a:cs typeface="Times New Roman" panose="02020603050405020304" pitchFamily="18" charset="0"/>
              </a:rPr>
              <a:t>congestion, and area could also be </a:t>
            </a:r>
          </a:p>
          <a:p>
            <a:r>
              <a:rPr lang="en-US" dirty="0">
                <a:highlight>
                  <a:srgbClr val="FFFF00"/>
                </a:highlight>
                <a:latin typeface="Times New Roman" panose="02020603050405020304" pitchFamily="18" charset="0"/>
                <a:cs typeface="Times New Roman" panose="02020603050405020304" pitchFamily="18" charset="0"/>
              </a:rPr>
              <a:t>optimized for TSMC 2nm.</a:t>
            </a:r>
          </a:p>
        </p:txBody>
      </p:sp>
      <p:sp>
        <p:nvSpPr>
          <p:cNvPr id="18" name="TextBox 17">
            <a:extLst>
              <a:ext uri="{FF2B5EF4-FFF2-40B4-BE49-F238E27FC236}">
                <a16:creationId xmlns:a16="http://schemas.microsoft.com/office/drawing/2014/main" id="{1D563F56-8D31-B865-5380-55F97257EFE8}"/>
              </a:ext>
            </a:extLst>
          </p:cNvPr>
          <p:cNvSpPr txBox="1"/>
          <p:nvPr/>
        </p:nvSpPr>
        <p:spPr>
          <a:xfrm>
            <a:off x="521108" y="6493043"/>
            <a:ext cx="1742524" cy="261610"/>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(Wassem, 2020)</a:t>
            </a:r>
          </a:p>
        </p:txBody>
      </p:sp>
      <p:pic>
        <p:nvPicPr>
          <p:cNvPr id="3" name="Picture 2">
            <a:extLst>
              <a:ext uri="{FF2B5EF4-FFF2-40B4-BE49-F238E27FC236}">
                <a16:creationId xmlns:a16="http://schemas.microsoft.com/office/drawing/2014/main" id="{2039C3AA-5370-45BB-6792-5DDD588FEEE4}"/>
              </a:ext>
            </a:extLst>
          </p:cNvPr>
          <p:cNvPicPr>
            <a:picLocks noChangeAspect="1"/>
          </p:cNvPicPr>
          <p:nvPr/>
        </p:nvPicPr>
        <p:blipFill>
          <a:blip r:embed="rId5"/>
          <a:stretch>
            <a:fillRect/>
          </a:stretch>
        </p:blipFill>
        <p:spPr>
          <a:xfrm>
            <a:off x="521108" y="1599222"/>
            <a:ext cx="4481029" cy="4938572"/>
          </a:xfrm>
          <a:prstGeom prst="rect">
            <a:avLst/>
          </a:prstGeom>
        </p:spPr>
      </p:pic>
      <p:pic>
        <p:nvPicPr>
          <p:cNvPr id="9" name="Picture 8">
            <a:extLst>
              <a:ext uri="{FF2B5EF4-FFF2-40B4-BE49-F238E27FC236}">
                <a16:creationId xmlns:a16="http://schemas.microsoft.com/office/drawing/2014/main" id="{E5E2BBD0-60FF-E2D5-5A1A-7C397214701B}"/>
              </a:ext>
            </a:extLst>
          </p:cNvPr>
          <p:cNvPicPr>
            <a:picLocks noChangeAspect="1"/>
          </p:cNvPicPr>
          <p:nvPr/>
        </p:nvPicPr>
        <p:blipFill>
          <a:blip r:embed="rId6"/>
          <a:stretch>
            <a:fillRect/>
          </a:stretch>
        </p:blipFill>
        <p:spPr>
          <a:xfrm>
            <a:off x="5446100" y="1534504"/>
            <a:ext cx="2695951" cy="5068007"/>
          </a:xfrm>
          <a:prstGeom prst="rect">
            <a:avLst/>
          </a:prstGeom>
        </p:spPr>
      </p:pic>
      <p:cxnSp>
        <p:nvCxnSpPr>
          <p:cNvPr id="12" name="Connector: Elbow 11">
            <a:extLst>
              <a:ext uri="{FF2B5EF4-FFF2-40B4-BE49-F238E27FC236}">
                <a16:creationId xmlns:a16="http://schemas.microsoft.com/office/drawing/2014/main" id="{2E788333-AE08-1A34-A7E8-747FA538DFE1}"/>
              </a:ext>
            </a:extLst>
          </p:cNvPr>
          <p:cNvCxnSpPr>
            <a:cxnSpLocks/>
            <a:endCxn id="16" idx="0"/>
          </p:cNvCxnSpPr>
          <p:nvPr/>
        </p:nvCxnSpPr>
        <p:spPr>
          <a:xfrm>
            <a:off x="8142051" y="3616960"/>
            <a:ext cx="723363" cy="228340"/>
          </a:xfrm>
          <a:prstGeom prst="bentConnector2">
            <a:avLst/>
          </a:prstGeom>
          <a:ln w="3175">
            <a:solidFill>
              <a:schemeClr val="tx1">
                <a:lumMod val="50000"/>
                <a:lumOff val="5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6" name="Flowchart: Terminator 15">
            <a:extLst>
              <a:ext uri="{FF2B5EF4-FFF2-40B4-BE49-F238E27FC236}">
                <a16:creationId xmlns:a16="http://schemas.microsoft.com/office/drawing/2014/main" id="{9F268EE9-2CCA-0A77-A142-C074728411E9}"/>
              </a:ext>
            </a:extLst>
          </p:cNvPr>
          <p:cNvSpPr/>
          <p:nvPr/>
        </p:nvSpPr>
        <p:spPr>
          <a:xfrm>
            <a:off x="8586014" y="3845300"/>
            <a:ext cx="558800" cy="152400"/>
          </a:xfrm>
          <a:prstGeom prst="flowChartTerminator">
            <a:avLst/>
          </a:prstGeom>
          <a:solidFill>
            <a:schemeClr val="bg1"/>
          </a:solid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solidFill>
                  <a:schemeClr val="tx1"/>
                </a:solidFill>
              </a:rPr>
              <a:t>End</a:t>
            </a:r>
          </a:p>
        </p:txBody>
      </p:sp>
      <p:cxnSp>
        <p:nvCxnSpPr>
          <p:cNvPr id="27" name="Connector: Elbow 26">
            <a:extLst>
              <a:ext uri="{FF2B5EF4-FFF2-40B4-BE49-F238E27FC236}">
                <a16:creationId xmlns:a16="http://schemas.microsoft.com/office/drawing/2014/main" id="{AD5CDFFF-EB04-9608-6F66-4CE360F464B8}"/>
              </a:ext>
            </a:extLst>
          </p:cNvPr>
          <p:cNvCxnSpPr>
            <a:cxnSpLocks/>
          </p:cNvCxnSpPr>
          <p:nvPr/>
        </p:nvCxnSpPr>
        <p:spPr>
          <a:xfrm rot="5400000" flipH="1" flipV="1">
            <a:off x="7812852" y="5226318"/>
            <a:ext cx="1381760" cy="723364"/>
          </a:xfrm>
          <a:prstGeom prst="bentConnector3">
            <a:avLst>
              <a:gd name="adj1" fmla="val 0"/>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87FEFA26-2136-5D5A-9747-7A93B68E4FC8}"/>
              </a:ext>
            </a:extLst>
          </p:cNvPr>
          <p:cNvCxnSpPr>
            <a:cxnSpLocks/>
          </p:cNvCxnSpPr>
          <p:nvPr/>
        </p:nvCxnSpPr>
        <p:spPr>
          <a:xfrm>
            <a:off x="8142050" y="4897120"/>
            <a:ext cx="723364" cy="0"/>
          </a:xfrm>
          <a:prstGeom prst="line">
            <a:avLst/>
          </a:prstGeom>
          <a:ln w="3175">
            <a:solidFill>
              <a:schemeClr val="tx1">
                <a:lumMod val="50000"/>
                <a:lumOff val="50000"/>
              </a:schemeClr>
            </a:solidFill>
          </a:ln>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FA334344-AAD0-2DCA-24F5-58C6C055474A}"/>
              </a:ext>
            </a:extLst>
          </p:cNvPr>
          <p:cNvSpPr txBox="1"/>
          <p:nvPr/>
        </p:nvSpPr>
        <p:spPr>
          <a:xfrm>
            <a:off x="8249920" y="3429000"/>
            <a:ext cx="467360" cy="215444"/>
          </a:xfrm>
          <a:prstGeom prst="rect">
            <a:avLst/>
          </a:prstGeom>
          <a:noFill/>
        </p:spPr>
        <p:txBody>
          <a:bodyPr wrap="square" rtlCol="0">
            <a:spAutoFit/>
          </a:bodyPr>
          <a:lstStyle/>
          <a:p>
            <a:r>
              <a:rPr lang="en-US" sz="800" dirty="0"/>
              <a:t>Yes</a:t>
            </a:r>
          </a:p>
        </p:txBody>
      </p:sp>
      <p:sp>
        <p:nvSpPr>
          <p:cNvPr id="47" name="TextBox 46">
            <a:extLst>
              <a:ext uri="{FF2B5EF4-FFF2-40B4-BE49-F238E27FC236}">
                <a16:creationId xmlns:a16="http://schemas.microsoft.com/office/drawing/2014/main" id="{EE3B917F-2AD7-4B0F-315F-4319CD217F7C}"/>
              </a:ext>
            </a:extLst>
          </p:cNvPr>
          <p:cNvSpPr txBox="1"/>
          <p:nvPr/>
        </p:nvSpPr>
        <p:spPr>
          <a:xfrm>
            <a:off x="8270052" y="6082267"/>
            <a:ext cx="467360" cy="215444"/>
          </a:xfrm>
          <a:prstGeom prst="rect">
            <a:avLst/>
          </a:prstGeom>
          <a:noFill/>
        </p:spPr>
        <p:txBody>
          <a:bodyPr wrap="square" rtlCol="0">
            <a:spAutoFit/>
          </a:bodyPr>
          <a:lstStyle/>
          <a:p>
            <a:r>
              <a:rPr lang="en-US" sz="800" dirty="0"/>
              <a:t>Yes</a:t>
            </a:r>
          </a:p>
        </p:txBody>
      </p:sp>
      <p:sp>
        <p:nvSpPr>
          <p:cNvPr id="48" name="TextBox 47">
            <a:extLst>
              <a:ext uri="{FF2B5EF4-FFF2-40B4-BE49-F238E27FC236}">
                <a16:creationId xmlns:a16="http://schemas.microsoft.com/office/drawing/2014/main" id="{88D6484E-4A49-A322-F162-E4A50289689A}"/>
              </a:ext>
            </a:extLst>
          </p:cNvPr>
          <p:cNvSpPr txBox="1"/>
          <p:nvPr/>
        </p:nvSpPr>
        <p:spPr>
          <a:xfrm>
            <a:off x="7270788" y="6493043"/>
            <a:ext cx="1742524" cy="261610"/>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(US8769470B2, 2011)</a:t>
            </a:r>
          </a:p>
        </p:txBody>
      </p:sp>
      <p:pic>
        <p:nvPicPr>
          <p:cNvPr id="23" name="Audio 22">
            <a:hlinkClick r:id="" action="ppaction://media"/>
            <a:extLst>
              <a:ext uri="{FF2B5EF4-FFF2-40B4-BE49-F238E27FC236}">
                <a16:creationId xmlns:a16="http://schemas.microsoft.com/office/drawing/2014/main" id="{337B6A58-E7B5-7C5D-EE9E-E273F8F56B13}"/>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2418529874"/>
      </p:ext>
    </p:extLst>
  </p:cSld>
  <p:clrMapOvr>
    <a:masterClrMapping/>
  </p:clrMapOvr>
  <mc:AlternateContent xmlns:mc="http://schemas.openxmlformats.org/markup-compatibility/2006">
    <mc:Choice xmlns:p14="http://schemas.microsoft.com/office/powerpoint/2010/main" Requires="p14">
      <p:transition spd="slow" p14:dur="2000" advTm="31705"/>
    </mc:Choice>
    <mc:Fallback>
      <p:transition spd="slow" advTm="3170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23"/>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A1615-E1D7-0457-D8DF-5BF9408BC7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F35B01-E206-CBBC-6351-D430E69FAA14}"/>
              </a:ext>
            </a:extLst>
          </p:cNvPr>
          <p:cNvSpPr>
            <a:spLocks noGrp="1"/>
          </p:cNvSpPr>
          <p:nvPr>
            <p:ph type="title"/>
          </p:nvPr>
        </p:nvSpPr>
        <p:spPr>
          <a:xfrm>
            <a:off x="521108" y="574588"/>
            <a:ext cx="9429137" cy="483936"/>
          </a:xfrm>
          <a:solidFill>
            <a:schemeClr val="accent1">
              <a:lumMod val="20000"/>
              <a:lumOff val="80000"/>
            </a:schemeClr>
          </a:solidFill>
        </p:spPr>
        <p:txBody>
          <a:bodyPr anchor="t" anchorCtr="1">
            <a:normAutofit fontScale="90000"/>
          </a:bodyPr>
          <a:lstStyle/>
          <a:p>
            <a:r>
              <a:rPr lang="en-US" sz="2700" b="1" dirty="0">
                <a:solidFill>
                  <a:srgbClr val="000000"/>
                </a:solidFill>
                <a:effectLst/>
                <a:latin typeface="Times New Roman" panose="02020603050405020304" pitchFamily="18" charset="0"/>
              </a:rPr>
              <a:t>Conclusion: </a:t>
            </a:r>
            <a:r>
              <a:rPr lang="en-US" sz="2800" dirty="0">
                <a:effectLst/>
              </a:rPr>
              <a:t>Reinforcement Learning (RL) Transforms TSMC 2nm Design</a:t>
            </a:r>
            <a:br>
              <a:rPr lang="en-US" sz="2800" dirty="0">
                <a:effectLst/>
              </a:rPr>
            </a:br>
            <a:br>
              <a:rPr lang="en-US" sz="2200" b="1" dirty="0">
                <a:solidFill>
                  <a:srgbClr val="000000"/>
                </a:solidFill>
                <a:latin typeface="Times New Roman" panose="02020603050405020304" pitchFamily="18" charset="0"/>
              </a:rPr>
            </a:br>
            <a:endParaRPr lang="en-US" sz="2200" b="1" dirty="0"/>
          </a:p>
        </p:txBody>
      </p:sp>
      <p:sp>
        <p:nvSpPr>
          <p:cNvPr id="53" name="TextBox 52">
            <a:extLst>
              <a:ext uri="{FF2B5EF4-FFF2-40B4-BE49-F238E27FC236}">
                <a16:creationId xmlns:a16="http://schemas.microsoft.com/office/drawing/2014/main" id="{83E829D5-416C-BAFC-2C10-42E0609A6C7D}"/>
              </a:ext>
            </a:extLst>
          </p:cNvPr>
          <p:cNvSpPr txBox="1"/>
          <p:nvPr/>
        </p:nvSpPr>
        <p:spPr>
          <a:xfrm>
            <a:off x="1322778" y="1792076"/>
            <a:ext cx="218652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Before Optimization</a:t>
            </a:r>
          </a:p>
        </p:txBody>
      </p:sp>
      <p:sp>
        <p:nvSpPr>
          <p:cNvPr id="59" name="TextBox 58">
            <a:extLst>
              <a:ext uri="{FF2B5EF4-FFF2-40B4-BE49-F238E27FC236}">
                <a16:creationId xmlns:a16="http://schemas.microsoft.com/office/drawing/2014/main" id="{4BA12625-5442-E511-C10A-515BB3B61F76}"/>
              </a:ext>
            </a:extLst>
          </p:cNvPr>
          <p:cNvSpPr txBox="1"/>
          <p:nvPr/>
        </p:nvSpPr>
        <p:spPr>
          <a:xfrm>
            <a:off x="8659060" y="1792076"/>
            <a:ext cx="215948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After Optimization</a:t>
            </a:r>
          </a:p>
        </p:txBody>
      </p:sp>
      <p:sp>
        <p:nvSpPr>
          <p:cNvPr id="13" name="TextBox 12">
            <a:extLst>
              <a:ext uri="{FF2B5EF4-FFF2-40B4-BE49-F238E27FC236}">
                <a16:creationId xmlns:a16="http://schemas.microsoft.com/office/drawing/2014/main" id="{604647A9-5359-0BDF-B699-5DD6C1956572}"/>
              </a:ext>
            </a:extLst>
          </p:cNvPr>
          <p:cNvSpPr txBox="1"/>
          <p:nvPr/>
        </p:nvSpPr>
        <p:spPr>
          <a:xfrm>
            <a:off x="521108" y="5623845"/>
            <a:ext cx="11061292" cy="646331"/>
          </a:xfrm>
          <a:prstGeom prst="rect">
            <a:avLst/>
          </a:prstGeom>
          <a:noFill/>
        </p:spPr>
        <p:txBody>
          <a:bodyPr wrap="square" rtlCol="0">
            <a:spAutoFit/>
          </a:bodyPr>
          <a:lstStyle/>
          <a:p>
            <a:r>
              <a:rPr lang="en-US" u="sng" dirty="0">
                <a:highlight>
                  <a:srgbClr val="FFFF00"/>
                </a:highlight>
                <a:latin typeface="Times New Roman" panose="02020603050405020304" pitchFamily="18" charset="0"/>
                <a:cs typeface="Times New Roman" panose="02020603050405020304" pitchFamily="18" charset="0"/>
              </a:rPr>
              <a:t>Summary Note</a:t>
            </a:r>
            <a:r>
              <a:rPr lang="en-US" dirty="0">
                <a:highlight>
                  <a:srgbClr val="FFFF00"/>
                </a:highlight>
                <a:latin typeface="Times New Roman" panose="02020603050405020304" pitchFamily="18" charset="0"/>
                <a:cs typeface="Times New Roman" panose="02020603050405020304" pitchFamily="18" charset="0"/>
              </a:rPr>
              <a:t>: Reinforcement Learning (RL) revolutionizes design by enhancing efficiency across all stages, driving scalable 2nm innovations for TSMC.</a:t>
            </a:r>
          </a:p>
        </p:txBody>
      </p:sp>
      <p:sp>
        <p:nvSpPr>
          <p:cNvPr id="18" name="TextBox 17">
            <a:extLst>
              <a:ext uri="{FF2B5EF4-FFF2-40B4-BE49-F238E27FC236}">
                <a16:creationId xmlns:a16="http://schemas.microsoft.com/office/drawing/2014/main" id="{04A703BB-46F1-9887-1702-6F8EACCB8014}"/>
              </a:ext>
            </a:extLst>
          </p:cNvPr>
          <p:cNvSpPr txBox="1"/>
          <p:nvPr/>
        </p:nvSpPr>
        <p:spPr>
          <a:xfrm>
            <a:off x="521108" y="4903878"/>
            <a:ext cx="1106131" cy="261610"/>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(Wilson, 2023)</a:t>
            </a:r>
          </a:p>
        </p:txBody>
      </p:sp>
      <p:pic>
        <p:nvPicPr>
          <p:cNvPr id="5" name="Picture 4">
            <a:extLst>
              <a:ext uri="{FF2B5EF4-FFF2-40B4-BE49-F238E27FC236}">
                <a16:creationId xmlns:a16="http://schemas.microsoft.com/office/drawing/2014/main" id="{A99B52E3-FC28-60D5-1799-FA82BC33CA02}"/>
              </a:ext>
            </a:extLst>
          </p:cNvPr>
          <p:cNvPicPr>
            <a:picLocks noChangeAspect="1"/>
          </p:cNvPicPr>
          <p:nvPr/>
        </p:nvPicPr>
        <p:blipFill>
          <a:blip r:embed="rId5"/>
          <a:stretch>
            <a:fillRect/>
          </a:stretch>
        </p:blipFill>
        <p:spPr>
          <a:xfrm>
            <a:off x="521108" y="2351329"/>
            <a:ext cx="3789868" cy="2538964"/>
          </a:xfrm>
          <a:prstGeom prst="rect">
            <a:avLst/>
          </a:prstGeom>
        </p:spPr>
      </p:pic>
      <p:pic>
        <p:nvPicPr>
          <p:cNvPr id="7" name="Picture 6">
            <a:extLst>
              <a:ext uri="{FF2B5EF4-FFF2-40B4-BE49-F238E27FC236}">
                <a16:creationId xmlns:a16="http://schemas.microsoft.com/office/drawing/2014/main" id="{E7B8DEBF-D54C-A2DB-3180-22D169168B5A}"/>
              </a:ext>
            </a:extLst>
          </p:cNvPr>
          <p:cNvPicPr>
            <a:picLocks noChangeAspect="1"/>
          </p:cNvPicPr>
          <p:nvPr/>
        </p:nvPicPr>
        <p:blipFill>
          <a:blip r:embed="rId6"/>
          <a:stretch>
            <a:fillRect/>
          </a:stretch>
        </p:blipFill>
        <p:spPr>
          <a:xfrm>
            <a:off x="7806712" y="2351328"/>
            <a:ext cx="3864180" cy="2538965"/>
          </a:xfrm>
          <a:prstGeom prst="rect">
            <a:avLst/>
          </a:prstGeom>
        </p:spPr>
      </p:pic>
      <p:sp>
        <p:nvSpPr>
          <p:cNvPr id="8" name="Arrow: Right 7">
            <a:extLst>
              <a:ext uri="{FF2B5EF4-FFF2-40B4-BE49-F238E27FC236}">
                <a16:creationId xmlns:a16="http://schemas.microsoft.com/office/drawing/2014/main" id="{92F332E7-72BF-FF5D-0460-768B7A69CF9B}"/>
              </a:ext>
            </a:extLst>
          </p:cNvPr>
          <p:cNvSpPr/>
          <p:nvPr/>
        </p:nvSpPr>
        <p:spPr>
          <a:xfrm>
            <a:off x="4680155" y="2279640"/>
            <a:ext cx="2753032" cy="553896"/>
          </a:xfrm>
          <a:prstGeom prst="rightArrow">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50% Cut Reduction</a:t>
            </a:r>
          </a:p>
        </p:txBody>
      </p:sp>
      <p:sp>
        <p:nvSpPr>
          <p:cNvPr id="10" name="Arrow: Right 9">
            <a:extLst>
              <a:ext uri="{FF2B5EF4-FFF2-40B4-BE49-F238E27FC236}">
                <a16:creationId xmlns:a16="http://schemas.microsoft.com/office/drawing/2014/main" id="{D9611430-D335-DD72-F4FD-19859BC7430A}"/>
              </a:ext>
            </a:extLst>
          </p:cNvPr>
          <p:cNvSpPr/>
          <p:nvPr/>
        </p:nvSpPr>
        <p:spPr>
          <a:xfrm>
            <a:off x="4680155" y="3059667"/>
            <a:ext cx="2753032" cy="553896"/>
          </a:xfrm>
          <a:prstGeom prst="rightArrow">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20x Runtime Gain</a:t>
            </a:r>
          </a:p>
        </p:txBody>
      </p:sp>
      <p:sp>
        <p:nvSpPr>
          <p:cNvPr id="11" name="Arrow: Right 10">
            <a:extLst>
              <a:ext uri="{FF2B5EF4-FFF2-40B4-BE49-F238E27FC236}">
                <a16:creationId xmlns:a16="http://schemas.microsoft.com/office/drawing/2014/main" id="{DAE32A84-E8B9-F00F-1C3F-B7B2CCFDB7A6}"/>
              </a:ext>
            </a:extLst>
          </p:cNvPr>
          <p:cNvSpPr/>
          <p:nvPr/>
        </p:nvSpPr>
        <p:spPr>
          <a:xfrm>
            <a:off x="4680155" y="3790365"/>
            <a:ext cx="2753032" cy="553896"/>
          </a:xfrm>
          <a:prstGeom prst="rightArrow">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30% Congestion Drop</a:t>
            </a:r>
          </a:p>
        </p:txBody>
      </p:sp>
      <p:sp>
        <p:nvSpPr>
          <p:cNvPr id="14" name="Arrow: Right 13">
            <a:extLst>
              <a:ext uri="{FF2B5EF4-FFF2-40B4-BE49-F238E27FC236}">
                <a16:creationId xmlns:a16="http://schemas.microsoft.com/office/drawing/2014/main" id="{629A2F32-EC85-3C2A-1F4B-CF6BCD61C62A}"/>
              </a:ext>
            </a:extLst>
          </p:cNvPr>
          <p:cNvSpPr/>
          <p:nvPr/>
        </p:nvSpPr>
        <p:spPr>
          <a:xfrm>
            <a:off x="4680155" y="4521063"/>
            <a:ext cx="2753032" cy="553896"/>
          </a:xfrm>
          <a:prstGeom prst="rightArrow">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latin typeface="Times New Roman" panose="02020603050405020304" pitchFamily="18" charset="0"/>
                <a:cs typeface="Times New Roman" panose="02020603050405020304" pitchFamily="18" charset="0"/>
              </a:rPr>
              <a:t>15% Slack Improvement</a:t>
            </a:r>
          </a:p>
        </p:txBody>
      </p:sp>
      <p:sp>
        <p:nvSpPr>
          <p:cNvPr id="15" name="TextBox 14">
            <a:extLst>
              <a:ext uri="{FF2B5EF4-FFF2-40B4-BE49-F238E27FC236}">
                <a16:creationId xmlns:a16="http://schemas.microsoft.com/office/drawing/2014/main" id="{B04F3D81-C632-5B5D-ADEF-44512372525E}"/>
              </a:ext>
            </a:extLst>
          </p:cNvPr>
          <p:cNvSpPr txBox="1"/>
          <p:nvPr/>
        </p:nvSpPr>
        <p:spPr>
          <a:xfrm>
            <a:off x="7802366" y="4901639"/>
            <a:ext cx="1106131" cy="261610"/>
          </a:xfrm>
          <a:prstGeom prst="rect">
            <a:avLst/>
          </a:prstGeom>
          <a:noFill/>
        </p:spPr>
        <p:txBody>
          <a:bodyPr wrap="square" rtlCol="0">
            <a:spAutoFit/>
          </a:bodyPr>
          <a:lstStyle/>
          <a:p>
            <a:r>
              <a:rPr lang="en-US" sz="1100" dirty="0">
                <a:latin typeface="Times New Roman" panose="02020603050405020304" pitchFamily="18" charset="0"/>
                <a:cs typeface="Times New Roman" panose="02020603050405020304" pitchFamily="18" charset="0"/>
              </a:rPr>
              <a:t>(Wilson, 2023)</a:t>
            </a:r>
          </a:p>
        </p:txBody>
      </p:sp>
      <p:pic>
        <p:nvPicPr>
          <p:cNvPr id="30" name="Audio 29">
            <a:hlinkClick r:id="" action="ppaction://media"/>
            <a:extLst>
              <a:ext uri="{FF2B5EF4-FFF2-40B4-BE49-F238E27FC236}">
                <a16:creationId xmlns:a16="http://schemas.microsoft.com/office/drawing/2014/main" id="{90968264-38B5-63C3-83C9-1B9360787142}"/>
              </a:ext>
            </a:extLst>
          </p:cNvPr>
          <p:cNvPicPr>
            <a:picLocks noChangeAspect="1"/>
          </p:cNvPicPr>
          <p:nvPr>
            <a:audioFile r:link="rId2"/>
            <p:extLst>
              <p:ext uri="{DAA4B4D4-6D71-4841-9C94-3DE7FCFB9230}">
                <p14:media xmlns:p14="http://schemas.microsoft.com/office/powerpoint/2010/main" r:embed="rId1"/>
              </p:ext>
            </p:extLst>
          </p:nvPr>
        </p:nvPicPr>
        <p:blipFill>
          <a:blip r:embed="rId7"/>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226115310"/>
      </p:ext>
    </p:extLst>
  </p:cSld>
  <p:clrMapOvr>
    <a:masterClrMapping/>
  </p:clrMapOvr>
  <mc:AlternateContent xmlns:mc="http://schemas.openxmlformats.org/markup-compatibility/2006">
    <mc:Choice xmlns:p14="http://schemas.microsoft.com/office/powerpoint/2010/main" Requires="p14">
      <p:transition spd="slow" p14:dur="2000" advTm="40146"/>
    </mc:Choice>
    <mc:Fallback>
      <p:transition spd="slow" advTm="40146"/>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3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30"/>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0314D-0C46-1E46-1391-F976A6E637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46D680-7C30-680B-1524-14B561B1955A}"/>
              </a:ext>
            </a:extLst>
          </p:cNvPr>
          <p:cNvSpPr>
            <a:spLocks noGrp="1"/>
          </p:cNvSpPr>
          <p:nvPr>
            <p:ph type="title"/>
          </p:nvPr>
        </p:nvSpPr>
        <p:spPr>
          <a:xfrm>
            <a:off x="560436" y="320064"/>
            <a:ext cx="1602661" cy="470617"/>
          </a:xfrm>
          <a:solidFill>
            <a:schemeClr val="accent1">
              <a:lumMod val="20000"/>
              <a:lumOff val="80000"/>
            </a:schemeClr>
          </a:solidFill>
        </p:spPr>
        <p:txBody>
          <a:bodyPr anchor="t" anchorCtr="1">
            <a:normAutofit fontScale="90000"/>
          </a:bodyPr>
          <a:lstStyle/>
          <a:p>
            <a:r>
              <a:rPr lang="en-US" sz="2700" b="1" dirty="0">
                <a:solidFill>
                  <a:srgbClr val="000000"/>
                </a:solidFill>
                <a:effectLst/>
                <a:latin typeface="Times New Roman" panose="02020603050405020304" pitchFamily="18" charset="0"/>
              </a:rPr>
              <a:t>References</a:t>
            </a:r>
            <a:br>
              <a:rPr lang="en-US" sz="2200" b="1" dirty="0">
                <a:solidFill>
                  <a:srgbClr val="000000"/>
                </a:solidFill>
                <a:latin typeface="Times New Roman" panose="02020603050405020304" pitchFamily="18" charset="0"/>
              </a:rPr>
            </a:br>
            <a:endParaRPr lang="en-US" sz="2200" b="1" dirty="0"/>
          </a:p>
        </p:txBody>
      </p:sp>
      <p:sp>
        <p:nvSpPr>
          <p:cNvPr id="6" name="TextBox 5">
            <a:extLst>
              <a:ext uri="{FF2B5EF4-FFF2-40B4-BE49-F238E27FC236}">
                <a16:creationId xmlns:a16="http://schemas.microsoft.com/office/drawing/2014/main" id="{E71C89C0-4BAA-6250-E9D3-E0DA7819CCF4}"/>
              </a:ext>
            </a:extLst>
          </p:cNvPr>
          <p:cNvSpPr txBox="1"/>
          <p:nvPr/>
        </p:nvSpPr>
        <p:spPr>
          <a:xfrm>
            <a:off x="560436" y="679091"/>
            <a:ext cx="10982635" cy="4801314"/>
          </a:xfrm>
          <a:prstGeom prst="rect">
            <a:avLst/>
          </a:prstGeom>
          <a:noFill/>
        </p:spPr>
        <p:txBody>
          <a:bodyPr wrap="square" rtlCol="0">
            <a:spAutoFit/>
          </a:bodyPr>
          <a:lstStyle/>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Kahng, A. B., Lienig, J., Markov, I. L., &amp; Hu, J. (2011). VLSI physical design: From graph partitioning to timing closure. Springer.</a:t>
            </a: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Held, S. (2008). Timing closure in chip design [Doctoral dissertation, University of Bonn]. </a:t>
            </a:r>
            <a:r>
              <a:rPr lang="en-US" b="1" dirty="0">
                <a:latin typeface="Times New Roman" panose="02020603050405020304" pitchFamily="18" charset="0"/>
                <a:cs typeface="Times New Roman" panose="02020603050405020304" pitchFamily="18" charset="0"/>
                <a:hlinkClick r:id="rId5"/>
              </a:rPr>
              <a:t>http://www.or.uni-bonn.de/~held/publications/sh_diss.pdf</a:t>
            </a:r>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Guo, C., Bodur, M., Aleman, D. M., &amp; Urbach, D. R. (2019, July). Logic-based Benders decomposition and binary decision diagram-based approaches for stochastic distributed operating room scheduling. Optimization Online. </a:t>
            </a:r>
            <a:r>
              <a:rPr lang="en-US" b="1" dirty="0">
                <a:latin typeface="Times New Roman" panose="02020603050405020304" pitchFamily="18" charset="0"/>
                <a:cs typeface="Times New Roman" panose="02020603050405020304" pitchFamily="18" charset="0"/>
                <a:hlinkClick r:id="rId6"/>
              </a:rPr>
              <a:t>https://optimization-online.org/wp-content/uploads/2019/07/7320.pdf</a:t>
            </a:r>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Botlagunta, P. N. (2025, July 24). Reinforcement learning approaches to optimize chip layout and power consumption. Medium. </a:t>
            </a:r>
            <a:r>
              <a:rPr lang="en-US" b="1" dirty="0">
                <a:latin typeface="Times New Roman" panose="02020603050405020304" pitchFamily="18" charset="0"/>
                <a:cs typeface="Times New Roman" panose="02020603050405020304" pitchFamily="18" charset="0"/>
                <a:hlinkClick r:id="rId7"/>
              </a:rPr>
              <a:t>https://medium.com/@preethishnananbotlagunta/reinforcement-learning-a-a18f9479</a:t>
            </a:r>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TSMC. (2024, September 26). Advancing 3D IC design for AI innovation. TSMC Blog. </a:t>
            </a:r>
            <a:r>
              <a:rPr lang="en-US" b="1" dirty="0">
                <a:latin typeface="Times New Roman" panose="02020603050405020304" pitchFamily="18" charset="0"/>
                <a:cs typeface="Times New Roman" panose="02020603050405020304" pitchFamily="18" charset="0"/>
                <a:hlinkClick r:id="rId8"/>
              </a:rPr>
              <a:t>https://www.tsmc.com/english/news-events/blog-article-20240926</a:t>
            </a:r>
            <a:endParaRPr lang="en-US" b="1" dirty="0">
              <a:latin typeface="Times New Roman" panose="02020603050405020304" pitchFamily="18" charset="0"/>
              <a:cs typeface="Times New Roman" panose="02020603050405020304" pitchFamily="18" charset="0"/>
            </a:endParaRPr>
          </a:p>
          <a:p>
            <a:endParaRPr lang="en-US" b="1" dirty="0">
              <a:latin typeface="Times New Roman" panose="02020603050405020304" pitchFamily="18" charset="0"/>
              <a:cs typeface="Times New Roman" panose="02020603050405020304" pitchFamily="18" charset="0"/>
            </a:endParaRPr>
          </a:p>
        </p:txBody>
      </p:sp>
      <p:pic>
        <p:nvPicPr>
          <p:cNvPr id="5" name="Audio 4">
            <a:hlinkClick r:id="" action="ppaction://media"/>
            <a:extLst>
              <a:ext uri="{FF2B5EF4-FFF2-40B4-BE49-F238E27FC236}">
                <a16:creationId xmlns:a16="http://schemas.microsoft.com/office/drawing/2014/main" id="{4ECED50C-6106-8463-9EBC-2CCFC7637B79}"/>
              </a:ext>
            </a:extLst>
          </p:cNvPr>
          <p:cNvPicPr>
            <a:picLocks noChangeAspect="1"/>
          </p:cNvPicPr>
          <p:nvPr>
            <a:audioFile r:link="rId2"/>
            <p:extLst>
              <p:ext uri="{DAA4B4D4-6D71-4841-9C94-3DE7FCFB9230}">
                <p14:media xmlns:p14="http://schemas.microsoft.com/office/powerpoint/2010/main" r:embed="rId1"/>
              </p:ext>
            </p:extLst>
          </p:nvPr>
        </p:nvPicPr>
        <p:blipFill>
          <a:blip r:embed="rId9"/>
          <a:srcRect l="-118750" t="-118750" r="-118750" b="-118750"/>
          <a:stretch>
            <a:fillRect/>
          </a:stretch>
        </p:blipFill>
        <p:spPr>
          <a:xfrm>
            <a:off x="10052304" y="4718304"/>
            <a:ext cx="2057400" cy="2057400"/>
          </a:xfrm>
          <a:prstGeom prst="ellipse">
            <a:avLst/>
          </a:prstGeom>
        </p:spPr>
      </p:pic>
    </p:spTree>
    <p:extLst>
      <p:ext uri="{BB962C8B-B14F-4D97-AF65-F5344CB8AC3E}">
        <p14:creationId xmlns:p14="http://schemas.microsoft.com/office/powerpoint/2010/main" val="3043629617"/>
      </p:ext>
    </p:extLst>
  </p:cSld>
  <p:clrMapOvr>
    <a:masterClrMapping/>
  </p:clrMapOvr>
  <mc:AlternateContent xmlns:mc="http://schemas.openxmlformats.org/markup-compatibility/2006">
    <mc:Choice xmlns:p14="http://schemas.microsoft.com/office/powerpoint/2010/main" Requires="p14">
      <p:transition spd="slow" p14:dur="2000" advTm="32091"/>
    </mc:Choice>
    <mc:Fallback>
      <p:transition spd="slow" advTm="3209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CDBEE2-A1D3-15DB-101B-F416709D3F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01C2CB-D1F5-F941-6110-DDA06A28471D}"/>
              </a:ext>
            </a:extLst>
          </p:cNvPr>
          <p:cNvSpPr>
            <a:spLocks noGrp="1"/>
          </p:cNvSpPr>
          <p:nvPr>
            <p:ph type="title"/>
          </p:nvPr>
        </p:nvSpPr>
        <p:spPr>
          <a:xfrm>
            <a:off x="560436" y="202077"/>
            <a:ext cx="2526891" cy="470617"/>
          </a:xfrm>
          <a:solidFill>
            <a:schemeClr val="accent1">
              <a:lumMod val="20000"/>
              <a:lumOff val="80000"/>
            </a:schemeClr>
          </a:solidFill>
        </p:spPr>
        <p:txBody>
          <a:bodyPr anchor="t" anchorCtr="1">
            <a:normAutofit fontScale="90000"/>
          </a:bodyPr>
          <a:lstStyle/>
          <a:p>
            <a:r>
              <a:rPr lang="en-US" sz="2700" b="1" dirty="0">
                <a:solidFill>
                  <a:srgbClr val="000000"/>
                </a:solidFill>
                <a:effectLst/>
                <a:latin typeface="Times New Roman" panose="02020603050405020304" pitchFamily="18" charset="0"/>
              </a:rPr>
              <a:t>Image References</a:t>
            </a:r>
            <a:br>
              <a:rPr lang="en-US" sz="2200" b="1" dirty="0">
                <a:solidFill>
                  <a:srgbClr val="000000"/>
                </a:solidFill>
                <a:latin typeface="Times New Roman" panose="02020603050405020304" pitchFamily="18" charset="0"/>
              </a:rPr>
            </a:br>
            <a:endParaRPr lang="en-US" sz="2200" b="1" dirty="0"/>
          </a:p>
        </p:txBody>
      </p:sp>
      <p:sp>
        <p:nvSpPr>
          <p:cNvPr id="5" name="TextBox 4">
            <a:extLst>
              <a:ext uri="{FF2B5EF4-FFF2-40B4-BE49-F238E27FC236}">
                <a16:creationId xmlns:a16="http://schemas.microsoft.com/office/drawing/2014/main" id="{D715DD21-2179-646F-76C7-1B3B122230AA}"/>
              </a:ext>
            </a:extLst>
          </p:cNvPr>
          <p:cNvSpPr txBox="1"/>
          <p:nvPr/>
        </p:nvSpPr>
        <p:spPr>
          <a:xfrm>
            <a:off x="521106" y="991008"/>
            <a:ext cx="6223819" cy="369332"/>
          </a:xfrm>
          <a:prstGeom prst="rect">
            <a:avLst/>
          </a:prstGeom>
          <a:noFill/>
        </p:spPr>
        <p:txBody>
          <a:bodyPr wrap="square">
            <a:spAutoFit/>
          </a:bodyPr>
          <a:lstStyle/>
          <a:p>
            <a:r>
              <a:rPr lang="en-US" dirty="0">
                <a:hlinkClick r:id="rId3"/>
              </a:rPr>
              <a:t>https://users.eecs.northwestern.edu/~haizhou/357/lec2.pdf</a:t>
            </a:r>
            <a:endParaRPr lang="en-US" dirty="0"/>
          </a:p>
        </p:txBody>
      </p:sp>
      <p:sp>
        <p:nvSpPr>
          <p:cNvPr id="6" name="TextBox 5">
            <a:extLst>
              <a:ext uri="{FF2B5EF4-FFF2-40B4-BE49-F238E27FC236}">
                <a16:creationId xmlns:a16="http://schemas.microsoft.com/office/drawing/2014/main" id="{1932D54C-301F-D8CB-DBD5-7CE991651D6A}"/>
              </a:ext>
            </a:extLst>
          </p:cNvPr>
          <p:cNvSpPr txBox="1"/>
          <p:nvPr/>
        </p:nvSpPr>
        <p:spPr>
          <a:xfrm>
            <a:off x="560436" y="679091"/>
            <a:ext cx="3991897"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Partitioning: Circuit Partitioning pg. 2</a:t>
            </a:r>
          </a:p>
        </p:txBody>
      </p:sp>
      <p:sp>
        <p:nvSpPr>
          <p:cNvPr id="8" name="TextBox 7">
            <a:extLst>
              <a:ext uri="{FF2B5EF4-FFF2-40B4-BE49-F238E27FC236}">
                <a16:creationId xmlns:a16="http://schemas.microsoft.com/office/drawing/2014/main" id="{8DACFB5D-5C38-24D3-92E8-8266BB406FBD}"/>
              </a:ext>
            </a:extLst>
          </p:cNvPr>
          <p:cNvSpPr txBox="1"/>
          <p:nvPr/>
        </p:nvSpPr>
        <p:spPr>
          <a:xfrm>
            <a:off x="599763" y="1366737"/>
            <a:ext cx="637130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Floorplanning: Floorplanning pg. 4 and Floorplan Design pg. 5</a:t>
            </a:r>
          </a:p>
        </p:txBody>
      </p:sp>
      <p:sp>
        <p:nvSpPr>
          <p:cNvPr id="9" name="TextBox 8">
            <a:extLst>
              <a:ext uri="{FF2B5EF4-FFF2-40B4-BE49-F238E27FC236}">
                <a16:creationId xmlns:a16="http://schemas.microsoft.com/office/drawing/2014/main" id="{6CCF4165-E9ED-D05C-C997-E92EF6D101E9}"/>
              </a:ext>
            </a:extLst>
          </p:cNvPr>
          <p:cNvSpPr txBox="1"/>
          <p:nvPr/>
        </p:nvSpPr>
        <p:spPr>
          <a:xfrm>
            <a:off x="521106" y="1672257"/>
            <a:ext cx="7167718" cy="369332"/>
          </a:xfrm>
          <a:prstGeom prst="rect">
            <a:avLst/>
          </a:prstGeom>
          <a:noFill/>
        </p:spPr>
        <p:txBody>
          <a:bodyPr wrap="square">
            <a:spAutoFit/>
          </a:bodyPr>
          <a:lstStyle/>
          <a:p>
            <a:r>
              <a:rPr lang="en-US" dirty="0">
                <a:hlinkClick r:id="rId4"/>
              </a:rPr>
              <a:t>https://limsk.ece.gatech.edu/course/ece6133/slides/floorplanning.pdf</a:t>
            </a:r>
            <a:endParaRPr lang="en-US" dirty="0"/>
          </a:p>
        </p:txBody>
      </p:sp>
      <p:sp>
        <p:nvSpPr>
          <p:cNvPr id="10" name="TextBox 9">
            <a:extLst>
              <a:ext uri="{FF2B5EF4-FFF2-40B4-BE49-F238E27FC236}">
                <a16:creationId xmlns:a16="http://schemas.microsoft.com/office/drawing/2014/main" id="{5550C9EA-E082-6878-739C-F25992CA1E80}"/>
              </a:ext>
            </a:extLst>
          </p:cNvPr>
          <p:cNvSpPr txBox="1"/>
          <p:nvPr/>
        </p:nvSpPr>
        <p:spPr>
          <a:xfrm>
            <a:off x="599763" y="2054384"/>
            <a:ext cx="486696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Placement: Coarse and Legalization Placement</a:t>
            </a:r>
          </a:p>
        </p:txBody>
      </p:sp>
      <p:sp>
        <p:nvSpPr>
          <p:cNvPr id="11" name="TextBox 10">
            <a:extLst>
              <a:ext uri="{FF2B5EF4-FFF2-40B4-BE49-F238E27FC236}">
                <a16:creationId xmlns:a16="http://schemas.microsoft.com/office/drawing/2014/main" id="{102F81C9-47E2-A055-D877-291958433462}"/>
              </a:ext>
            </a:extLst>
          </p:cNvPr>
          <p:cNvSpPr txBox="1"/>
          <p:nvPr/>
        </p:nvSpPr>
        <p:spPr>
          <a:xfrm>
            <a:off x="526020" y="2456345"/>
            <a:ext cx="6312311" cy="369332"/>
          </a:xfrm>
          <a:prstGeom prst="rect">
            <a:avLst/>
          </a:prstGeom>
          <a:noFill/>
        </p:spPr>
        <p:txBody>
          <a:bodyPr wrap="square">
            <a:spAutoFit/>
          </a:bodyPr>
          <a:lstStyle/>
          <a:p>
            <a:r>
              <a:rPr lang="en-US" dirty="0">
                <a:hlinkClick r:id="rId5"/>
              </a:rPr>
              <a:t>https://www.physicaldesign4u.com/2020/02/placement.html</a:t>
            </a:r>
            <a:endParaRPr lang="en-US" dirty="0"/>
          </a:p>
        </p:txBody>
      </p:sp>
      <p:sp>
        <p:nvSpPr>
          <p:cNvPr id="12" name="TextBox 11">
            <a:extLst>
              <a:ext uri="{FF2B5EF4-FFF2-40B4-BE49-F238E27FC236}">
                <a16:creationId xmlns:a16="http://schemas.microsoft.com/office/drawing/2014/main" id="{0F8AEA19-4FCF-C8C5-652E-591E8C701486}"/>
              </a:ext>
            </a:extLst>
          </p:cNvPr>
          <p:cNvSpPr txBox="1"/>
          <p:nvPr/>
        </p:nvSpPr>
        <p:spPr>
          <a:xfrm>
            <a:off x="614512" y="2799445"/>
            <a:ext cx="787564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Clock Tree Synthesis: Constructing Trees with Zero Global Skew pg. 52 and 55</a:t>
            </a:r>
          </a:p>
        </p:txBody>
      </p:sp>
      <p:sp>
        <p:nvSpPr>
          <p:cNvPr id="14" name="TextBox 13">
            <a:extLst>
              <a:ext uri="{FF2B5EF4-FFF2-40B4-BE49-F238E27FC236}">
                <a16:creationId xmlns:a16="http://schemas.microsoft.com/office/drawing/2014/main" id="{B581852D-7695-C53F-1376-19128D0F5E41}"/>
              </a:ext>
            </a:extLst>
          </p:cNvPr>
          <p:cNvSpPr txBox="1"/>
          <p:nvPr/>
        </p:nvSpPr>
        <p:spPr>
          <a:xfrm>
            <a:off x="521106" y="3152783"/>
            <a:ext cx="8396751" cy="369332"/>
          </a:xfrm>
          <a:prstGeom prst="rect">
            <a:avLst/>
          </a:prstGeom>
          <a:noFill/>
        </p:spPr>
        <p:txBody>
          <a:bodyPr wrap="square">
            <a:spAutoFit/>
          </a:bodyPr>
          <a:lstStyle/>
          <a:p>
            <a:r>
              <a:rPr lang="en-US" dirty="0">
                <a:hlinkClick r:id="rId6"/>
              </a:rPr>
              <a:t>http://vlsicad.eecs.umich.edu/KLMH/downloads/book/chapter7/chap7-111206.pdf</a:t>
            </a:r>
            <a:endParaRPr lang="en-US" dirty="0"/>
          </a:p>
        </p:txBody>
      </p:sp>
      <p:sp>
        <p:nvSpPr>
          <p:cNvPr id="15" name="TextBox 14">
            <a:extLst>
              <a:ext uri="{FF2B5EF4-FFF2-40B4-BE49-F238E27FC236}">
                <a16:creationId xmlns:a16="http://schemas.microsoft.com/office/drawing/2014/main" id="{41A684B0-444B-8CCC-7309-D81943C576DF}"/>
              </a:ext>
            </a:extLst>
          </p:cNvPr>
          <p:cNvSpPr txBox="1"/>
          <p:nvPr/>
        </p:nvSpPr>
        <p:spPr>
          <a:xfrm>
            <a:off x="599763" y="3509320"/>
            <a:ext cx="876054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Signal Routing: Routing Congestion in VSLI Circuits pg. 9 (Fig. 1.4b) and 113 (Fig. 4.6)</a:t>
            </a:r>
          </a:p>
        </p:txBody>
      </p:sp>
      <p:sp>
        <p:nvSpPr>
          <p:cNvPr id="16" name="TextBox 15">
            <a:extLst>
              <a:ext uri="{FF2B5EF4-FFF2-40B4-BE49-F238E27FC236}">
                <a16:creationId xmlns:a16="http://schemas.microsoft.com/office/drawing/2014/main" id="{397939A1-E49E-94FE-6093-1937F388C83B}"/>
              </a:ext>
            </a:extLst>
          </p:cNvPr>
          <p:cNvSpPr txBox="1"/>
          <p:nvPr/>
        </p:nvSpPr>
        <p:spPr>
          <a:xfrm>
            <a:off x="521106" y="3872834"/>
            <a:ext cx="7030068" cy="369332"/>
          </a:xfrm>
          <a:prstGeom prst="rect">
            <a:avLst/>
          </a:prstGeom>
          <a:noFill/>
        </p:spPr>
        <p:txBody>
          <a:bodyPr wrap="square">
            <a:spAutoFit/>
          </a:bodyPr>
          <a:lstStyle/>
          <a:p>
            <a:r>
              <a:rPr lang="en-US" dirty="0">
                <a:hlinkClick r:id="rId7"/>
              </a:rPr>
              <a:t>https://picture.iczhiku.com/resource/eetop/WHKDfRjygeqLPnbB.pdf</a:t>
            </a:r>
            <a:endParaRPr lang="en-US" dirty="0"/>
          </a:p>
        </p:txBody>
      </p:sp>
      <p:sp>
        <p:nvSpPr>
          <p:cNvPr id="22" name="TextBox 21">
            <a:extLst>
              <a:ext uri="{FF2B5EF4-FFF2-40B4-BE49-F238E27FC236}">
                <a16:creationId xmlns:a16="http://schemas.microsoft.com/office/drawing/2014/main" id="{EADE44C3-5BAC-95A2-2209-79AF060C55AE}"/>
              </a:ext>
            </a:extLst>
          </p:cNvPr>
          <p:cNvSpPr txBox="1"/>
          <p:nvPr/>
        </p:nvSpPr>
        <p:spPr>
          <a:xfrm>
            <a:off x="521106" y="4609762"/>
            <a:ext cx="9283293" cy="369332"/>
          </a:xfrm>
          <a:prstGeom prst="rect">
            <a:avLst/>
          </a:prstGeom>
          <a:noFill/>
        </p:spPr>
        <p:txBody>
          <a:bodyPr wrap="square">
            <a:spAutoFit/>
          </a:bodyPr>
          <a:lstStyle/>
          <a:p>
            <a:r>
              <a:rPr lang="en-US" dirty="0">
                <a:hlinkClick r:id="rId8"/>
              </a:rPr>
              <a:t>https://www.researchgate.net/figure/Flowchart-of-Benders-Decomposition_fig1_347880772</a:t>
            </a:r>
            <a:endParaRPr lang="en-US" dirty="0"/>
          </a:p>
        </p:txBody>
      </p:sp>
      <p:sp>
        <p:nvSpPr>
          <p:cNvPr id="23" name="TextBox 22">
            <a:extLst>
              <a:ext uri="{FF2B5EF4-FFF2-40B4-BE49-F238E27FC236}">
                <a16:creationId xmlns:a16="http://schemas.microsoft.com/office/drawing/2014/main" id="{238FE2DB-9BE1-081E-5CC1-9A3A0195D8E5}"/>
              </a:ext>
            </a:extLst>
          </p:cNvPr>
          <p:cNvSpPr txBox="1"/>
          <p:nvPr/>
        </p:nvSpPr>
        <p:spPr>
          <a:xfrm>
            <a:off x="560436" y="4244207"/>
            <a:ext cx="876054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Timing Closure: Benders Decomposition Process &amp; Timing Closure Flowcharts</a:t>
            </a:r>
          </a:p>
        </p:txBody>
      </p:sp>
      <p:sp>
        <p:nvSpPr>
          <p:cNvPr id="27" name="TextBox 26">
            <a:extLst>
              <a:ext uri="{FF2B5EF4-FFF2-40B4-BE49-F238E27FC236}">
                <a16:creationId xmlns:a16="http://schemas.microsoft.com/office/drawing/2014/main" id="{676C52EB-0405-EEDB-CA56-4A49B5B666B4}"/>
              </a:ext>
            </a:extLst>
          </p:cNvPr>
          <p:cNvSpPr txBox="1"/>
          <p:nvPr/>
        </p:nvSpPr>
        <p:spPr>
          <a:xfrm>
            <a:off x="521106" y="4961614"/>
            <a:ext cx="5132442" cy="369332"/>
          </a:xfrm>
          <a:prstGeom prst="rect">
            <a:avLst/>
          </a:prstGeom>
          <a:noFill/>
        </p:spPr>
        <p:txBody>
          <a:bodyPr wrap="square">
            <a:spAutoFit/>
          </a:bodyPr>
          <a:lstStyle/>
          <a:p>
            <a:r>
              <a:rPr lang="en-US" dirty="0">
                <a:hlinkClick r:id="rId9"/>
              </a:rPr>
              <a:t>https://patents.google.com/patent/US8769470B2</a:t>
            </a:r>
            <a:endParaRPr lang="en-US" dirty="0"/>
          </a:p>
        </p:txBody>
      </p:sp>
      <p:sp>
        <p:nvSpPr>
          <p:cNvPr id="28" name="TextBox 27">
            <a:extLst>
              <a:ext uri="{FF2B5EF4-FFF2-40B4-BE49-F238E27FC236}">
                <a16:creationId xmlns:a16="http://schemas.microsoft.com/office/drawing/2014/main" id="{C1CEF321-F959-66F6-8C64-A3C380C634CA}"/>
              </a:ext>
            </a:extLst>
          </p:cNvPr>
          <p:cNvSpPr txBox="1"/>
          <p:nvPr/>
        </p:nvSpPr>
        <p:spPr>
          <a:xfrm>
            <a:off x="560436" y="5306597"/>
            <a:ext cx="718738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Conclusion: A new approach to design stage layout optimization (Fig. 3)</a:t>
            </a:r>
          </a:p>
        </p:txBody>
      </p:sp>
      <p:sp>
        <p:nvSpPr>
          <p:cNvPr id="30" name="TextBox 29">
            <a:extLst>
              <a:ext uri="{FF2B5EF4-FFF2-40B4-BE49-F238E27FC236}">
                <a16:creationId xmlns:a16="http://schemas.microsoft.com/office/drawing/2014/main" id="{B7FE0220-764C-D059-F4A1-12B52E702051}"/>
              </a:ext>
            </a:extLst>
          </p:cNvPr>
          <p:cNvSpPr txBox="1"/>
          <p:nvPr/>
        </p:nvSpPr>
        <p:spPr>
          <a:xfrm>
            <a:off x="521106" y="5658449"/>
            <a:ext cx="11002300" cy="646331"/>
          </a:xfrm>
          <a:prstGeom prst="rect">
            <a:avLst/>
          </a:prstGeom>
          <a:noFill/>
        </p:spPr>
        <p:txBody>
          <a:bodyPr wrap="square">
            <a:spAutoFit/>
          </a:bodyPr>
          <a:lstStyle/>
          <a:p>
            <a:r>
              <a:rPr lang="en-US" dirty="0">
                <a:hlinkClick r:id="rId10"/>
              </a:rPr>
              <a:t>https://semiengineering.com/a-new-approach-to-design-stage-layout-optimization-can-speed-time-to-tapeout-while-improving-power-management/</a:t>
            </a:r>
            <a:endParaRPr lang="en-US" dirty="0"/>
          </a:p>
        </p:txBody>
      </p:sp>
    </p:spTree>
    <p:extLst>
      <p:ext uri="{BB962C8B-B14F-4D97-AF65-F5344CB8AC3E}">
        <p14:creationId xmlns:p14="http://schemas.microsoft.com/office/powerpoint/2010/main" val="263275647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5213</TotalTime>
  <Words>1016</Words>
  <Application>Microsoft Office PowerPoint</Application>
  <PresentationFormat>Widescreen</PresentationFormat>
  <Paragraphs>110</Paragraphs>
  <Slides>11</Slides>
  <Notes>10</Notes>
  <HiddenSlides>0</HiddenSlides>
  <MMClips>10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Times New Roman</vt:lpstr>
      <vt:lpstr>Office Theme</vt:lpstr>
      <vt:lpstr>PowerPoint Presentation</vt:lpstr>
      <vt:lpstr>Reinforcement learning drives optimization across TSMC’s 2nm physical design domains. </vt:lpstr>
      <vt:lpstr>Reinforcement learning minimizes cut sizes in TSMC 2nm partitioning.  </vt:lpstr>
      <vt:lpstr>Reinforcement learning optimizes floorplans for TSMC 2nm area efficiency.  </vt:lpstr>
      <vt:lpstr>Reinforcement learning enhances TSMC 2nm placement with neural guidance.  </vt:lpstr>
      <vt:lpstr>Reinforcement learning drives TSMC 2nm clock tree synthesis.                                       Deferred-Merge Embedding (DME)  </vt:lpstr>
      <vt:lpstr>Reinforcement learning refines TSMC 2nm signal routing congestion.                              </vt:lpstr>
      <vt:lpstr>Reinforcement learning accelerates TSMC 2nm timing closure with Benders Decomposition.  </vt:lpstr>
      <vt:lpstr>Conclusion: Reinforcement Learning (RL) Transforms TSMC 2nm Design  </vt:lpstr>
      <vt:lpstr>References </vt:lpstr>
      <vt:lpstr>Image 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Randall Crawford</dc:creator>
  <cp:lastModifiedBy>Randall Crawford</cp:lastModifiedBy>
  <cp:revision>15</cp:revision>
  <dcterms:created xsi:type="dcterms:W3CDTF">2025-09-11T01:10:04Z</dcterms:created>
  <dcterms:modified xsi:type="dcterms:W3CDTF">2025-09-15T01:33:23Z</dcterms:modified>
</cp:coreProperties>
</file>